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042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We are presenting MartFlow — a complete Supershop Retail Management Suite, built for Bangladeshi supershops like Shwapno, Meena Bazar, and Unimart. MartFlow handles POS billing, inventory, purchasing, loyalty, returns, and NBR VAT reports in one system — and it is powered by eighteen Gang-of-Four design patterns doing real work in the money path, verified by 176 automated tests. I am Mahamudul Hasan, and with me are Sumya Soma and Alfa Sany.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roadmap for the next fifteen minutes, split into three parts. I will walk you through the product — the real-life problem, the live screens, the roles, and the tech stack. Then Sumya will take you into the engine room and explain all eighteen design patterns, each mapped to a real feature it powers. Finally, Alfa will show what makes MartFlow unique, its business value, our quality engineering, and the live demo plan. Together, the story is simple: a patterns lab that became a real product.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problem. A Bangladeshi supershop today runs on a patchwork of tools. The POS software is usually imported and doesn't understand Bangladesh VAT. Purchasing lives in spreadsheets. Loyalty lives in notebooks. And wastage — damaged, expired, stolen stock — is tracked by nothing at all. The owner finds out about problems weeks late: stock that walked out the door, batches that expired on the shelf, margins that quietly eroded. Hundreds of mid-size shops face this every single day. That is the gap MartFlow fills.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MartFlow has an honest origin story: it began as a patterns lab and was rebuilt into a product. Our earlier version had serious sins. There was no login — typing '?as=admin' in the URL made you an admin. Every visitor shared one common cart. Tax was displayed on screen but never actually charged. And all stock was lost on restart. In the rebuild, every one of these became a real feature: real authentication, per-session bills, NBR-correct VAT, and durable persistence. That discipline shaped everything you'll see today.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is MartFlow? One system, six pillars: point-of-sale billing, inventory with batch and expiry tracking, purchasing with suppliers and purchase orders, a loyalty program, customer returns with refunds, and financial reports including the NBR VAT summary. The moment you start it, the database seeds a realistic Bangladeshi shelf — Teer, Pran, Radhuni, Miner — three distributors, active promotions, five loyalty members, and even a purchase order already on its way. It boots ready to demo, ready to believe.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cashier's world — the POS screen. Scanning barcode 8941234500011 pulls up Teer Oil five-litre instantly. Weighed goods like potato or fish prompt for weight and step by 0.25 kilograms. The bill accepts split tenders — cash, card, bKash, Nagad, and loyalty points in any mix — with tendered and change amounts live. A mis-scan? One tap on Undo. When the customer pays, Enter prints the thermal receipt and moves to the next customer in under a second.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level up is the manager's cockpit — the dashboard. Six KPI tiles give the pulse of the business at a glance: today's net sales, average basket, today's output VAT, cash in drawer, low-stock count, and items expiring within fourteen days. Below them, an alerts feed refreshes every eight seconds — low stock, expiry warnings, shrinkage, price changes. This is the 'owner finds out today, not weeks late' promise, delivered as a screen the manager actually keeps open.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MartFlow serves four roles — cashier, manager, admin, and a developer account for examiners — and security is enforced in three independent layers. The UI hides what a role shouldn't see. The server's RoleGate rejects forbidden calls. And critically, RoleGuardProxy re-checks permission at the data boundary itself — so even a buggy endpoint can't let a cashier edit the catalog. Passwords are PBKDF2-hashed, sessions use random 256-bit bearer tokens, and role context is thread-local, set and cleared on every request.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stack is deliberately clean. Java 17 and Spring Boot, but Spring only touches thin controllers — the entire domain is one hundred percent plain POJOs with zero framework annotations, which keeps the patterns honest and the domain unit-testable. Data lives in MongoDB Atlas, with a zero-configuration in-memory fallback, chosen automatically at startup. The frontend is a dependency-free vanilla JavaScript single-page app with fifteen routes. Every amount is BigDecimal with one rounding choke point, and all clocks are pinned to Asia/Dhaka.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I hand over, the scoreboard. Eighteen design patterns — four creational, five structural, nine behavioral. One hundred seventy-six automated tests in thirty-one test classes. Around one hundred ninety production files, roughly seventeen thousand lines of code. Eight report types, six purchase-order states, four roles, three security layers. Every number on this slide is verifiable in the repository — and in the app's built-in Developer Mode. [HANDOVER] Now, Sumya will take you inside the engine room, where every one of those eighteen patterns does real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Hasan. My section is the engine room: eighteen Gang-of-Four patterns, and our one rule — a pattern earns its place only by carrying a real feature. Four creational, five structural, nine behavioral. Nothing here is decoration; delete any pattern and a feature you saw on screen breaks. And this isn't just a claim — the app ships a Pattern Catalog with a drift-guard test that fails the build if a card cites a class that doesn't exist. Here they are by story, not by chapter.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creation. Singleton gives the whole process one stock truth — InventoryCatalog — so two tills can never oversell the same shelf. Factory Method gives one 'add item' path that creates per-piece or per-kilogram products — the manager never picks a class, the factory subclass does. Builder assembles a purchase order line by line and validates on build — a half-configured PO simply cannot escape. And Prototype is the weekly restock template: the standing order is cloned into a fresh draft — two clicks instead of fifteen.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money path. Before money moves, Chain of Responsibility runs six validations in order — bill not empty, weighed items weighed, stock available, promotion eligible, card valid, tender sufficient — and the cashier sees the exact first failing rule. Then Command executes the sale as four reversible commands: reserve stock, charge tender, award points, create sale. If the card declines, the invoker unwinds everything in reverse order. The sale is atomic because every step can undo itself.</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Pricing is where two patterns cooperate. Strategy decides today's price for every line — regular price, category sale, or member price — chosen at runtime by the promotion engine. Decorator then wraps any line with discounts, carry-bag fees, delivery fees, and cash rounding — each a transparent layer over the original line. Together they deliver something the shopkeeper feels: a manager toggles a category sale in the back office, and the till's price changes live — without a single line of billing code changing.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Payments are messy in real life: the card terminal speaks doubles, bKash speaks poisha longs, Nagad speaks strings. Our Adapter puts all five channels — cash, card, bKash, Nagad, points — behind one PaymentChannel port speaking BigDecimal, so billing never branches on tender type. Facade then hides the entire pipeline — sessions, pricing, validation, commands, channels, loyalty — behind one-call operations like addLine, tender, and undo. Every UI button is one facade call.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Inventory is event-driven. Every product is an Observer subject: when stock moves, it announces an event — restock, low stock, price change, expiry soon, shrinkage — and independent observers react: one files the alerts feed, one generates reorder suggestions, one sweeps expiring batches. A new listener tomorrow means a new observer class and zero changes to Product. Iterator adds named, re-iterable walks over the same shelf — so the low-stock view and report share one iterator and can never disagree.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patterns shape the bill itself. Composite makes an Eid hamper sell as one line but stock truthfully — its availability is the scarcest component, and consuming it fans out to every part inside. Visitor then traverses the finished bill by double dispatch — one interface, eight overloads, three outputs: the VAT visitor computes output VAT per NBR slab, the profit visitor margins, the receipt visitor the thermal slip. One traversal — no instanceof chains anywhere.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gets two patterns. Proxy — RoleGuardProxy — wraps the product repository and enforces write policy at the data boundary: reads pass through, saves and deletes are checked — a cashier cannot mutate the catalog even through a buggy endpoint. State guards the purchasing lifecycle — draft, ordered, partially received, received, closed, cancelled — with the rules living inside the state objects. A draft PO physically cannot be received; a closed one cannot be cancelled. Illegal transitions don't exist as methods.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report types share one Template Method skeleton: the base class fixes the algorithm — pull sales, aggregate, format — and each report fills in three hooks. The one rule that must never vary, 'voided sales never count as revenue', is decided exactly once, in the base class. And the cashier's Undo button is a Memento: before every destructive edit, the session snapshots the bill — up to ten levels deep — so one tap restores the exact previous state.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slide of my section is about the patterns we refused. The audit trail is not an Observer — audit events must carry actor and intent, which stock events don't. The Z-report is not a Template Method — it must break the 'voided isn't revenue' invariant. And a sale's status is a plain enum, not a State machine — sales have no per-status behavior. Every rejection is documented in the javadocs, because the 'why not' is part of the answer. [HANDOVER] Patterns follow the domain, not the syllabus. Alfa will show what this discipline buys.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Sumya. My section starts with something built just for this room. The developer account opens Developer Mode: eighteen pattern cards, each telling the full story — the problem, why this pattern, the rejected alternative, the real class and file, a source snippet, and the proving test. A drift-guard test fails the build if a card ever cites a class that doesn't exist. And a live API explorer lets you call endpoints with your own token — even the 403s are a feature.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business case, starting with money visibility. The VAT summary is a genuine source for NBR filing: slab-wise rates of zero, seven-and-a-half, and fifteen percent, back-calculated from VAT-inclusive prices — one hundred fifteen taka at fifteen percent yields exactly fifteen taka VAT, pinned by a test. The profit report compares revenue against cost snapshots taken at sale time, so margins never drift. Payables show exactly what's owed to each supplier — a life-saver number. And the Z-report reconciles the drawer to the taka at day close.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also means speed and loss prevention. Weekly restock templates turn fifteen clicks into two. Undo forgives mis-scans instantly, and Enter moves to the next customer in under a second. Role walls mean a cashier physically cannot reprice the till or read the margins — fraud prevention by design, not by trust. And because the tender pipeline is a reversible command chain, a declined card rolls back stock, points, and the sale atomically — the shop never loses money to a half-finished transaction.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is enforced, not claimed. One hundred seventy-six automated tests across thirty-one classes run fully hermetic — the harness pins an invalid database URI so no live database can leak in. The drift-guard test keeps pattern documentation honest, and another asserts our API catalog equals Spring's registered routes in both directions. GitHub Actions runs the suite on every push. And durability is real: restart mid-day and everything survives — a reprinted receipt is byte-identical.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look at operations. The thermal receipt carries a generated SVG barcode and the exact line-level snapshot of what was charged. The inventory screen tracks batches and expiry dates, with restock and shrinkage write-offs for damage, loss, theft, and recounts. The purchasing screen walks the full lifecycle you saw as the State pattern — and when goods arrive, the GRN lands stock, batch, and updated cost in one move, with an immediate expiry check. This is the day-to-day surface the shop actually lives in.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ready to demo live, and here's the arc. Login chips make it one tap. As cashier, I'll bill with a member attached — watch the member price apply live and points accrue. As manager, I'll toggle a category promotion and the till price changes without redeploying. I'll void a sale with a required reason and show the audit trail capture it. Then day close — the Z-report reconciling the drawer. Finally, the developer account and the pattern cards.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honest about what's next. The bKash and Nagad integrations are simulated today — deliberately, because the Adapter layer is one hundred percent real: the vendor shape is fully isolated, so connecting the real API is a one-connector swap and the billing code won't change a line. Beyond that: multi-branch support on the same repository abstraction, a mobile companion for owners, and purchase-order approvals. The architecture was built so growth means adding adapters and observers, not rewriting the core.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lessons we'd share. First: patterns are tools, not decorations — every one of the eighteen exists because a feature demanded it, and the ones we rejected taught us as much as the ones we kept. Second: domain purity pays — keeping the domain free of framework annotations is exactly what made the patterns visible, honest, and unit-testable. Third: writing down the 'why not' is part of the answer — a design document that only says yes has not made any decisions.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MartFlow started as a patterns lab and became a product — a complete retail management suite for a real Bangladeshi problem, with NBR-correct VAT, batch and expiry inventory, purchasing with payables, loyalty, returns, and drawer reconciliation. Beneath it, eighteen design patterns carry the load, every taka is accounted for with exact decimal math, and one hundred seventy-six tests keep every claim in this presentation verifiable. We didn't just study design patterns. We shipped them.</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listening. Everything you saw today is in the repository — the code, the tests, the CI pipeline, and a full Bengali documentation set. You can run it yourself in one command and explore all four roles with the demo credentials, including the developer's pattern studio. We're happy to answer questions — about the VAT math, the pattern choices, the security layers, or anything else. [CLOSING] MartFlow — where every pattern works for a living.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16-Aug-26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16-Aug-26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16-Aug-26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16-Aug-26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16-Aug-26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16-Aug-26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16-Aug-26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16-Aug-26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16-Aug-26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01E"/>
            </a:gs>
            <a:gs pos="100000">
              <a:srgbClr val="16223E"/>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8138160" y="-2194560"/>
            <a:ext cx="6766560" cy="6766560"/>
          </a:xfrm>
          <a:prstGeom prst="ellipse">
            <a:avLst/>
          </a:prstGeom>
          <a:solidFill>
            <a:srgbClr val="2DD4B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194560" y="4023360"/>
            <a:ext cx="5669280" cy="5669280"/>
          </a:xfrm>
          <a:prstGeom prst="ellipse">
            <a:avLst/>
          </a:prstGeom>
          <a:solidFill>
            <a:srgbClr val="A78BFA">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81360" y="5120640"/>
            <a:ext cx="3108960" cy="310896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932688"/>
            <a:ext cx="10515600" cy="329184"/>
          </a:xfrm>
          <a:prstGeom prst="rect">
            <a:avLst/>
          </a:prstGeom>
          <a:noFill/>
        </p:spPr>
        <p:txBody>
          <a:bodyPr wrap="square" lIns="0" tIns="0" rIns="0" bIns="0" anchor="t">
            <a:spAutoFit/>
          </a:bodyPr>
          <a:lstStyle/>
          <a:p>
            <a:pPr algn="l">
              <a:lnSpc>
                <a:spcPct val="100000"/>
              </a:lnSpc>
            </a:pPr>
            <a:r>
              <a:rPr sz="1200" b="1">
                <a:solidFill>
                  <a:srgbClr val="2DD4BF"/>
                </a:solidFill>
                <a:latin typeface="Segoe UI Semibold"/>
              </a:rPr>
              <a:t>SOFTWARE DESIGN PATTERN  ·  LAB FINAL  ·  AUGUST 2026</a:t>
            </a:r>
          </a:p>
        </p:txBody>
      </p:sp>
      <p:sp>
        <p:nvSpPr>
          <p:cNvPr id="6" name="TextBox 5"/>
          <p:cNvSpPr txBox="1"/>
          <p:nvPr/>
        </p:nvSpPr>
        <p:spPr>
          <a:xfrm>
            <a:off x="786384" y="1371600"/>
            <a:ext cx="10607040" cy="1371600"/>
          </a:xfrm>
          <a:prstGeom prst="rect">
            <a:avLst/>
          </a:prstGeom>
          <a:noFill/>
        </p:spPr>
        <p:txBody>
          <a:bodyPr wrap="square" lIns="0" tIns="0" rIns="0" bIns="0" anchor="t">
            <a:spAutoFit/>
          </a:bodyPr>
          <a:lstStyle/>
          <a:p>
            <a:pPr algn="l">
              <a:lnSpc>
                <a:spcPct val="100000"/>
              </a:lnSpc>
            </a:pPr>
            <a:r>
              <a:rPr sz="7600" b="1">
                <a:solidFill>
                  <a:srgbClr val="F2F6FD"/>
                </a:solidFill>
                <a:latin typeface="Segoe UI Semibold"/>
              </a:rPr>
              <a:t>Mart</a:t>
            </a:r>
            <a:r>
              <a:rPr sz="7600" b="1">
                <a:solidFill>
                  <a:srgbClr val="2DD4BF"/>
                </a:solidFill>
                <a:latin typeface="Segoe UI Semibold"/>
              </a:rPr>
              <a:t>Flow</a:t>
            </a:r>
          </a:p>
        </p:txBody>
      </p:sp>
      <p:sp>
        <p:nvSpPr>
          <p:cNvPr id="7" name="TextBox 6"/>
          <p:cNvSpPr txBox="1"/>
          <p:nvPr/>
        </p:nvSpPr>
        <p:spPr>
          <a:xfrm>
            <a:off x="822960" y="2798064"/>
            <a:ext cx="10515600" cy="384048"/>
          </a:xfrm>
          <a:prstGeom prst="rect">
            <a:avLst/>
          </a:prstGeom>
          <a:noFill/>
        </p:spPr>
        <p:txBody>
          <a:bodyPr wrap="square" lIns="0" tIns="0" rIns="0" bIns="0" anchor="t">
            <a:spAutoFit/>
          </a:bodyPr>
          <a:lstStyle/>
          <a:p>
            <a:pPr algn="l">
              <a:lnSpc>
                <a:spcPct val="100000"/>
              </a:lnSpc>
            </a:pPr>
            <a:r>
              <a:rPr sz="2000" b="0">
                <a:solidFill>
                  <a:srgbClr val="9FB0CC"/>
                </a:solidFill>
                <a:latin typeface="Segoe UI Light"/>
              </a:rPr>
              <a:t>Supershop Retail Management Suite</a:t>
            </a:r>
          </a:p>
        </p:txBody>
      </p:sp>
      <p:sp>
        <p:nvSpPr>
          <p:cNvPr id="8" name="Rounded Rectangle 7"/>
          <p:cNvSpPr/>
          <p:nvPr/>
        </p:nvSpPr>
        <p:spPr>
          <a:xfrm>
            <a:off x="929487"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POS</a:t>
            </a:r>
          </a:p>
        </p:txBody>
      </p:sp>
      <p:sp>
        <p:nvSpPr>
          <p:cNvPr id="9" name="Rounded Rectangle 8"/>
          <p:cNvSpPr/>
          <p:nvPr/>
        </p:nvSpPr>
        <p:spPr>
          <a:xfrm>
            <a:off x="2685135"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Inventory</a:t>
            </a:r>
          </a:p>
        </p:txBody>
      </p:sp>
      <p:sp>
        <p:nvSpPr>
          <p:cNvPr id="10" name="Rounded Rectangle 9"/>
          <p:cNvSpPr/>
          <p:nvPr/>
        </p:nvSpPr>
        <p:spPr>
          <a:xfrm>
            <a:off x="4440783"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Purchasing</a:t>
            </a:r>
          </a:p>
        </p:txBody>
      </p:sp>
      <p:sp>
        <p:nvSpPr>
          <p:cNvPr id="11" name="Rounded Rectangle 10"/>
          <p:cNvSpPr/>
          <p:nvPr/>
        </p:nvSpPr>
        <p:spPr>
          <a:xfrm>
            <a:off x="6196431"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Loyalty</a:t>
            </a:r>
          </a:p>
        </p:txBody>
      </p:sp>
      <p:sp>
        <p:nvSpPr>
          <p:cNvPr id="12" name="Rounded Rectangle 11"/>
          <p:cNvSpPr/>
          <p:nvPr/>
        </p:nvSpPr>
        <p:spPr>
          <a:xfrm>
            <a:off x="7952079"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Returns</a:t>
            </a:r>
          </a:p>
        </p:txBody>
      </p:sp>
      <p:sp>
        <p:nvSpPr>
          <p:cNvPr id="13" name="Rounded Rectangle 12"/>
          <p:cNvSpPr/>
          <p:nvPr/>
        </p:nvSpPr>
        <p:spPr>
          <a:xfrm>
            <a:off x="9707727" y="3456432"/>
            <a:ext cx="1554480" cy="365760"/>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2DD4BF"/>
                </a:solidFill>
                <a:latin typeface="Segoe UI Semibold"/>
              </a:rPr>
              <a:t>NBR VAT Reports</a:t>
            </a:r>
          </a:p>
        </p:txBody>
      </p:sp>
      <p:sp>
        <p:nvSpPr>
          <p:cNvPr id="14" name="Rounded Rectangle 13"/>
          <p:cNvSpPr/>
          <p:nvPr/>
        </p:nvSpPr>
        <p:spPr>
          <a:xfrm>
            <a:off x="4956048" y="4261104"/>
            <a:ext cx="2286000" cy="20116"/>
          </a:xfrm>
          <a:prstGeom prst="roundRect">
            <a:avLst>
              <a:gd name="adj" fmla="val 50000"/>
            </a:avLst>
          </a:prstGeom>
          <a:solidFill>
            <a:srgbClr val="2A3B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22960" y="4498848"/>
            <a:ext cx="10515600" cy="365760"/>
          </a:xfrm>
          <a:prstGeom prst="rect">
            <a:avLst/>
          </a:prstGeom>
          <a:noFill/>
        </p:spPr>
        <p:txBody>
          <a:bodyPr wrap="square" lIns="0" tIns="0" rIns="0" bIns="0" anchor="t">
            <a:spAutoFit/>
          </a:bodyPr>
          <a:lstStyle/>
          <a:p>
            <a:pPr algn="ctr">
              <a:lnSpc>
                <a:spcPct val="100000"/>
              </a:lnSpc>
            </a:pPr>
            <a:r>
              <a:rPr sz="1200" b="0">
                <a:solidFill>
                  <a:srgbClr val="6B7C9C"/>
                </a:solidFill>
                <a:latin typeface="Segoe UI"/>
              </a:rPr>
              <a:t>Presented by  </a:t>
            </a:r>
            <a:r>
              <a:rPr sz="1350" b="1">
                <a:solidFill>
                  <a:srgbClr val="F2F6FD"/>
                </a:solidFill>
                <a:latin typeface="Segoe UI Semibold"/>
              </a:rPr>
              <a:t>MD Mahamudul Hasan · Sumya Soma · Alfa Sany</a:t>
            </a:r>
          </a:p>
        </p:txBody>
      </p:sp>
      <p:sp>
        <p:nvSpPr>
          <p:cNvPr id="16" name="TextBox 15"/>
          <p:cNvSpPr txBox="1"/>
          <p:nvPr/>
        </p:nvSpPr>
        <p:spPr>
          <a:xfrm>
            <a:off x="822960" y="5029200"/>
            <a:ext cx="10515600" cy="274320"/>
          </a:xfrm>
          <a:prstGeom prst="rect">
            <a:avLst/>
          </a:prstGeom>
          <a:noFill/>
        </p:spPr>
        <p:txBody>
          <a:bodyPr wrap="square" lIns="0" tIns="0" rIns="0" bIns="0" anchor="t">
            <a:spAutoFit/>
          </a:bodyPr>
          <a:lstStyle/>
          <a:p>
            <a:pPr algn="ctr">
              <a:lnSpc>
                <a:spcPct val="100000"/>
              </a:lnSpc>
            </a:pPr>
            <a:r>
              <a:rPr sz="1000" b="0">
                <a:solidFill>
                  <a:srgbClr val="6B7C9C"/>
                </a:solidFill>
                <a:latin typeface="Consolas"/>
              </a:rPr>
              <a:t>github.com/MHMITHUN/MartFlow-Supershop-POS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60"/>
                                        <p:tgtEl>
                                          <p:spTgt spid="5"/>
                                        </p:tgtEl>
                                      </p:cBhvr>
                                    </p:animEffect>
                                  </p:childTnLst>
                                </p:cTn>
                              </p:par>
                              <p:par>
                                <p:cTn id="8" presetID="10" presetClass="entr" presetSubtype="0" fill="hold" grpId="0" nodeType="withEffect">
                                  <p:stCondLst>
                                    <p:cond delay="2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60"/>
                                        <p:tgtEl>
                                          <p:spTgt spid="6"/>
                                        </p:tgtEl>
                                      </p:cBhvr>
                                    </p:animEffect>
                                  </p:childTnLst>
                                </p:cTn>
                              </p:par>
                              <p:par>
                                <p:cTn id="11" presetID="10" presetClass="entr" presetSubtype="0" fill="hold" grpId="0" nodeType="withEffect">
                                  <p:stCondLst>
                                    <p:cond delay="5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60"/>
                                        <p:tgtEl>
                                          <p:spTgt spid="7"/>
                                        </p:tgtEl>
                                      </p:cBhvr>
                                    </p:animEffect>
                                  </p:childTnLst>
                                </p:cTn>
                              </p:par>
                              <p:par>
                                <p:cTn id="14" presetID="10" presetClass="entr" presetSubtype="0" fill="hold" grpId="0" nodeType="withEffect">
                                  <p:stCondLst>
                                    <p:cond delay="8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60"/>
                                        <p:tgtEl>
                                          <p:spTgt spid="8"/>
                                        </p:tgtEl>
                                      </p:cBhvr>
                                    </p:animEffect>
                                  </p:childTnLst>
                                </p:cTn>
                              </p:par>
                              <p:par>
                                <p:cTn id="17" presetID="10" presetClass="entr" presetSubtype="0" fill="hold" grpId="0" nodeType="withEffect">
                                  <p:stCondLst>
                                    <p:cond delay="84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60"/>
                                        <p:tgtEl>
                                          <p:spTgt spid="9"/>
                                        </p:tgtEl>
                                      </p:cBhvr>
                                    </p:animEffect>
                                  </p:childTnLst>
                                </p:cTn>
                              </p:par>
                              <p:par>
                                <p:cTn id="20" presetID="10" presetClass="entr" presetSubtype="0" fill="hold" grpId="0" nodeType="withEffect">
                                  <p:stCondLst>
                                    <p:cond delay="84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60"/>
                                        <p:tgtEl>
                                          <p:spTgt spid="10"/>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60"/>
                                        <p:tgtEl>
                                          <p:spTgt spid="11"/>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60"/>
                                        <p:tgtEl>
                                          <p:spTgt spid="12"/>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60"/>
                                        <p:tgtEl>
                                          <p:spTgt spid="13"/>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60"/>
                                        <p:tgtEl>
                                          <p:spTgt spid="14"/>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60"/>
                                        <p:tgtEl>
                                          <p:spTgt spid="15"/>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6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P spid="11" grpId="0" animBg="1"/>
      <p:bldP spid="12" grpId="0" animBg="1"/>
      <p:bldP spid="13" grpId="0" animBg="1"/>
      <p:bldP spid="14"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02 · THE TEAM</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Three Voices, Fifteen Minutes</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One product story told in three acts — product, patterns, payoff.</a:t>
            </a:r>
          </a:p>
        </p:txBody>
      </p:sp>
      <p:sp>
        <p:nvSpPr>
          <p:cNvPr id="8" name="Rounded Rectangle 7"/>
          <p:cNvSpPr/>
          <p:nvPr/>
        </p:nvSpPr>
        <p:spPr>
          <a:xfrm>
            <a:off x="502920" y="1920240"/>
            <a:ext cx="3611880" cy="33832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400"/>
              </a:spcAft>
            </a:pPr>
            <a:r>
              <a:rPr sz="1500" b="1">
                <a:solidFill>
                  <a:srgbClr val="F2F6FD"/>
                </a:solidFill>
                <a:latin typeface="Segoe UI Semibold"/>
              </a:rPr>
              <a:t>MD Mahamudul Hasan</a:t>
            </a:r>
          </a:p>
          <a:p>
            <a:pPr algn="l">
              <a:lnSpc>
                <a:spcPct val="100000"/>
              </a:lnSpc>
              <a:spcAft>
                <a:spcPts val="400"/>
              </a:spcAft>
            </a:pPr>
            <a:r>
              <a:rPr sz="950" b="1">
                <a:solidFill>
                  <a:srgbClr val="2DD4BF"/>
                </a:solidFill>
                <a:latin typeface="Segoe UI Semibold"/>
              </a:rPr>
              <a:t>SLIDES 1–10 · THE PRODUCT</a:t>
            </a:r>
          </a:p>
          <a:p>
            <a:pPr algn="l">
              <a:lnSpc>
                <a:spcPct val="100000"/>
              </a:lnSpc>
              <a:spcAft>
                <a:spcPts val="400"/>
              </a:spcAft>
            </a:pPr>
            <a:r>
              <a:rPr sz="900" b="0" i="1">
                <a:solidFill>
                  <a:srgbClr val="6B7C9C"/>
                </a:solidFill>
                <a:latin typeface="Segoe UI"/>
              </a:rPr>
              <a:t>Lead Developer &amp; System Architect</a:t>
            </a:r>
          </a:p>
          <a:p>
            <a:pPr algn="l">
              <a:lnSpc>
                <a:spcPct val="100000"/>
              </a:lnSpc>
              <a:spcAft>
                <a:spcPts val="400"/>
              </a:spcAft>
            </a:pPr>
            <a:r>
              <a:rPr sz="400" b="0">
                <a:solidFill>
                  <a:srgbClr val="F2F6FD"/>
                </a:solidFill>
                <a:latin typeface="Segoe UI"/>
              </a:rPr>
              <a:t> </a:t>
            </a:r>
          </a:p>
          <a:p>
            <a:pPr algn="l">
              <a:lnSpc>
                <a:spcPct val="100000"/>
              </a:lnSpc>
              <a:spcAft>
                <a:spcPts val="400"/>
              </a:spcAft>
            </a:pPr>
            <a:r>
              <a:rPr sz="1050" b="0">
                <a:solidFill>
                  <a:srgbClr val="9FB0CC"/>
                </a:solidFill>
                <a:latin typeface="Segoe UI"/>
              </a:rPr>
              <a:t>The real-life problem, the live screens, four roles &amp; three security layers, the tech stack.</a:t>
            </a:r>
          </a:p>
        </p:txBody>
      </p:sp>
      <p:sp>
        <p:nvSpPr>
          <p:cNvPr id="9" name="Rounded Rectangle 8"/>
          <p:cNvSpPr/>
          <p:nvPr/>
        </p:nvSpPr>
        <p:spPr>
          <a:xfrm>
            <a:off x="502920" y="1920240"/>
            <a:ext cx="3611880" cy="82296"/>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0" y="1920240"/>
            <a:ext cx="3611880" cy="33832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400"/>
              </a:spcAft>
            </a:pPr>
            <a:r>
              <a:rPr sz="1500" b="1">
                <a:solidFill>
                  <a:srgbClr val="F2F6FD"/>
                </a:solidFill>
                <a:latin typeface="Segoe UI Semibold"/>
              </a:rPr>
              <a:t>Sumya Soma</a:t>
            </a:r>
          </a:p>
          <a:p>
            <a:pPr algn="l">
              <a:lnSpc>
                <a:spcPct val="100000"/>
              </a:lnSpc>
              <a:spcAft>
                <a:spcPts val="400"/>
              </a:spcAft>
            </a:pPr>
            <a:r>
              <a:rPr sz="950" b="1">
                <a:solidFill>
                  <a:srgbClr val="A78BFA"/>
                </a:solidFill>
                <a:latin typeface="Segoe UI Semibold"/>
              </a:rPr>
              <a:t>SLIDES 11–20 · THE ENGINE ROOM</a:t>
            </a:r>
          </a:p>
          <a:p>
            <a:pPr algn="l">
              <a:lnSpc>
                <a:spcPct val="100000"/>
              </a:lnSpc>
              <a:spcAft>
                <a:spcPts val="400"/>
              </a:spcAft>
            </a:pPr>
            <a:r>
              <a:rPr sz="400" b="0">
                <a:solidFill>
                  <a:srgbClr val="F2F6FD"/>
                </a:solidFill>
                <a:latin typeface="Segoe UI"/>
              </a:rPr>
              <a:t> </a:t>
            </a:r>
          </a:p>
          <a:p>
            <a:pPr algn="l">
              <a:lnSpc>
                <a:spcPct val="100000"/>
              </a:lnSpc>
              <a:spcAft>
                <a:spcPts val="400"/>
              </a:spcAft>
            </a:pPr>
            <a:r>
              <a:rPr sz="1050" b="0">
                <a:solidFill>
                  <a:srgbClr val="9FB0CC"/>
                </a:solidFill>
                <a:latin typeface="Segoe UI"/>
              </a:rPr>
              <a:t>All 18 GoF design patterns — grouped by the story they power: checkout, pricing, payments, inventory, reports.</a:t>
            </a:r>
          </a:p>
        </p:txBody>
      </p:sp>
      <p:sp>
        <p:nvSpPr>
          <p:cNvPr id="11" name="Rounded Rectangle 10"/>
          <p:cNvSpPr/>
          <p:nvPr/>
        </p:nvSpPr>
        <p:spPr>
          <a:xfrm>
            <a:off x="4297680" y="1920240"/>
            <a:ext cx="3611880" cy="82296"/>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092440" y="1920240"/>
            <a:ext cx="3611880" cy="33832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400"/>
              </a:spcAft>
            </a:pPr>
            <a:r>
              <a:rPr sz="1500" b="1">
                <a:solidFill>
                  <a:srgbClr val="F2F6FD"/>
                </a:solidFill>
                <a:latin typeface="Segoe UI Semibold"/>
              </a:rPr>
              <a:t>Alfa Sany</a:t>
            </a:r>
          </a:p>
          <a:p>
            <a:pPr algn="l">
              <a:lnSpc>
                <a:spcPct val="100000"/>
              </a:lnSpc>
              <a:spcAft>
                <a:spcPts val="400"/>
              </a:spcAft>
            </a:pPr>
            <a:r>
              <a:rPr sz="950" b="1">
                <a:solidFill>
                  <a:srgbClr val="FBBF24"/>
                </a:solidFill>
                <a:latin typeface="Segoe UI Semibold"/>
              </a:rPr>
              <a:t>SLIDES 21–30 · THE PAYOFF</a:t>
            </a:r>
          </a:p>
          <a:p>
            <a:pPr algn="l">
              <a:lnSpc>
                <a:spcPct val="100000"/>
              </a:lnSpc>
              <a:spcAft>
                <a:spcPts val="400"/>
              </a:spcAft>
            </a:pPr>
            <a:r>
              <a:rPr sz="400" b="0">
                <a:solidFill>
                  <a:srgbClr val="F2F6FD"/>
                </a:solidFill>
                <a:latin typeface="Segoe UI"/>
              </a:rPr>
              <a:t> </a:t>
            </a:r>
          </a:p>
          <a:p>
            <a:pPr algn="l">
              <a:lnSpc>
                <a:spcPct val="100000"/>
              </a:lnSpc>
              <a:spcAft>
                <a:spcPts val="400"/>
              </a:spcAft>
            </a:pPr>
            <a:r>
              <a:rPr sz="1050" b="0">
                <a:solidFill>
                  <a:srgbClr val="9FB0CC"/>
                </a:solidFill>
                <a:latin typeface="Segoe UI"/>
              </a:rPr>
              <a:t>Uniqueness, business value, quality engineering, the live demo plan and the close.</a:t>
            </a:r>
          </a:p>
        </p:txBody>
      </p:sp>
      <p:sp>
        <p:nvSpPr>
          <p:cNvPr id="13" name="Rounded Rectangle 12"/>
          <p:cNvSpPr/>
          <p:nvPr/>
        </p:nvSpPr>
        <p:spPr>
          <a:xfrm>
            <a:off x="8092440" y="1920240"/>
            <a:ext cx="3611880" cy="82296"/>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5669280"/>
            <a:ext cx="11183112" cy="502920"/>
          </a:xfrm>
          <a:prstGeom prst="roundRect">
            <a:avLst>
              <a:gd name="adj" fmla="val 50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200" b="1">
                <a:solidFill>
                  <a:srgbClr val="2DD4BF"/>
                </a:solidFill>
                <a:latin typeface="Segoe UI Semibold"/>
              </a:rPr>
              <a:t>30 slides</a:t>
            </a:r>
            <a:r>
              <a:rPr sz="1200" b="0">
                <a:solidFill>
                  <a:srgbClr val="6B7C9C"/>
                </a:solidFill>
                <a:latin typeface="Segoe UI"/>
              </a:rPr>
              <a:t>   ·   </a:t>
            </a:r>
            <a:r>
              <a:rPr sz="1200" b="1">
                <a:solidFill>
                  <a:srgbClr val="A78BFA"/>
                </a:solidFill>
                <a:latin typeface="Segoe UI Semibold"/>
              </a:rPr>
              <a:t>15 minutes</a:t>
            </a:r>
            <a:r>
              <a:rPr sz="1200" b="0">
                <a:solidFill>
                  <a:srgbClr val="6B7C9C"/>
                </a:solidFill>
                <a:latin typeface="Segoe UI"/>
              </a:rPr>
              <a:t>   ·   </a:t>
            </a:r>
            <a:r>
              <a:rPr sz="1200" b="1">
                <a:solidFill>
                  <a:srgbClr val="FBBF24"/>
                </a:solidFill>
                <a:latin typeface="Segoe UI Semibold"/>
              </a:rPr>
              <a:t>18 GoF patterns</a:t>
            </a:r>
            <a:r>
              <a:rPr sz="1200" b="0">
                <a:solidFill>
                  <a:srgbClr val="6B7C9C"/>
                </a:solidFill>
                <a:latin typeface="Segoe UI"/>
              </a:rPr>
              <a:t>   ·   </a:t>
            </a:r>
            <a:r>
              <a:rPr sz="1200" b="1">
                <a:solidFill>
                  <a:srgbClr val="4ADE80"/>
                </a:solidFill>
                <a:latin typeface="Segoe UI Semibold"/>
              </a:rPr>
              <a:t>176 automated tests</a:t>
            </a:r>
            <a:r>
              <a:rPr sz="1200" b="0">
                <a:solidFill>
                  <a:srgbClr val="9FB0CC"/>
                </a:solidFill>
                <a:latin typeface="Segoe UI"/>
              </a:rPr>
              <a:t>   ·   1 product</a:t>
            </a:r>
          </a:p>
        </p:txBody>
      </p:sp>
      <p:sp>
        <p:nvSpPr>
          <p:cNvPr id="15" name="TextBox 14"/>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6" name="TextBox 15"/>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02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87171">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87171">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87171"/>
                </a:solidFill>
                <a:latin typeface="Segoe UI Semibold"/>
              </a:rPr>
              <a:t>SLIDE 03 · THE PROBLEM</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Running a Supershop on a Patchwork</a:t>
            </a:r>
          </a:p>
        </p:txBody>
      </p:sp>
      <p:sp>
        <p:nvSpPr>
          <p:cNvPr id="6" name="Rounded Rectangle 5"/>
          <p:cNvSpPr/>
          <p:nvPr/>
        </p:nvSpPr>
        <p:spPr>
          <a:xfrm>
            <a:off x="521207" y="1316736"/>
            <a:ext cx="658368" cy="4572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The Shwapno / Meena Bazar / Unimart class — plus hundreds of mid-size local chains.</a:t>
            </a:r>
          </a:p>
        </p:txBody>
      </p:sp>
      <p:sp>
        <p:nvSpPr>
          <p:cNvPr id="8" name="Rounded Rectangle 7"/>
          <p:cNvSpPr/>
          <p:nvPr/>
        </p:nvSpPr>
        <p:spPr>
          <a:xfrm>
            <a:off x="502920" y="1810512"/>
            <a:ext cx="3291840" cy="18288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400" b="1">
                <a:solidFill>
                  <a:srgbClr val="F87171"/>
                </a:solidFill>
                <a:latin typeface="Segoe UI"/>
              </a:rPr>
              <a:t>✗  </a:t>
            </a:r>
            <a:r>
              <a:rPr sz="1250" b="1">
                <a:solidFill>
                  <a:srgbClr val="F2F6FD"/>
                </a:solidFill>
                <a:latin typeface="Segoe UI Semibold"/>
              </a:rPr>
              <a:t>Imported POS software</a:t>
            </a:r>
          </a:p>
          <a:p>
            <a:pPr algn="l">
              <a:lnSpc>
                <a:spcPct val="100000"/>
              </a:lnSpc>
              <a:spcAft>
                <a:spcPts val="400"/>
              </a:spcAft>
            </a:pPr>
            <a:r>
              <a:rPr sz="1050" b="0">
                <a:solidFill>
                  <a:srgbClr val="9FB0CC"/>
                </a:solidFill>
                <a:latin typeface="Segoe UI"/>
              </a:rPr>
              <a:t> — doesn't understand Bangladesh VAT law or NBR slabs</a:t>
            </a:r>
          </a:p>
        </p:txBody>
      </p:sp>
      <p:sp>
        <p:nvSpPr>
          <p:cNvPr id="9" name="Rounded Rectangle 8"/>
          <p:cNvSpPr/>
          <p:nvPr/>
        </p:nvSpPr>
        <p:spPr>
          <a:xfrm>
            <a:off x="502920" y="1810512"/>
            <a:ext cx="64008" cy="182880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3977639" y="1810512"/>
            <a:ext cx="3291840" cy="18288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400" b="1">
                <a:solidFill>
                  <a:srgbClr val="F87171"/>
                </a:solidFill>
                <a:latin typeface="Segoe UI"/>
              </a:rPr>
              <a:t>✗  </a:t>
            </a:r>
            <a:r>
              <a:rPr sz="1250" b="1">
                <a:solidFill>
                  <a:srgbClr val="F2F6FD"/>
                </a:solidFill>
                <a:latin typeface="Segoe UI Semibold"/>
              </a:rPr>
              <a:t>Spreadsheets for purchasing</a:t>
            </a:r>
          </a:p>
          <a:p>
            <a:pPr algn="l">
              <a:lnSpc>
                <a:spcPct val="100000"/>
              </a:lnSpc>
              <a:spcAft>
                <a:spcPts val="400"/>
              </a:spcAft>
            </a:pPr>
            <a:r>
              <a:rPr sz="1050" b="0">
                <a:solidFill>
                  <a:srgbClr val="9FB0CC"/>
                </a:solidFill>
                <a:latin typeface="Segoe UI"/>
              </a:rPr>
              <a:t> — supplier dues, POs and real costs tracked by hand</a:t>
            </a:r>
          </a:p>
        </p:txBody>
      </p:sp>
      <p:sp>
        <p:nvSpPr>
          <p:cNvPr id="11" name="Rounded Rectangle 10"/>
          <p:cNvSpPr/>
          <p:nvPr/>
        </p:nvSpPr>
        <p:spPr>
          <a:xfrm>
            <a:off x="3977639" y="1810512"/>
            <a:ext cx="64008" cy="182880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502920" y="3913632"/>
            <a:ext cx="3291840" cy="18288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400" b="1">
                <a:solidFill>
                  <a:srgbClr val="F87171"/>
                </a:solidFill>
                <a:latin typeface="Segoe UI"/>
              </a:rPr>
              <a:t>✗  </a:t>
            </a:r>
            <a:r>
              <a:rPr sz="1250" b="1">
                <a:solidFill>
                  <a:srgbClr val="F2F6FD"/>
                </a:solidFill>
                <a:latin typeface="Segoe UI Semibold"/>
              </a:rPr>
              <a:t>Notebooks for loyalty</a:t>
            </a:r>
          </a:p>
          <a:p>
            <a:pPr algn="l">
              <a:lnSpc>
                <a:spcPct val="100000"/>
              </a:lnSpc>
              <a:spcAft>
                <a:spcPts val="400"/>
              </a:spcAft>
            </a:pPr>
            <a:r>
              <a:rPr sz="1050" b="0">
                <a:solidFill>
                  <a:srgbClr val="9FB0CC"/>
                </a:solidFill>
                <a:latin typeface="Segoe UI"/>
              </a:rPr>
              <a:t> — member points and prices live on paper</a:t>
            </a:r>
          </a:p>
        </p:txBody>
      </p:sp>
      <p:sp>
        <p:nvSpPr>
          <p:cNvPr id="13" name="Rounded Rectangle 12"/>
          <p:cNvSpPr/>
          <p:nvPr/>
        </p:nvSpPr>
        <p:spPr>
          <a:xfrm>
            <a:off x="502920" y="3913632"/>
            <a:ext cx="64008" cy="182880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3977639" y="3913632"/>
            <a:ext cx="3291840" cy="18288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400" b="1">
                <a:solidFill>
                  <a:srgbClr val="F87171"/>
                </a:solidFill>
                <a:latin typeface="Segoe UI"/>
              </a:rPr>
              <a:t>✗  </a:t>
            </a:r>
            <a:r>
              <a:rPr sz="1250" b="1">
                <a:solidFill>
                  <a:srgbClr val="F2F6FD"/>
                </a:solidFill>
                <a:latin typeface="Segoe UI Semibold"/>
              </a:rPr>
              <a:t>Nothing for wastage</a:t>
            </a:r>
          </a:p>
          <a:p>
            <a:pPr algn="l">
              <a:lnSpc>
                <a:spcPct val="100000"/>
              </a:lnSpc>
              <a:spcAft>
                <a:spcPts val="400"/>
              </a:spcAft>
            </a:pPr>
            <a:r>
              <a:rPr sz="1050" b="0">
                <a:solidFill>
                  <a:srgbClr val="9FB0CC"/>
                </a:solidFill>
                <a:latin typeface="Segoe UI"/>
              </a:rPr>
              <a:t> — damage, expiry and theft stay invisible until it's too late</a:t>
            </a:r>
          </a:p>
        </p:txBody>
      </p:sp>
      <p:sp>
        <p:nvSpPr>
          <p:cNvPr id="15" name="Rounded Rectangle 14"/>
          <p:cNvSpPr/>
          <p:nvPr/>
        </p:nvSpPr>
        <p:spPr>
          <a:xfrm>
            <a:off x="3977639" y="3913632"/>
            <a:ext cx="64008" cy="182880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589520" y="1810512"/>
            <a:ext cx="4096512" cy="3931920"/>
          </a:xfrm>
          <a:prstGeom prst="roundRect">
            <a:avLst>
              <a:gd name="adj" fmla="val 9000"/>
            </a:avLst>
          </a:prstGeom>
          <a:solidFill>
            <a:srgbClr val="2A1520"/>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10000"/>
              </a:lnSpc>
              <a:spcAft>
                <a:spcPts val="800"/>
              </a:spcAft>
            </a:pPr>
            <a:r>
              <a:rPr sz="1000" b="1">
                <a:solidFill>
                  <a:srgbClr val="F87171"/>
                </a:solidFill>
                <a:latin typeface="Segoe UI Semibold"/>
              </a:rPr>
              <a:t>THE RESULT</a:t>
            </a:r>
          </a:p>
          <a:p>
            <a:pPr algn="l">
              <a:lnSpc>
                <a:spcPct val="110000"/>
              </a:lnSpc>
              <a:spcAft>
                <a:spcPts val="800"/>
              </a:spcAft>
            </a:pPr>
            <a:r>
              <a:rPr sz="1450" b="1" i="1">
                <a:solidFill>
                  <a:srgbClr val="F2F6FD"/>
                </a:solidFill>
                <a:latin typeface="Segoe UI Semibold"/>
              </a:rPr>
              <a:t>"The owner finds out weeks late."</a:t>
            </a:r>
          </a:p>
          <a:p>
            <a:pPr algn="l">
              <a:lnSpc>
                <a:spcPct val="110000"/>
              </a:lnSpc>
              <a:spcAft>
                <a:spcPts val="800"/>
              </a:spcAft>
            </a:pPr>
            <a:r>
              <a:rPr sz="1100" b="0">
                <a:solidFill>
                  <a:srgbClr val="9FB0CC"/>
                </a:solidFill>
                <a:latin typeface="Segoe UI"/>
              </a:rPr>
              <a:t>Stock that walked out the door.Batches that expired on the shelf.Margins that quietly eroded.</a:t>
            </a:r>
          </a:p>
          <a:p>
            <a:pPr algn="l">
              <a:lnSpc>
                <a:spcPct val="110000"/>
              </a:lnSpc>
              <a:spcAft>
                <a:spcPts val="800"/>
              </a:spcAft>
            </a:pPr>
            <a:r>
              <a:rPr sz="1050" b="0">
                <a:solidFill>
                  <a:srgbClr val="6B7C9C"/>
                </a:solidFill>
                <a:latin typeface="Segoe UI"/>
              </a:rPr>
              <a:t>Every mid-size shop in Bangladesh feels this daily — it is a software gap, and that gap is MartFlow's reason to exist.</a:t>
            </a:r>
          </a:p>
        </p:txBody>
      </p:sp>
      <p:sp>
        <p:nvSpPr>
          <p:cNvPr id="17" name="TextBox 16"/>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8" name="TextBox 17"/>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03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1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4ADE80">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4ADE8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4ADE80"/>
                </a:solidFill>
                <a:latin typeface="Segoe UI Semibold"/>
              </a:rPr>
              <a:t>SLIDE 04 · ORIGIN STORY</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From Patterns Lab to Product</a:t>
            </a:r>
          </a:p>
        </p:txBody>
      </p:sp>
      <p:sp>
        <p:nvSpPr>
          <p:cNvPr id="6" name="Rounded Rectangle 5"/>
          <p:cNvSpPr/>
          <p:nvPr/>
        </p:nvSpPr>
        <p:spPr>
          <a:xfrm>
            <a:off x="521207" y="1316736"/>
            <a:ext cx="658368" cy="4572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MartFlow began as a patterns lab — and was rebuilt, honestly, into a product.</a:t>
            </a:r>
          </a:p>
        </p:txBody>
      </p:sp>
      <p:sp>
        <p:nvSpPr>
          <p:cNvPr id="8" name="TextBox 7"/>
          <p:cNvSpPr txBox="1"/>
          <p:nvPr/>
        </p:nvSpPr>
        <p:spPr>
          <a:xfrm>
            <a:off x="502920" y="1572768"/>
            <a:ext cx="4846320" cy="274320"/>
          </a:xfrm>
          <a:prstGeom prst="rect">
            <a:avLst/>
          </a:prstGeom>
          <a:noFill/>
        </p:spPr>
        <p:txBody>
          <a:bodyPr wrap="square" lIns="0" tIns="0" rIns="0" bIns="0" anchor="t">
            <a:spAutoFit/>
          </a:bodyPr>
          <a:lstStyle/>
          <a:p>
            <a:pPr algn="l">
              <a:lnSpc>
                <a:spcPct val="100000"/>
              </a:lnSpc>
            </a:pPr>
            <a:r>
              <a:rPr sz="1050" b="1">
                <a:solidFill>
                  <a:srgbClr val="F87171"/>
                </a:solidFill>
                <a:latin typeface="Segoe UI Semibold"/>
              </a:rPr>
              <a:t>v1.0 — THE LAB BUILD</a:t>
            </a:r>
          </a:p>
        </p:txBody>
      </p:sp>
      <p:sp>
        <p:nvSpPr>
          <p:cNvPr id="9" name="TextBox 8"/>
          <p:cNvSpPr txBox="1"/>
          <p:nvPr/>
        </p:nvSpPr>
        <p:spPr>
          <a:xfrm>
            <a:off x="6858000" y="1572768"/>
            <a:ext cx="4846320" cy="274320"/>
          </a:xfrm>
          <a:prstGeom prst="rect">
            <a:avLst/>
          </a:prstGeom>
          <a:noFill/>
        </p:spPr>
        <p:txBody>
          <a:bodyPr wrap="square" lIns="0" tIns="0" rIns="0" bIns="0" anchor="t">
            <a:spAutoFit/>
          </a:bodyPr>
          <a:lstStyle/>
          <a:p>
            <a:pPr algn="l">
              <a:lnSpc>
                <a:spcPct val="100000"/>
              </a:lnSpc>
            </a:pPr>
            <a:r>
              <a:rPr sz="1050" b="1">
                <a:solidFill>
                  <a:srgbClr val="4ADE80"/>
                </a:solidFill>
                <a:latin typeface="Segoe UI Semibold"/>
              </a:rPr>
              <a:t>v1.1 — MARTFLOW</a:t>
            </a:r>
          </a:p>
        </p:txBody>
      </p:sp>
      <p:sp>
        <p:nvSpPr>
          <p:cNvPr id="10" name="Rounded Rectangle 9"/>
          <p:cNvSpPr/>
          <p:nvPr/>
        </p:nvSpPr>
        <p:spPr>
          <a:xfrm>
            <a:off x="502920" y="1810512"/>
            <a:ext cx="4800600" cy="932688"/>
          </a:xfrm>
          <a:prstGeom prst="roundRect">
            <a:avLst>
              <a:gd name="adj" fmla="val 9000"/>
            </a:avLst>
          </a:prstGeom>
          <a:solidFill>
            <a:srgbClr val="241522"/>
          </a:solidFill>
          <a:ln w="9525">
            <a:solidFill>
              <a:srgbClr val="5C3A4E"/>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F87171"/>
                </a:solidFill>
                <a:latin typeface="Segoe UI"/>
              </a:rPr>
              <a:t>✗  </a:t>
            </a:r>
            <a:r>
              <a:rPr sz="1150" b="1">
                <a:solidFill>
                  <a:srgbClr val="F2F6FD"/>
                </a:solidFill>
                <a:latin typeface="Segoe UI Semibold"/>
              </a:rPr>
              <a:t>No login at all</a:t>
            </a:r>
          </a:p>
          <a:p>
            <a:pPr algn="l">
              <a:lnSpc>
                <a:spcPct val="100000"/>
              </a:lnSpc>
            </a:pPr>
            <a:r>
              <a:rPr sz="1000" b="0">
                <a:solidFill>
                  <a:srgbClr val="9FB0CC"/>
                </a:solidFill>
                <a:latin typeface="Segoe UI"/>
              </a:rPr>
              <a:t> — "?as=admin" in the URL made you admin</a:t>
            </a:r>
          </a:p>
        </p:txBody>
      </p:sp>
      <p:sp>
        <p:nvSpPr>
          <p:cNvPr id="11" name="Rounded Rectangle 10"/>
          <p:cNvSpPr/>
          <p:nvPr/>
        </p:nvSpPr>
        <p:spPr>
          <a:xfrm>
            <a:off x="6858000" y="1810512"/>
            <a:ext cx="4800600" cy="932688"/>
          </a:xfrm>
          <a:prstGeom prst="roundRect">
            <a:avLst>
              <a:gd name="adj" fmla="val 9000"/>
            </a:avLst>
          </a:prstGeom>
          <a:solidFill>
            <a:srgbClr val="12291F"/>
          </a:solidFill>
          <a:ln w="9525">
            <a:solidFill>
              <a:srgbClr val="3D5C4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4ADE80"/>
                </a:solidFill>
                <a:latin typeface="Segoe UI"/>
              </a:rPr>
              <a:t>✓  </a:t>
            </a:r>
            <a:r>
              <a:rPr sz="1150" b="1">
                <a:solidFill>
                  <a:srgbClr val="F2F6FD"/>
                </a:solidFill>
                <a:latin typeface="Segoe UI Semibold"/>
              </a:rPr>
              <a:t>Real authentication</a:t>
            </a:r>
          </a:p>
          <a:p>
            <a:pPr algn="l">
              <a:lnSpc>
                <a:spcPct val="100000"/>
              </a:lnSpc>
            </a:pPr>
            <a:r>
              <a:rPr sz="1000" b="0">
                <a:solidFill>
                  <a:srgbClr val="9FB0CC"/>
                </a:solidFill>
                <a:latin typeface="Segoe UI"/>
              </a:rPr>
              <a:t> — PBKDF2 hashes + 256-bit bearer tokens, 12 h</a:t>
            </a:r>
          </a:p>
        </p:txBody>
      </p:sp>
      <p:sp>
        <p:nvSpPr>
          <p:cNvPr id="12" name="Right Arrow 11"/>
          <p:cNvSpPr/>
          <p:nvPr/>
        </p:nvSpPr>
        <p:spPr>
          <a:xfrm>
            <a:off x="5504688" y="2084831"/>
            <a:ext cx="1143000" cy="36576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2889504"/>
            <a:ext cx="4800600" cy="932688"/>
          </a:xfrm>
          <a:prstGeom prst="roundRect">
            <a:avLst>
              <a:gd name="adj" fmla="val 9000"/>
            </a:avLst>
          </a:prstGeom>
          <a:solidFill>
            <a:srgbClr val="241522"/>
          </a:solidFill>
          <a:ln w="9525">
            <a:solidFill>
              <a:srgbClr val="5C3A4E"/>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F87171"/>
                </a:solidFill>
                <a:latin typeface="Segoe UI"/>
              </a:rPr>
              <a:t>✗  </a:t>
            </a:r>
            <a:r>
              <a:rPr sz="1150" b="1">
                <a:solidFill>
                  <a:srgbClr val="F2F6FD"/>
                </a:solidFill>
                <a:latin typeface="Segoe UI Semibold"/>
              </a:rPr>
              <a:t>One shared cart</a:t>
            </a:r>
          </a:p>
          <a:p>
            <a:pPr algn="l">
              <a:lnSpc>
                <a:spcPct val="100000"/>
              </a:lnSpc>
            </a:pPr>
            <a:r>
              <a:rPr sz="1000" b="0">
                <a:solidFill>
                  <a:srgbClr val="9FB0CC"/>
                </a:solidFill>
                <a:latin typeface="Segoe UI"/>
              </a:rPr>
              <a:t> — every visitor billed into the same common cart</a:t>
            </a:r>
          </a:p>
        </p:txBody>
      </p:sp>
      <p:sp>
        <p:nvSpPr>
          <p:cNvPr id="14" name="Rounded Rectangle 13"/>
          <p:cNvSpPr/>
          <p:nvPr/>
        </p:nvSpPr>
        <p:spPr>
          <a:xfrm>
            <a:off x="6858000" y="2889504"/>
            <a:ext cx="4800600" cy="932688"/>
          </a:xfrm>
          <a:prstGeom prst="roundRect">
            <a:avLst>
              <a:gd name="adj" fmla="val 9000"/>
            </a:avLst>
          </a:prstGeom>
          <a:solidFill>
            <a:srgbClr val="12291F"/>
          </a:solidFill>
          <a:ln w="9525">
            <a:solidFill>
              <a:srgbClr val="3D5C4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4ADE80"/>
                </a:solidFill>
                <a:latin typeface="Segoe UI"/>
              </a:rPr>
              <a:t>✓  </a:t>
            </a:r>
            <a:r>
              <a:rPr sz="1150" b="1">
                <a:solidFill>
                  <a:srgbClr val="F2F6FD"/>
                </a:solidFill>
                <a:latin typeface="Segoe UI Semibold"/>
              </a:rPr>
              <a:t>Per-session bills</a:t>
            </a:r>
          </a:p>
          <a:p>
            <a:pPr algn="l">
              <a:lnSpc>
                <a:spcPct val="100000"/>
              </a:lnSpc>
            </a:pPr>
            <a:r>
              <a:rPr sz="1000" b="0">
                <a:solidFill>
                  <a:srgbClr val="9FB0CC"/>
                </a:solidFill>
                <a:latin typeface="Segoe UI"/>
              </a:rPr>
              <a:t> — BillingSessionRegistry, one bill per cashier token</a:t>
            </a:r>
          </a:p>
        </p:txBody>
      </p:sp>
      <p:sp>
        <p:nvSpPr>
          <p:cNvPr id="15" name="Right Arrow 14"/>
          <p:cNvSpPr/>
          <p:nvPr/>
        </p:nvSpPr>
        <p:spPr>
          <a:xfrm>
            <a:off x="5504688" y="3163824"/>
            <a:ext cx="1143000" cy="36576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968496"/>
            <a:ext cx="4800600" cy="932688"/>
          </a:xfrm>
          <a:prstGeom prst="roundRect">
            <a:avLst>
              <a:gd name="adj" fmla="val 9000"/>
            </a:avLst>
          </a:prstGeom>
          <a:solidFill>
            <a:srgbClr val="241522"/>
          </a:solidFill>
          <a:ln w="9525">
            <a:solidFill>
              <a:srgbClr val="5C3A4E"/>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F87171"/>
                </a:solidFill>
                <a:latin typeface="Segoe UI"/>
              </a:rPr>
              <a:t>✗  </a:t>
            </a:r>
            <a:r>
              <a:rPr sz="1150" b="1">
                <a:solidFill>
                  <a:srgbClr val="F2F6FD"/>
                </a:solidFill>
                <a:latin typeface="Segoe UI Semibold"/>
              </a:rPr>
              <a:t>Tax theatre</a:t>
            </a:r>
          </a:p>
          <a:p>
            <a:pPr algn="l">
              <a:lnSpc>
                <a:spcPct val="100000"/>
              </a:lnSpc>
            </a:pPr>
            <a:r>
              <a:rPr sz="1000" b="0">
                <a:solidFill>
                  <a:srgbClr val="9FB0CC"/>
                </a:solidFill>
                <a:latin typeface="Segoe UI"/>
              </a:rPr>
              <a:t> — VAT displayed on screen, never actually charged</a:t>
            </a:r>
          </a:p>
        </p:txBody>
      </p:sp>
      <p:sp>
        <p:nvSpPr>
          <p:cNvPr id="17" name="Rounded Rectangle 16"/>
          <p:cNvSpPr/>
          <p:nvPr/>
        </p:nvSpPr>
        <p:spPr>
          <a:xfrm>
            <a:off x="6858000" y="3968496"/>
            <a:ext cx="4800600" cy="932688"/>
          </a:xfrm>
          <a:prstGeom prst="roundRect">
            <a:avLst>
              <a:gd name="adj" fmla="val 9000"/>
            </a:avLst>
          </a:prstGeom>
          <a:solidFill>
            <a:srgbClr val="12291F"/>
          </a:solidFill>
          <a:ln w="9525">
            <a:solidFill>
              <a:srgbClr val="3D5C4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4ADE80"/>
                </a:solidFill>
                <a:latin typeface="Segoe UI"/>
              </a:rPr>
              <a:t>✓  </a:t>
            </a:r>
            <a:r>
              <a:rPr sz="1150" b="1">
                <a:solidFill>
                  <a:srgbClr val="F2F6FD"/>
                </a:solidFill>
                <a:latin typeface="Segoe UI Semibold"/>
              </a:rPr>
              <a:t>NBR-correct VAT</a:t>
            </a:r>
          </a:p>
          <a:p>
            <a:pPr algn="l">
              <a:lnSpc>
                <a:spcPct val="100000"/>
              </a:lnSpc>
            </a:pPr>
            <a:r>
              <a:rPr sz="1000" b="0">
                <a:solidFill>
                  <a:srgbClr val="9FB0CC"/>
                </a:solidFill>
                <a:latin typeface="Segoe UI"/>
              </a:rPr>
              <a:t> — inclusive, back-calculated, pinned by tests</a:t>
            </a:r>
          </a:p>
        </p:txBody>
      </p:sp>
      <p:sp>
        <p:nvSpPr>
          <p:cNvPr id="18" name="Right Arrow 17"/>
          <p:cNvSpPr/>
          <p:nvPr/>
        </p:nvSpPr>
        <p:spPr>
          <a:xfrm>
            <a:off x="5504688" y="4242816"/>
            <a:ext cx="1143000" cy="36576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2920" y="5047488"/>
            <a:ext cx="4800600" cy="932688"/>
          </a:xfrm>
          <a:prstGeom prst="roundRect">
            <a:avLst>
              <a:gd name="adj" fmla="val 9000"/>
            </a:avLst>
          </a:prstGeom>
          <a:solidFill>
            <a:srgbClr val="241522"/>
          </a:solidFill>
          <a:ln w="9525">
            <a:solidFill>
              <a:srgbClr val="5C3A4E"/>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F87171"/>
                </a:solidFill>
                <a:latin typeface="Segoe UI"/>
              </a:rPr>
              <a:t>✗  </a:t>
            </a:r>
            <a:r>
              <a:rPr sz="1150" b="1">
                <a:solidFill>
                  <a:srgbClr val="F2F6FD"/>
                </a:solidFill>
                <a:latin typeface="Segoe UI Semibold"/>
              </a:rPr>
              <a:t>Amnesia</a:t>
            </a:r>
          </a:p>
          <a:p>
            <a:pPr algn="l">
              <a:lnSpc>
                <a:spcPct val="100000"/>
              </a:lnSpc>
            </a:pPr>
            <a:r>
              <a:rPr sz="1000" b="0">
                <a:solidFill>
                  <a:srgbClr val="9FB0CC"/>
                </a:solidFill>
                <a:latin typeface="Segoe UI"/>
              </a:rPr>
              <a:t> — all stock lost on every restart</a:t>
            </a:r>
          </a:p>
        </p:txBody>
      </p:sp>
      <p:sp>
        <p:nvSpPr>
          <p:cNvPr id="20" name="Rounded Rectangle 19"/>
          <p:cNvSpPr/>
          <p:nvPr/>
        </p:nvSpPr>
        <p:spPr>
          <a:xfrm>
            <a:off x="6858000" y="5047488"/>
            <a:ext cx="4800600" cy="932688"/>
          </a:xfrm>
          <a:prstGeom prst="roundRect">
            <a:avLst>
              <a:gd name="adj" fmla="val 9000"/>
            </a:avLst>
          </a:prstGeom>
          <a:solidFill>
            <a:srgbClr val="12291F"/>
          </a:solidFill>
          <a:ln w="9525">
            <a:solidFill>
              <a:srgbClr val="3D5C4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ctr"/>
          <a:lstStyle/>
          <a:p>
            <a:pPr algn="l">
              <a:lnSpc>
                <a:spcPct val="100000"/>
              </a:lnSpc>
            </a:pPr>
            <a:r>
              <a:rPr sz="1100" b="1">
                <a:solidFill>
                  <a:srgbClr val="4ADE80"/>
                </a:solidFill>
                <a:latin typeface="Segoe UI"/>
              </a:rPr>
              <a:t>✓  </a:t>
            </a:r>
            <a:r>
              <a:rPr sz="1150" b="1">
                <a:solidFill>
                  <a:srgbClr val="F2F6FD"/>
                </a:solidFill>
                <a:latin typeface="Segoe UI Semibold"/>
              </a:rPr>
              <a:t>Durable by default</a:t>
            </a:r>
          </a:p>
          <a:p>
            <a:pPr algn="l">
              <a:lnSpc>
                <a:spcPct val="100000"/>
              </a:lnSpc>
            </a:pPr>
            <a:r>
              <a:rPr sz="1000" b="0">
                <a:solidFill>
                  <a:srgbClr val="9FB0CC"/>
                </a:solidFill>
                <a:latin typeface="Segoe UI"/>
              </a:rPr>
              <a:t> — MongoDB Atlas with zero-config in-memory fallback</a:t>
            </a:r>
          </a:p>
        </p:txBody>
      </p:sp>
      <p:sp>
        <p:nvSpPr>
          <p:cNvPr id="21" name="Right Arrow 20"/>
          <p:cNvSpPr/>
          <p:nvPr/>
        </p:nvSpPr>
        <p:spPr>
          <a:xfrm>
            <a:off x="5504688" y="5321807"/>
            <a:ext cx="1143000" cy="36576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04688" y="1737360"/>
            <a:ext cx="1143000" cy="274320"/>
          </a:xfrm>
          <a:prstGeom prst="rect">
            <a:avLst/>
          </a:prstGeom>
          <a:noFill/>
        </p:spPr>
        <p:txBody>
          <a:bodyPr wrap="square" lIns="0" tIns="0" rIns="0" bIns="0" anchor="t">
            <a:spAutoFit/>
          </a:bodyPr>
          <a:lstStyle/>
          <a:p>
            <a:pPr algn="ctr">
              <a:lnSpc>
                <a:spcPct val="100000"/>
              </a:lnSpc>
            </a:pPr>
            <a:r>
              <a:rPr sz="850" b="1">
                <a:solidFill>
                  <a:srgbClr val="4ADE80"/>
                </a:solidFill>
                <a:latin typeface="Segoe UI Semibold"/>
              </a:rPr>
              <a:t>REBUILT</a:t>
            </a:r>
          </a:p>
        </p:txBody>
      </p:sp>
      <p:sp>
        <p:nvSpPr>
          <p:cNvPr id="23" name="TextBox 22"/>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4" name="TextBox 23"/>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04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56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84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84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1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12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12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par>
                                <p:cTn id="50" presetID="10" presetClass="entr" presetSubtype="0" fill="hold" grpId="0" nodeType="withEffect">
                                  <p:stCondLst>
                                    <p:cond delay="1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60"/>
                                        <p:tgtEl>
                                          <p:spTgt spid="19"/>
                                        </p:tgtEl>
                                      </p:cBhvr>
                                    </p:animEffect>
                                  </p:childTnLst>
                                </p:cTn>
                              </p:par>
                              <p:par>
                                <p:cTn id="53" presetID="10" presetClass="entr" presetSubtype="0" fill="hold" grpId="0" nodeType="withEffect">
                                  <p:stCondLst>
                                    <p:cond delay="14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60"/>
                                        <p:tgtEl>
                                          <p:spTgt spid="20"/>
                                        </p:tgtEl>
                                      </p:cBhvr>
                                    </p:animEffect>
                                  </p:childTnLst>
                                </p:cTn>
                              </p:par>
                              <p:par>
                                <p:cTn id="56" presetID="10" presetClass="entr" presetSubtype="0" fill="hold" grpId="0" nodeType="withEffect">
                                  <p:stCondLst>
                                    <p:cond delay="14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6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05 · THE SOLUTION</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One System, Six Pillars</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Everything the patchwork couldn't do — in a single web app.</a:t>
            </a:r>
          </a:p>
        </p:txBody>
      </p:sp>
      <p:sp>
        <p:nvSpPr>
          <p:cNvPr id="8" name="Rounded Rectangle 7"/>
          <p:cNvSpPr/>
          <p:nvPr/>
        </p:nvSpPr>
        <p:spPr>
          <a:xfrm>
            <a:off x="502920" y="173736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2DD4BF"/>
                </a:solidFill>
                <a:latin typeface="Segoe UI Semibold"/>
              </a:rPr>
              <a:t>POS Billing</a:t>
            </a:r>
          </a:p>
          <a:p>
            <a:pPr algn="l">
              <a:lnSpc>
                <a:spcPct val="100000"/>
              </a:lnSpc>
              <a:spcAft>
                <a:spcPts val="400"/>
              </a:spcAft>
            </a:pPr>
            <a:r>
              <a:rPr sz="1050" b="0">
                <a:solidFill>
                  <a:srgbClr val="9FB0CC"/>
                </a:solidFill>
                <a:latin typeface="Segoe UI"/>
              </a:rPr>
              <a:t>Barcode scan, weighed goods, split tender, 1-tap undo, thermal receipts</a:t>
            </a:r>
          </a:p>
        </p:txBody>
      </p:sp>
      <p:sp>
        <p:nvSpPr>
          <p:cNvPr id="9" name="Rounded Rectangle 8"/>
          <p:cNvSpPr/>
          <p:nvPr/>
        </p:nvSpPr>
        <p:spPr>
          <a:xfrm>
            <a:off x="502920" y="1737360"/>
            <a:ext cx="3593592" cy="73152"/>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0" y="173736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60A5FA"/>
                </a:solidFill>
                <a:latin typeface="Segoe UI Semibold"/>
              </a:rPr>
              <a:t>Inventory</a:t>
            </a:r>
          </a:p>
          <a:p>
            <a:pPr algn="l">
              <a:lnSpc>
                <a:spcPct val="100000"/>
              </a:lnSpc>
              <a:spcAft>
                <a:spcPts val="400"/>
              </a:spcAft>
            </a:pPr>
            <a:r>
              <a:rPr sz="1050" b="0">
                <a:solidFill>
                  <a:srgbClr val="9FB0CC"/>
                </a:solidFill>
                <a:latin typeface="Segoe UI"/>
              </a:rPr>
              <a:t>Batches &amp; expiry dates, reorder levels, shrinkage write-offs</a:t>
            </a:r>
          </a:p>
        </p:txBody>
      </p:sp>
      <p:sp>
        <p:nvSpPr>
          <p:cNvPr id="11" name="Rounded Rectangle 10"/>
          <p:cNvSpPr/>
          <p:nvPr/>
        </p:nvSpPr>
        <p:spPr>
          <a:xfrm>
            <a:off x="4297680" y="1737360"/>
            <a:ext cx="3593592"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092440" y="173736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A78BFA"/>
                </a:solidFill>
                <a:latin typeface="Segoe UI Semibold"/>
              </a:rPr>
              <a:t>Purchasing</a:t>
            </a:r>
          </a:p>
          <a:p>
            <a:pPr algn="l">
              <a:lnSpc>
                <a:spcPct val="100000"/>
              </a:lnSpc>
              <a:spcAft>
                <a:spcPts val="400"/>
              </a:spcAft>
            </a:pPr>
            <a:r>
              <a:rPr sz="1050" b="0">
                <a:solidFill>
                  <a:srgbClr val="9FB0CC"/>
                </a:solidFill>
                <a:latin typeface="Segoe UI"/>
              </a:rPr>
              <a:t>Suppliers &amp; terms, PO lifecycle, GRN intake, payables</a:t>
            </a:r>
          </a:p>
        </p:txBody>
      </p:sp>
      <p:sp>
        <p:nvSpPr>
          <p:cNvPr id="13" name="Rounded Rectangle 12"/>
          <p:cNvSpPr/>
          <p:nvPr/>
        </p:nvSpPr>
        <p:spPr>
          <a:xfrm>
            <a:off x="8092440" y="1737360"/>
            <a:ext cx="3593592" cy="7315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70332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FBBF24"/>
                </a:solidFill>
                <a:latin typeface="Segoe UI Semibold"/>
              </a:rPr>
              <a:t>Loyalty</a:t>
            </a:r>
          </a:p>
          <a:p>
            <a:pPr algn="l">
              <a:lnSpc>
                <a:spcPct val="100000"/>
              </a:lnSpc>
              <a:spcAft>
                <a:spcPts val="400"/>
              </a:spcAft>
            </a:pPr>
            <a:r>
              <a:rPr sz="1050" b="0">
                <a:solidFill>
                  <a:srgbClr val="9FB0CC"/>
                </a:solidFill>
                <a:latin typeface="Segoe UI"/>
              </a:rPr>
              <a:t>Members by phone, 5% member price, points earned &amp; redeemed as tender</a:t>
            </a:r>
          </a:p>
        </p:txBody>
      </p:sp>
      <p:sp>
        <p:nvSpPr>
          <p:cNvPr id="15" name="Rounded Rectangle 14"/>
          <p:cNvSpPr/>
          <p:nvPr/>
        </p:nvSpPr>
        <p:spPr>
          <a:xfrm>
            <a:off x="502920" y="3703320"/>
            <a:ext cx="3593592"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4297680" y="370332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4ADE80"/>
                </a:solidFill>
                <a:latin typeface="Segoe UI Semibold"/>
              </a:rPr>
              <a:t>Returns</a:t>
            </a:r>
          </a:p>
          <a:p>
            <a:pPr algn="l">
              <a:lnSpc>
                <a:spcPct val="100000"/>
              </a:lnSpc>
              <a:spcAft>
                <a:spcPts val="400"/>
              </a:spcAft>
            </a:pPr>
            <a:r>
              <a:rPr sz="1050" b="0">
                <a:solidFill>
                  <a:srgbClr val="9FB0CC"/>
                </a:solidFill>
                <a:latin typeface="Segoe UI"/>
              </a:rPr>
              <a:t>Receipt lookup, partial per-line returns, pro-rata refunds to original channel</a:t>
            </a:r>
          </a:p>
        </p:txBody>
      </p:sp>
      <p:sp>
        <p:nvSpPr>
          <p:cNvPr id="17" name="Rounded Rectangle 16"/>
          <p:cNvSpPr/>
          <p:nvPr/>
        </p:nvSpPr>
        <p:spPr>
          <a:xfrm>
            <a:off x="4297680" y="3703320"/>
            <a:ext cx="3593592" cy="73152"/>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8092440" y="370332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50" b="1">
                <a:solidFill>
                  <a:srgbClr val="F87171"/>
                </a:solidFill>
                <a:latin typeface="Segoe UI Semibold"/>
              </a:rPr>
              <a:t>Reports</a:t>
            </a:r>
          </a:p>
          <a:p>
            <a:pPr algn="l">
              <a:lnSpc>
                <a:spcPct val="100000"/>
              </a:lnSpc>
              <a:spcAft>
                <a:spcPts val="400"/>
              </a:spcAft>
            </a:pPr>
            <a:r>
              <a:rPr sz="1050" b="0">
                <a:solidFill>
                  <a:srgbClr val="9FB0CC"/>
                </a:solidFill>
                <a:latin typeface="Segoe UI"/>
              </a:rPr>
              <a:t>8 types incl. NBR VAT summary &amp; profit — all CSV-exportable</a:t>
            </a:r>
          </a:p>
        </p:txBody>
      </p:sp>
      <p:sp>
        <p:nvSpPr>
          <p:cNvPr id="19" name="Rounded Rectangle 18"/>
          <p:cNvSpPr/>
          <p:nvPr/>
        </p:nvSpPr>
        <p:spPr>
          <a:xfrm>
            <a:off x="8092440" y="3703320"/>
            <a:ext cx="3593592" cy="73152"/>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502920" y="5687568"/>
            <a:ext cx="11183112" cy="566928"/>
          </a:xfrm>
          <a:prstGeom prst="roundRect">
            <a:avLst>
              <a:gd name="adj" fmla="val 50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Boots ready to believe:  </a:t>
            </a:r>
            <a:r>
              <a:rPr sz="1050" b="0">
                <a:solidFill>
                  <a:srgbClr val="9FB0CC"/>
                </a:solidFill>
                <a:latin typeface="Segoe UI"/>
              </a:rPr>
              <a:t>first start seeds a realistic BD shelf — Teer, Pran, Radhuni, Miner — 3 distributors, active promotions, 5 loyalty members, and 1 purchase order already on its way.</a:t>
            </a:r>
          </a:p>
        </p:txBody>
      </p:sp>
      <p:sp>
        <p:nvSpPr>
          <p:cNvPr id="21" name="TextBox 20"/>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2" name="TextBox 21"/>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05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1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4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par>
                                <p:cTn id="50" presetID="10" presetClass="entr" presetSubtype="0" fill="hold" grpId="0" nodeType="withEffect">
                                  <p:stCondLst>
                                    <p:cond delay="168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60"/>
                                        <p:tgtEl>
                                          <p:spTgt spid="19"/>
                                        </p:tgtEl>
                                      </p:cBhvr>
                                    </p:animEffect>
                                  </p:childTnLst>
                                </p:cTn>
                              </p:par>
                              <p:par>
                                <p:cTn id="53" presetID="10" presetClass="entr" presetSubtype="0" fill="hold" grpId="0" nodeType="withEffect">
                                  <p:stCondLst>
                                    <p:cond delay="19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6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06 · PRODUCT TOUR 1/3</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Cashier's World — POS Billing</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828800"/>
            <a:ext cx="4160520" cy="4206240"/>
          </a:xfrm>
          <a:prstGeom prst="rect">
            <a:avLst/>
          </a:prstGeom>
          <a:noFill/>
        </p:spPr>
        <p:txBody>
          <a:bodyPr wrap="square" lIns="0" tIns="0" rIns="0" bIns="0" anchor="t">
            <a:spAutoFit/>
          </a:bodyPr>
          <a:lstStyle/>
          <a:p>
            <a:pPr algn="l">
              <a:lnSpc>
                <a:spcPct val="106000"/>
              </a:lnSpc>
              <a:spcAft>
                <a:spcPts val="800"/>
              </a:spcAft>
            </a:pPr>
            <a:r>
              <a:rPr sz="1150" b="1">
                <a:solidFill>
                  <a:srgbClr val="2DD4BF"/>
                </a:solidFill>
                <a:latin typeface="Segoe UI"/>
              </a:rPr>
              <a:t>•  </a:t>
            </a:r>
            <a:r>
              <a:rPr sz="1150" b="1">
                <a:solidFill>
                  <a:srgbClr val="F2F6FD"/>
                </a:solidFill>
                <a:latin typeface="Segoe UI Semibold"/>
              </a:rPr>
              <a:t>Scan → sold. </a:t>
            </a:r>
            <a:r>
              <a:rPr sz="1150" b="0">
                <a:solidFill>
                  <a:srgbClr val="9FB0CC"/>
                </a:solidFill>
                <a:latin typeface="Segoe UI"/>
              </a:rPr>
              <a:t>Barcode 8941234500011 pulls up Teer Oil 5L instantly; 8 name suggestions; 24-item quick-pick grid</a:t>
            </a:r>
          </a:p>
          <a:p>
            <a:pPr algn="l">
              <a:lnSpc>
                <a:spcPct val="106000"/>
              </a:lnSpc>
              <a:spcAft>
                <a:spcPts val="800"/>
              </a:spcAft>
            </a:pPr>
            <a:r>
              <a:rPr sz="1150" b="1">
                <a:solidFill>
                  <a:srgbClr val="2DD4BF"/>
                </a:solidFill>
                <a:latin typeface="Segoe UI"/>
              </a:rPr>
              <a:t>•  </a:t>
            </a:r>
            <a:r>
              <a:rPr sz="1150" b="1">
                <a:solidFill>
                  <a:srgbClr val="F2F6FD"/>
                </a:solidFill>
                <a:latin typeface="Segoe UI Semibold"/>
              </a:rPr>
              <a:t>Weighed goods. </a:t>
            </a:r>
            <a:r>
              <a:rPr sz="1150" b="0">
                <a:solidFill>
                  <a:srgbClr val="9FB0CC"/>
                </a:solidFill>
                <a:latin typeface="Segoe UI"/>
              </a:rPr>
              <a:t>Potato, fish, onion — weight prompt, 0.25 kg steps</a:t>
            </a:r>
          </a:p>
          <a:p>
            <a:pPr algn="l">
              <a:lnSpc>
                <a:spcPct val="106000"/>
              </a:lnSpc>
              <a:spcAft>
                <a:spcPts val="800"/>
              </a:spcAft>
            </a:pPr>
            <a:r>
              <a:rPr sz="1150" b="1">
                <a:solidFill>
                  <a:srgbClr val="2DD4BF"/>
                </a:solidFill>
                <a:latin typeface="Segoe UI"/>
              </a:rPr>
              <a:t>•  </a:t>
            </a:r>
            <a:r>
              <a:rPr sz="1150" b="1">
                <a:solidFill>
                  <a:srgbClr val="F2F6FD"/>
                </a:solidFill>
                <a:latin typeface="Segoe UI Semibold"/>
              </a:rPr>
              <a:t>Split tender. </a:t>
            </a:r>
            <a:r>
              <a:rPr sz="1150" b="0">
                <a:solidFill>
                  <a:srgbClr val="9FB0CC"/>
                </a:solidFill>
                <a:latin typeface="Segoe UI"/>
              </a:rPr>
              <a:t>Cash + card + bKash + Nagad + loyalty points in any mix, with live tendered / change</a:t>
            </a:r>
          </a:p>
          <a:p>
            <a:pPr algn="l">
              <a:lnSpc>
                <a:spcPct val="106000"/>
              </a:lnSpc>
              <a:spcAft>
                <a:spcPts val="800"/>
              </a:spcAft>
            </a:pPr>
            <a:r>
              <a:rPr sz="1150" b="1">
                <a:solidFill>
                  <a:srgbClr val="2DD4BF"/>
                </a:solidFill>
                <a:latin typeface="Segoe UI"/>
              </a:rPr>
              <a:t>•  </a:t>
            </a:r>
            <a:r>
              <a:rPr sz="1150" b="1">
                <a:solidFill>
                  <a:srgbClr val="F2F6FD"/>
                </a:solidFill>
                <a:latin typeface="Segoe UI Semibold"/>
              </a:rPr>
              <a:t>Forgiving. </a:t>
            </a:r>
            <a:r>
              <a:rPr sz="1150" b="0">
                <a:solidFill>
                  <a:srgbClr val="9FB0CC"/>
                </a:solidFill>
                <a:latin typeface="Segoe UI"/>
              </a:rPr>
              <a:t>One-tap Undo (10 levels), pencil-edit weight, clear bill</a:t>
            </a:r>
          </a:p>
          <a:p>
            <a:pPr algn="l">
              <a:lnSpc>
                <a:spcPct val="106000"/>
              </a:lnSpc>
              <a:spcAft>
                <a:spcPts val="800"/>
              </a:spcAft>
            </a:pPr>
            <a:r>
              <a:rPr sz="1150" b="1">
                <a:solidFill>
                  <a:srgbClr val="2DD4BF"/>
                </a:solidFill>
                <a:latin typeface="Segoe UI"/>
              </a:rPr>
              <a:t>•  </a:t>
            </a:r>
            <a:r>
              <a:rPr sz="1150" b="1">
                <a:solidFill>
                  <a:srgbClr val="F2F6FD"/>
                </a:solidFill>
                <a:latin typeface="Segoe UI Semibold"/>
              </a:rPr>
              <a:t>Fast. </a:t>
            </a:r>
            <a:r>
              <a:rPr sz="1150" b="0">
                <a:solidFill>
                  <a:srgbClr val="9FB0CC"/>
                </a:solidFill>
                <a:latin typeface="Segoe UI"/>
              </a:rPr>
              <a:t>Enter → print 320-px thermal receipt → next customer</a:t>
            </a:r>
          </a:p>
        </p:txBody>
      </p:sp>
      <p:sp>
        <p:nvSpPr>
          <p:cNvPr id="8" name="Rounded Rectangle 7"/>
          <p:cNvSpPr/>
          <p:nvPr/>
        </p:nvSpPr>
        <p:spPr>
          <a:xfrm>
            <a:off x="4892040" y="1737360"/>
            <a:ext cx="6784848" cy="4526280"/>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4965192" y="1801368"/>
            <a:ext cx="6638544"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5074920" y="186994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230368" y="186994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385816" y="186994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05272" y="1828800"/>
            <a:ext cx="5870448"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localhost:8080/#/pos — cashier</a:t>
            </a:r>
          </a:p>
        </p:txBody>
      </p:sp>
      <p:pic>
        <p:nvPicPr>
          <p:cNvPr id="14" name="Picture 13" descr="pos-billing.png"/>
          <p:cNvPicPr>
            <a:picLocks noChangeAspect="1"/>
          </p:cNvPicPr>
          <p:nvPr/>
        </p:nvPicPr>
        <p:blipFill>
          <a:blip r:embed="rId3"/>
          <a:stretch>
            <a:fillRect/>
          </a:stretch>
        </p:blipFill>
        <p:spPr>
          <a:xfrm>
            <a:off x="4965192" y="2288857"/>
            <a:ext cx="6638544" cy="3734181"/>
          </a:xfrm>
          <a:prstGeom prst="rect">
            <a:avLst/>
          </a:prstGeom>
          <a:effectLst/>
        </p:spPr>
      </p:pic>
      <p:sp>
        <p:nvSpPr>
          <p:cNvPr id="15" name="TextBox 14"/>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6" name="TextBox 15"/>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06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5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6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A78B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A78B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A78BFA"/>
                </a:solidFill>
                <a:latin typeface="Segoe UI Semibold"/>
              </a:rPr>
              <a:t>SLIDE 07 · PRODUCT TOUR 2/3</a:t>
            </a:r>
          </a:p>
        </p:txBody>
      </p:sp>
      <p:sp>
        <p:nvSpPr>
          <p:cNvPr id="5" name="TextBox 4"/>
          <p:cNvSpPr txBox="1"/>
          <p:nvPr/>
        </p:nvSpPr>
        <p:spPr>
          <a:xfrm>
            <a:off x="523666" y="689635"/>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Manager's Cockpit — Dashboard</a:t>
            </a:r>
          </a:p>
        </p:txBody>
      </p:sp>
      <p:sp>
        <p:nvSpPr>
          <p:cNvPr id="6" name="Rounded Rectangle 5"/>
          <p:cNvSpPr/>
          <p:nvPr/>
        </p:nvSpPr>
        <p:spPr>
          <a:xfrm>
            <a:off x="521207" y="1316736"/>
            <a:ext cx="658368" cy="4572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737360"/>
            <a:ext cx="6784848" cy="4526280"/>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576072" y="1801368"/>
            <a:ext cx="6638544"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685800" y="186994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186994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96696" y="186994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6152" y="1828800"/>
            <a:ext cx="5870448"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localhost:8080/#/dashboard — manager</a:t>
            </a:r>
          </a:p>
        </p:txBody>
      </p:sp>
      <p:pic>
        <p:nvPicPr>
          <p:cNvPr id="13" name="Picture 12" descr="dashboard.png"/>
          <p:cNvPicPr>
            <a:picLocks noChangeAspect="1"/>
          </p:cNvPicPr>
          <p:nvPr/>
        </p:nvPicPr>
        <p:blipFill>
          <a:blip r:embed="rId3"/>
          <a:stretch>
            <a:fillRect/>
          </a:stretch>
        </p:blipFill>
        <p:spPr>
          <a:xfrm>
            <a:off x="576072" y="2288857"/>
            <a:ext cx="6638544" cy="3734181"/>
          </a:xfrm>
          <a:prstGeom prst="rect">
            <a:avLst/>
          </a:prstGeom>
          <a:effectLst/>
        </p:spPr>
      </p:pic>
      <p:sp>
        <p:nvSpPr>
          <p:cNvPr id="14" name="TextBox 13"/>
          <p:cNvSpPr txBox="1"/>
          <p:nvPr/>
        </p:nvSpPr>
        <p:spPr>
          <a:xfrm>
            <a:off x="7532001" y="1595628"/>
            <a:ext cx="4114800" cy="274320"/>
          </a:xfrm>
          <a:prstGeom prst="rect">
            <a:avLst/>
          </a:prstGeom>
          <a:noFill/>
        </p:spPr>
        <p:txBody>
          <a:bodyPr wrap="square" lIns="0" tIns="0" rIns="0" bIns="0" anchor="t">
            <a:spAutoFit/>
          </a:bodyPr>
          <a:lstStyle/>
          <a:p>
            <a:pPr algn="l">
              <a:lnSpc>
                <a:spcPct val="100000"/>
              </a:lnSpc>
            </a:pPr>
            <a:r>
              <a:rPr sz="1000" b="1" dirty="0">
                <a:solidFill>
                  <a:srgbClr val="A78BFA"/>
                </a:solidFill>
                <a:latin typeface="Segoe UI Semibold"/>
              </a:rPr>
              <a:t>SIX KPI TILES — THE PULSE</a:t>
            </a:r>
          </a:p>
        </p:txBody>
      </p:sp>
      <p:sp>
        <p:nvSpPr>
          <p:cNvPr id="15" name="Rounded Rectangle 14"/>
          <p:cNvSpPr/>
          <p:nvPr/>
        </p:nvSpPr>
        <p:spPr>
          <a:xfrm>
            <a:off x="7537114" y="1801368"/>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Net Sales</a:t>
            </a:r>
            <a:r>
              <a:rPr sz="950" b="0">
                <a:solidFill>
                  <a:srgbClr val="6B7C9C"/>
                </a:solidFill>
                <a:latin typeface="Segoe UI"/>
              </a:rPr>
              <a:t>   today, live</a:t>
            </a:r>
          </a:p>
        </p:txBody>
      </p:sp>
      <p:sp>
        <p:nvSpPr>
          <p:cNvPr id="16" name="Rounded Rectangle 15"/>
          <p:cNvSpPr/>
          <p:nvPr/>
        </p:nvSpPr>
        <p:spPr>
          <a:xfrm>
            <a:off x="7543800" y="2404872"/>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Average Basket</a:t>
            </a:r>
            <a:r>
              <a:rPr sz="950" b="0">
                <a:solidFill>
                  <a:srgbClr val="6B7C9C"/>
                </a:solidFill>
                <a:latin typeface="Segoe UI"/>
              </a:rPr>
              <a:t>   today</a:t>
            </a:r>
          </a:p>
        </p:txBody>
      </p:sp>
      <p:sp>
        <p:nvSpPr>
          <p:cNvPr id="17" name="Rounded Rectangle 16"/>
          <p:cNvSpPr/>
          <p:nvPr/>
        </p:nvSpPr>
        <p:spPr>
          <a:xfrm>
            <a:off x="7543800" y="3026664"/>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Output VAT</a:t>
            </a:r>
            <a:r>
              <a:rPr sz="950" b="0">
                <a:solidFill>
                  <a:srgbClr val="6B7C9C"/>
                </a:solidFill>
                <a:latin typeface="Segoe UI"/>
              </a:rPr>
              <a:t>   today, NBR-ready</a:t>
            </a:r>
          </a:p>
        </p:txBody>
      </p:sp>
      <p:sp>
        <p:nvSpPr>
          <p:cNvPr id="18" name="Rounded Rectangle 17"/>
          <p:cNvSpPr/>
          <p:nvPr/>
        </p:nvSpPr>
        <p:spPr>
          <a:xfrm>
            <a:off x="7543800" y="3648456"/>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Cash in Drawer</a:t>
            </a:r>
            <a:r>
              <a:rPr sz="950" b="0">
                <a:solidFill>
                  <a:srgbClr val="6B7C9C"/>
                </a:solidFill>
                <a:latin typeface="Segoe UI"/>
              </a:rPr>
              <a:t>   running</a:t>
            </a:r>
          </a:p>
        </p:txBody>
      </p:sp>
      <p:sp>
        <p:nvSpPr>
          <p:cNvPr id="19" name="Rounded Rectangle 18"/>
          <p:cNvSpPr/>
          <p:nvPr/>
        </p:nvSpPr>
        <p:spPr>
          <a:xfrm>
            <a:off x="7543800" y="4270248"/>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Low Stock</a:t>
            </a:r>
            <a:r>
              <a:rPr sz="950" b="0">
                <a:solidFill>
                  <a:srgbClr val="6B7C9C"/>
                </a:solidFill>
                <a:latin typeface="Segoe UI"/>
              </a:rPr>
              <a:t>   item count</a:t>
            </a:r>
          </a:p>
        </p:txBody>
      </p:sp>
      <p:sp>
        <p:nvSpPr>
          <p:cNvPr id="20" name="Rounded Rectangle 19"/>
          <p:cNvSpPr/>
          <p:nvPr/>
        </p:nvSpPr>
        <p:spPr>
          <a:xfrm>
            <a:off x="7543800" y="4892040"/>
            <a:ext cx="4142232" cy="51206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100" b="1">
                <a:solidFill>
                  <a:srgbClr val="F2F6FD"/>
                </a:solidFill>
                <a:latin typeface="Segoe UI Semibold"/>
              </a:rPr>
              <a:t>Expiring ≤ 14 days</a:t>
            </a:r>
            <a:r>
              <a:rPr sz="950" b="0">
                <a:solidFill>
                  <a:srgbClr val="6B7C9C"/>
                </a:solidFill>
                <a:latin typeface="Segoe UI"/>
              </a:rPr>
              <a:t>   watch list</a:t>
            </a:r>
          </a:p>
        </p:txBody>
      </p:sp>
      <p:sp>
        <p:nvSpPr>
          <p:cNvPr id="21" name="Rounded Rectangle 20"/>
          <p:cNvSpPr/>
          <p:nvPr/>
        </p:nvSpPr>
        <p:spPr>
          <a:xfrm>
            <a:off x="7543800" y="5568695"/>
            <a:ext cx="4142232" cy="713232"/>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950" b="1">
                <a:solidFill>
                  <a:srgbClr val="F2F6FD"/>
                </a:solidFill>
                <a:latin typeface="Segoe UI Semibold"/>
              </a:rPr>
              <a:t>Alerts feed refreshes every 8 s. </a:t>
            </a:r>
            <a:r>
              <a:rPr sz="950" b="0">
                <a:solidFill>
                  <a:srgbClr val="9FB0CC"/>
                </a:solidFill>
                <a:latin typeface="Segoe UI"/>
              </a:rPr>
              <a:t>The owner finds out today — not weeks late.</a:t>
            </a:r>
          </a:p>
        </p:txBody>
      </p:sp>
      <p:sp>
        <p:nvSpPr>
          <p:cNvPr id="22" name="TextBox 21"/>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3" name="TextBox 22"/>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07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60"/>
                                        <p:tgtEl>
                                          <p:spTgt spid="13"/>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60"/>
                                        <p:tgtEl>
                                          <p:spTgt spid="15"/>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60"/>
                                        <p:tgtEl>
                                          <p:spTgt spid="16"/>
                                        </p:tgtEl>
                                      </p:cBhvr>
                                    </p:animEffect>
                                  </p:childTnLst>
                                </p:cTn>
                              </p:par>
                              <p:par>
                                <p:cTn id="29" presetID="10" presetClass="entr" presetSubtype="0" fill="hold" grpId="0" nodeType="withEffect">
                                  <p:stCondLst>
                                    <p:cond delay="112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60"/>
                                        <p:tgtEl>
                                          <p:spTgt spid="17"/>
                                        </p:tgtEl>
                                      </p:cBhvr>
                                    </p:animEffect>
                                  </p:childTnLst>
                                </p:cTn>
                              </p:par>
                              <p:par>
                                <p:cTn id="32" presetID="10" presetClass="entr" presetSubtype="0" fill="hold" grpId="0" nodeType="withEffect">
                                  <p:stCondLst>
                                    <p:cond delay="14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60"/>
                                        <p:tgtEl>
                                          <p:spTgt spid="18"/>
                                        </p:tgtEl>
                                      </p:cBhvr>
                                    </p:animEffect>
                                  </p:childTnLst>
                                </p:cTn>
                              </p:par>
                              <p:par>
                                <p:cTn id="35" presetID="10" presetClass="entr" presetSubtype="0" fill="hold" grpId="0" nodeType="withEffect">
                                  <p:stCondLst>
                                    <p:cond delay="168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60"/>
                                        <p:tgtEl>
                                          <p:spTgt spid="19"/>
                                        </p:tgtEl>
                                      </p:cBhvr>
                                    </p:animEffect>
                                  </p:childTnLst>
                                </p:cTn>
                              </p:par>
                              <p:par>
                                <p:cTn id="38" presetID="10" presetClass="entr" presetSubtype="0" fill="hold" grpId="0" nodeType="withEffect">
                                  <p:stCondLst>
                                    <p:cond delay="196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60"/>
                                        <p:tgtEl>
                                          <p:spTgt spid="20"/>
                                        </p:tgtEl>
                                      </p:cBhvr>
                                    </p:animEffect>
                                  </p:childTnLst>
                                </p:cTn>
                              </p:par>
                              <p:par>
                                <p:cTn id="41" presetID="10" presetClass="entr" presetSubtype="0" fill="hold" grpId="0" nodeType="withEffect">
                                  <p:stCondLst>
                                    <p:cond delay="224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6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13" grpId="0"/>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60A5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60A5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60A5FA"/>
                </a:solidFill>
                <a:latin typeface="Segoe UI Semibold"/>
              </a:rPr>
              <a:t>SLIDE 08 · ACCESS CONTROL</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Four Roles, Three Locks</a:t>
            </a:r>
          </a:p>
        </p:txBody>
      </p:sp>
      <p:sp>
        <p:nvSpPr>
          <p:cNvPr id="6" name="Rounded Rectangle 5"/>
          <p:cNvSpPr/>
          <p:nvPr/>
        </p:nvSpPr>
        <p:spPr>
          <a:xfrm>
            <a:off x="521207" y="1316736"/>
            <a:ext cx="658368" cy="4572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Fraud prevention by design, not by trust — enforced server-side, twice.</a:t>
            </a:r>
          </a:p>
        </p:txBody>
      </p:sp>
      <p:sp>
        <p:nvSpPr>
          <p:cNvPr id="8" name="Rounded Rectangle 7"/>
          <p:cNvSpPr/>
          <p:nvPr/>
        </p:nvSpPr>
        <p:spPr>
          <a:xfrm>
            <a:off x="502920" y="1810512"/>
            <a:ext cx="2697480" cy="1572768"/>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lstStyle/>
          <a:p>
            <a:pPr algn="l">
              <a:lnSpc>
                <a:spcPct val="100000"/>
              </a:lnSpc>
              <a:spcAft>
                <a:spcPts val="300"/>
              </a:spcAft>
            </a:pPr>
            <a:r>
              <a:rPr sz="1250" b="1">
                <a:solidFill>
                  <a:srgbClr val="2DD4BF"/>
                </a:solidFill>
                <a:latin typeface="Segoe UI Semibold"/>
              </a:rPr>
              <a:t>CASHIER</a:t>
            </a:r>
          </a:p>
          <a:p>
            <a:pPr algn="l">
              <a:lnSpc>
                <a:spcPct val="100000"/>
              </a:lnSpc>
              <a:spcAft>
                <a:spcPts val="300"/>
              </a:spcAft>
            </a:pPr>
            <a:r>
              <a:rPr sz="950" b="0">
                <a:solidFill>
                  <a:srgbClr val="9FB0CC"/>
                </a:solidFill>
                <a:latin typeface="Segoe UI"/>
              </a:rPr>
              <a:t>Billing, returns, operational views</a:t>
            </a:r>
          </a:p>
        </p:txBody>
      </p:sp>
      <p:sp>
        <p:nvSpPr>
          <p:cNvPr id="9" name="Rounded Rectangle 8"/>
          <p:cNvSpPr/>
          <p:nvPr/>
        </p:nvSpPr>
        <p:spPr>
          <a:xfrm>
            <a:off x="502920" y="1810512"/>
            <a:ext cx="2697480" cy="73152"/>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3337560" y="1810512"/>
            <a:ext cx="2697480" cy="1572768"/>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lstStyle/>
          <a:p>
            <a:pPr algn="l">
              <a:lnSpc>
                <a:spcPct val="100000"/>
              </a:lnSpc>
              <a:spcAft>
                <a:spcPts val="300"/>
              </a:spcAft>
            </a:pPr>
            <a:r>
              <a:rPr sz="1250" b="1">
                <a:solidFill>
                  <a:srgbClr val="A78BFA"/>
                </a:solidFill>
                <a:latin typeface="Segoe UI Semibold"/>
              </a:rPr>
              <a:t>MANAGER</a:t>
            </a:r>
          </a:p>
          <a:p>
            <a:pPr algn="l">
              <a:lnSpc>
                <a:spcPct val="100000"/>
              </a:lnSpc>
              <a:spcAft>
                <a:spcPts val="300"/>
              </a:spcAft>
            </a:pPr>
            <a:r>
              <a:rPr sz="950" b="0">
                <a:solidFill>
                  <a:srgbClr val="9FB0CC"/>
                </a:solidFill>
                <a:latin typeface="Segoe UI"/>
              </a:rPr>
              <a:t>+ catalog, purchasing, promotions, reports, void, day close</a:t>
            </a:r>
          </a:p>
        </p:txBody>
      </p:sp>
      <p:sp>
        <p:nvSpPr>
          <p:cNvPr id="11" name="Rounded Rectangle 10"/>
          <p:cNvSpPr/>
          <p:nvPr/>
        </p:nvSpPr>
        <p:spPr>
          <a:xfrm>
            <a:off x="3337560" y="1810512"/>
            <a:ext cx="2697480" cy="7315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6172200" y="1810512"/>
            <a:ext cx="2697480" cy="1572768"/>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lstStyle/>
          <a:p>
            <a:pPr algn="l">
              <a:lnSpc>
                <a:spcPct val="100000"/>
              </a:lnSpc>
              <a:spcAft>
                <a:spcPts val="300"/>
              </a:spcAft>
            </a:pPr>
            <a:r>
              <a:rPr sz="1250" b="1">
                <a:solidFill>
                  <a:srgbClr val="FBBF24"/>
                </a:solidFill>
                <a:latin typeface="Segoe UI Semibold"/>
              </a:rPr>
              <a:t>ADMIN</a:t>
            </a:r>
          </a:p>
          <a:p>
            <a:pPr algn="l">
              <a:lnSpc>
                <a:spcPct val="100000"/>
              </a:lnSpc>
              <a:spcAft>
                <a:spcPts val="300"/>
              </a:spcAft>
            </a:pPr>
            <a:r>
              <a:rPr sz="950" b="0">
                <a:solidFill>
                  <a:srgbClr val="9FB0CC"/>
                </a:solidFill>
                <a:latin typeface="Segoe UI"/>
              </a:rPr>
              <a:t>+ staff accounts, password resets, item deletion</a:t>
            </a:r>
          </a:p>
        </p:txBody>
      </p:sp>
      <p:sp>
        <p:nvSpPr>
          <p:cNvPr id="13" name="Rounded Rectangle 12"/>
          <p:cNvSpPr/>
          <p:nvPr/>
        </p:nvSpPr>
        <p:spPr>
          <a:xfrm>
            <a:off x="6172200" y="1810512"/>
            <a:ext cx="2697480"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9006840" y="1810512"/>
            <a:ext cx="2697480" cy="1572768"/>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lstStyle/>
          <a:p>
            <a:pPr algn="l">
              <a:lnSpc>
                <a:spcPct val="100000"/>
              </a:lnSpc>
              <a:spcAft>
                <a:spcPts val="300"/>
              </a:spcAft>
            </a:pPr>
            <a:r>
              <a:rPr sz="1250" b="1">
                <a:solidFill>
                  <a:srgbClr val="60A5FA"/>
                </a:solidFill>
                <a:latin typeface="Segoe UI Semibold"/>
              </a:rPr>
              <a:t>DEVELOPER</a:t>
            </a:r>
          </a:p>
          <a:p>
            <a:pPr algn="l">
              <a:lnSpc>
                <a:spcPct val="100000"/>
              </a:lnSpc>
              <a:spcAft>
                <a:spcPts val="300"/>
              </a:spcAft>
            </a:pPr>
            <a:r>
              <a:rPr sz="950" b="0">
                <a:solidFill>
                  <a:srgbClr val="9FB0CC"/>
                </a:solidFill>
                <a:latin typeface="Segoe UI"/>
              </a:rPr>
              <a:t>Till screens + Developer Mode — zero business power</a:t>
            </a:r>
          </a:p>
        </p:txBody>
      </p:sp>
      <p:sp>
        <p:nvSpPr>
          <p:cNvPr id="15" name="Rounded Rectangle 14"/>
          <p:cNvSpPr/>
          <p:nvPr/>
        </p:nvSpPr>
        <p:spPr>
          <a:xfrm>
            <a:off x="9006840" y="1810512"/>
            <a:ext cx="2697480"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02920" y="3657600"/>
            <a:ext cx="5486400" cy="274320"/>
          </a:xfrm>
          <a:prstGeom prst="rect">
            <a:avLst/>
          </a:prstGeom>
          <a:noFill/>
        </p:spPr>
        <p:txBody>
          <a:bodyPr wrap="square" lIns="0" tIns="0" rIns="0" bIns="0" anchor="t">
            <a:spAutoFit/>
          </a:bodyPr>
          <a:lstStyle/>
          <a:p>
            <a:pPr algn="l">
              <a:lnSpc>
                <a:spcPct val="100000"/>
              </a:lnSpc>
            </a:pPr>
            <a:r>
              <a:rPr sz="1000" b="1">
                <a:solidFill>
                  <a:srgbClr val="60A5FA"/>
                </a:solidFill>
                <a:latin typeface="Segoe UI Semibold"/>
              </a:rPr>
              <a:t>EVERY WRITE PASSES THREE LOCKS</a:t>
            </a:r>
          </a:p>
        </p:txBody>
      </p:sp>
      <p:sp>
        <p:nvSpPr>
          <p:cNvPr id="17" name="Pentagon 16"/>
          <p:cNvSpPr/>
          <p:nvPr/>
        </p:nvSpPr>
        <p:spPr>
          <a:xfrm>
            <a:off x="502920" y="3977639"/>
            <a:ext cx="3837431" cy="658368"/>
          </a:xfrm>
          <a:prstGeom prst="homePlate">
            <a:avLst/>
          </a:prstGeom>
          <a:solidFill>
            <a:srgbClr val="60A5FA">
              <a:alpha val="30000"/>
            </a:srgbClr>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1100" b="1">
                <a:solidFill>
                  <a:srgbClr val="F2F6FD"/>
                </a:solidFill>
                <a:latin typeface="Segoe UI Semibold"/>
              </a:rPr>
              <a:t>1 · UI hides it</a:t>
            </a:r>
          </a:p>
        </p:txBody>
      </p:sp>
      <p:sp>
        <p:nvSpPr>
          <p:cNvPr id="18" name="Chevron 17"/>
          <p:cNvSpPr/>
          <p:nvPr/>
        </p:nvSpPr>
        <p:spPr>
          <a:xfrm>
            <a:off x="4175760" y="3977639"/>
            <a:ext cx="3837431" cy="658368"/>
          </a:xfrm>
          <a:prstGeom prst="chevron">
            <a:avLst/>
          </a:prstGeom>
          <a:solidFill>
            <a:srgbClr val="60A5FA">
              <a:alpha val="38000"/>
            </a:srgbClr>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1100" b="1">
                <a:solidFill>
                  <a:srgbClr val="F2F6FD"/>
                </a:solidFill>
                <a:latin typeface="Segoe UI Semibold"/>
              </a:rPr>
              <a:t>2 · RoleGate rejects it (server)</a:t>
            </a:r>
          </a:p>
        </p:txBody>
      </p:sp>
      <p:sp>
        <p:nvSpPr>
          <p:cNvPr id="19" name="Chevron 18"/>
          <p:cNvSpPr/>
          <p:nvPr/>
        </p:nvSpPr>
        <p:spPr>
          <a:xfrm>
            <a:off x="7848600" y="3977639"/>
            <a:ext cx="3837431" cy="658368"/>
          </a:xfrm>
          <a:prstGeom prst="chevron">
            <a:avLst/>
          </a:prstGeom>
          <a:solidFill>
            <a:srgbClr val="60A5FA">
              <a:alpha val="46000"/>
            </a:srgbClr>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1100" b="1">
                <a:solidFill>
                  <a:srgbClr val="F2F6FD"/>
                </a:solidFill>
                <a:latin typeface="Segoe UI Semibold"/>
              </a:rPr>
              <a:t>3 · RoleGuardProxy blocks it at the data layer</a:t>
            </a:r>
          </a:p>
        </p:txBody>
      </p:sp>
      <p:sp>
        <p:nvSpPr>
          <p:cNvPr id="20" name="Rounded Rectangle 19"/>
          <p:cNvSpPr/>
          <p:nvPr/>
        </p:nvSpPr>
        <p:spPr>
          <a:xfrm>
            <a:off x="502920" y="5029200"/>
            <a:ext cx="11183112" cy="105156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l">
              <a:lnSpc>
                <a:spcPct val="100000"/>
              </a:lnSpc>
              <a:spcAft>
                <a:spcPts val="400"/>
              </a:spcAft>
            </a:pPr>
            <a:r>
              <a:rPr sz="900" b="1">
                <a:solidFill>
                  <a:srgbClr val="60A5FA"/>
                </a:solidFill>
                <a:latin typeface="Segoe UI Semibold"/>
              </a:rPr>
              <a:t>UNDER THE HOOD</a:t>
            </a:r>
          </a:p>
          <a:p>
            <a:pPr algn="l">
              <a:lnSpc>
                <a:spcPct val="100000"/>
              </a:lnSpc>
              <a:spcAft>
                <a:spcPts val="400"/>
              </a:spcAft>
            </a:pPr>
            <a:r>
              <a:rPr sz="1050" b="0">
                <a:solidFill>
                  <a:srgbClr val="9FB0CC"/>
                </a:solidFill>
                <a:latin typeface="Segoe UI"/>
              </a:rPr>
              <a:t>PBKDF2 password hashing   ·   32-byte (256-bit) random bearer tokens, 12 h sliding   ·   ThreadLocal RoleContext — set on request, cleared in finally</a:t>
            </a:r>
          </a:p>
        </p:txBody>
      </p:sp>
      <p:sp>
        <p:nvSpPr>
          <p:cNvPr id="21" name="TextBox 20"/>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2" name="TextBox 21"/>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08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60"/>
                                        <p:tgtEl>
                                          <p:spTgt spid="16"/>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60"/>
                                        <p:tgtEl>
                                          <p:spTgt spid="8"/>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60"/>
                                        <p:tgtEl>
                                          <p:spTgt spid="9"/>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60"/>
                                        <p:tgtEl>
                                          <p:spTgt spid="10"/>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60"/>
                                        <p:tgtEl>
                                          <p:spTgt spid="11"/>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60"/>
                                        <p:tgtEl>
                                          <p:spTgt spid="12"/>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60"/>
                                        <p:tgtEl>
                                          <p:spTgt spid="13"/>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60"/>
                                        <p:tgtEl>
                                          <p:spTgt spid="14"/>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60"/>
                                        <p:tgtEl>
                                          <p:spTgt spid="15"/>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par>
                                <p:cTn id="50" presetID="10" presetClass="entr" presetSubtype="0" fill="hold" grpId="0" nodeType="withEffect">
                                  <p:stCondLst>
                                    <p:cond delay="168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60"/>
                                        <p:tgtEl>
                                          <p:spTgt spid="19"/>
                                        </p:tgtEl>
                                      </p:cBhvr>
                                    </p:animEffect>
                                  </p:childTnLst>
                                </p:cTn>
                              </p:par>
                              <p:par>
                                <p:cTn id="53" presetID="10" presetClass="entr" presetSubtype="0" fill="hold" grpId="0" nodeType="withEffect">
                                  <p:stCondLst>
                                    <p:cond delay="19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6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09 · UNDER THE HOOD</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Stack — Clean on Purpose</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Spring carries the HTTP. The domain stays pure — and that's the point.</a:t>
            </a:r>
          </a:p>
        </p:txBody>
      </p:sp>
      <p:sp>
        <p:nvSpPr>
          <p:cNvPr id="8" name="Rounded Rectangle 7"/>
          <p:cNvSpPr/>
          <p:nvPr/>
        </p:nvSpPr>
        <p:spPr>
          <a:xfrm>
            <a:off x="502920" y="178308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2DD4BF"/>
                </a:solidFill>
                <a:latin typeface="Segoe UI Semibold"/>
              </a:rPr>
              <a:t>Language</a:t>
            </a:r>
          </a:p>
          <a:p>
            <a:pPr algn="l">
              <a:lnSpc>
                <a:spcPct val="100000"/>
              </a:lnSpc>
              <a:spcAft>
                <a:spcPts val="300"/>
              </a:spcAft>
            </a:pPr>
            <a:r>
              <a:rPr sz="1000" b="0">
                <a:solidFill>
                  <a:srgbClr val="9FB0CC"/>
                </a:solidFill>
                <a:latin typeface="Segoe UI"/>
              </a:rPr>
              <a:t>Java 17 · Maven wrapper — no install needed</a:t>
            </a:r>
          </a:p>
        </p:txBody>
      </p:sp>
      <p:sp>
        <p:nvSpPr>
          <p:cNvPr id="9" name="Rounded Rectangle 8"/>
          <p:cNvSpPr/>
          <p:nvPr/>
        </p:nvSpPr>
        <p:spPr>
          <a:xfrm>
            <a:off x="502920" y="1783080"/>
            <a:ext cx="64008" cy="1627632"/>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0" y="178308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60A5FA"/>
                </a:solidFill>
                <a:latin typeface="Segoe UI Semibold"/>
              </a:rPr>
              <a:t>Backend</a:t>
            </a:r>
          </a:p>
          <a:p>
            <a:pPr algn="l">
              <a:lnSpc>
                <a:spcPct val="100000"/>
              </a:lnSpc>
              <a:spcAft>
                <a:spcPts val="300"/>
              </a:spcAft>
            </a:pPr>
            <a:r>
              <a:rPr sz="1000" b="0">
                <a:solidFill>
                  <a:srgbClr val="9FB0CC"/>
                </a:solidFill>
                <a:latin typeface="Segoe UI"/>
              </a:rPr>
              <a:t>Spring Boot 3.4, web-starter only · 15 thin controllers</a:t>
            </a:r>
          </a:p>
        </p:txBody>
      </p:sp>
      <p:sp>
        <p:nvSpPr>
          <p:cNvPr id="11" name="Rounded Rectangle 10"/>
          <p:cNvSpPr/>
          <p:nvPr/>
        </p:nvSpPr>
        <p:spPr>
          <a:xfrm>
            <a:off x="4297680" y="1783080"/>
            <a:ext cx="64008" cy="162763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092440" y="178308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A78BFA"/>
                </a:solidFill>
                <a:latin typeface="Segoe UI Semibold"/>
              </a:rPr>
              <a:t>Domain</a:t>
            </a:r>
          </a:p>
          <a:p>
            <a:pPr algn="l">
              <a:lnSpc>
                <a:spcPct val="100000"/>
              </a:lnSpc>
              <a:spcAft>
                <a:spcPts val="300"/>
              </a:spcAft>
            </a:pPr>
            <a:r>
              <a:rPr sz="1000" b="0">
                <a:solidFill>
                  <a:srgbClr val="9FB0CC"/>
                </a:solidFill>
                <a:latin typeface="Segoe UI"/>
              </a:rPr>
              <a:t>100% plain POJOs — zero framework annotations</a:t>
            </a:r>
          </a:p>
        </p:txBody>
      </p:sp>
      <p:sp>
        <p:nvSpPr>
          <p:cNvPr id="13" name="Rounded Rectangle 12"/>
          <p:cNvSpPr/>
          <p:nvPr/>
        </p:nvSpPr>
        <p:spPr>
          <a:xfrm>
            <a:off x="8092440" y="1783080"/>
            <a:ext cx="64008" cy="162763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56616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4ADE80"/>
                </a:solidFill>
                <a:latin typeface="Segoe UI Semibold"/>
              </a:rPr>
              <a:t>Data</a:t>
            </a:r>
          </a:p>
          <a:p>
            <a:pPr algn="l">
              <a:lnSpc>
                <a:spcPct val="100000"/>
              </a:lnSpc>
              <a:spcAft>
                <a:spcPts val="300"/>
              </a:spcAft>
            </a:pPr>
            <a:r>
              <a:rPr sz="1000" b="0">
                <a:solidFill>
                  <a:srgbClr val="9FB0CC"/>
                </a:solidFill>
                <a:latin typeface="Segoe UI"/>
              </a:rPr>
              <a:t>MongoDB Atlas — with zero-config in-memory fallback at startup</a:t>
            </a:r>
          </a:p>
        </p:txBody>
      </p:sp>
      <p:sp>
        <p:nvSpPr>
          <p:cNvPr id="15" name="Rounded Rectangle 14"/>
          <p:cNvSpPr/>
          <p:nvPr/>
        </p:nvSpPr>
        <p:spPr>
          <a:xfrm>
            <a:off x="502920" y="3566160"/>
            <a:ext cx="64008" cy="1627632"/>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4297680" y="356616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FBBF24"/>
                </a:solidFill>
                <a:latin typeface="Segoe UI Semibold"/>
              </a:rPr>
              <a:t>Frontend</a:t>
            </a:r>
          </a:p>
          <a:p>
            <a:pPr algn="l">
              <a:lnSpc>
                <a:spcPct val="100000"/>
              </a:lnSpc>
              <a:spcAft>
                <a:spcPts val="300"/>
              </a:spcAft>
            </a:pPr>
            <a:r>
              <a:rPr sz="1000" b="0">
                <a:solidFill>
                  <a:srgbClr val="9FB0CC"/>
                </a:solidFill>
                <a:latin typeface="Segoe UI"/>
              </a:rPr>
              <a:t>Dependency-free vanilla JS SPA · 15 routes · dark / light theme</a:t>
            </a:r>
          </a:p>
        </p:txBody>
      </p:sp>
      <p:sp>
        <p:nvSpPr>
          <p:cNvPr id="17" name="Rounded Rectangle 16"/>
          <p:cNvSpPr/>
          <p:nvPr/>
        </p:nvSpPr>
        <p:spPr>
          <a:xfrm>
            <a:off x="4297680" y="3566160"/>
            <a:ext cx="64008" cy="162763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8092440" y="3566160"/>
            <a:ext cx="3593592" cy="162763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300"/>
              </a:spcAft>
            </a:pPr>
            <a:r>
              <a:rPr sz="1250" b="1">
                <a:solidFill>
                  <a:srgbClr val="F87171"/>
                </a:solidFill>
                <a:latin typeface="Segoe UI Semibold"/>
              </a:rPr>
              <a:t>Money &amp; Time</a:t>
            </a:r>
          </a:p>
          <a:p>
            <a:pPr algn="l">
              <a:lnSpc>
                <a:spcPct val="100000"/>
              </a:lnSpc>
              <a:spcAft>
                <a:spcPts val="300"/>
              </a:spcAft>
            </a:pPr>
            <a:r>
              <a:rPr sz="1000" b="0">
                <a:solidFill>
                  <a:srgbClr val="9FB0CC"/>
                </a:solidFill>
                <a:latin typeface="Segoe UI"/>
              </a:rPr>
              <a:t>BigDecimal via one MoneyUtil choke point · TimeSource → Asia/Dhaka</a:t>
            </a:r>
          </a:p>
        </p:txBody>
      </p:sp>
      <p:sp>
        <p:nvSpPr>
          <p:cNvPr id="19" name="Rounded Rectangle 18"/>
          <p:cNvSpPr/>
          <p:nvPr/>
        </p:nvSpPr>
        <p:spPr>
          <a:xfrm>
            <a:off x="8092440" y="3566160"/>
            <a:ext cx="64008" cy="1627632"/>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502920" y="5440680"/>
            <a:ext cx="11183112" cy="77724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~70 REST endpoints</a:t>
            </a:r>
            <a:r>
              <a:rPr sz="1050" b="0">
                <a:solidFill>
                  <a:srgbClr val="6B7C9C"/>
                </a:solidFill>
                <a:latin typeface="Segoe UI"/>
              </a:rPr>
              <a:t>  ·  domain never imports Spring  ·  </a:t>
            </a:r>
            <a:r>
              <a:rPr sz="1050" b="0">
                <a:solidFill>
                  <a:srgbClr val="9FB0CC"/>
                </a:solidFill>
                <a:latin typeface="Segoe UI"/>
              </a:rPr>
              <a:t>tests pin an invalid MONGODB_URI — fully hermetic, no DB can leak in</a:t>
            </a:r>
          </a:p>
        </p:txBody>
      </p:sp>
      <p:sp>
        <p:nvSpPr>
          <p:cNvPr id="21" name="TextBox 20"/>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2" name="TextBox 21"/>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09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1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4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par>
                                <p:cTn id="50" presetID="10" presetClass="entr" presetSubtype="0" fill="hold" grpId="0" nodeType="withEffect">
                                  <p:stCondLst>
                                    <p:cond delay="168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60"/>
                                        <p:tgtEl>
                                          <p:spTgt spid="19"/>
                                        </p:tgtEl>
                                      </p:cBhvr>
                                    </p:animEffect>
                                  </p:childTnLst>
                                </p:cTn>
                              </p:par>
                              <p:par>
                                <p:cTn id="53" presetID="10" presetClass="entr" presetSubtype="0" fill="hold" grpId="0" nodeType="withEffect">
                                  <p:stCondLst>
                                    <p:cond delay="19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6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10 · SCOREBOARD</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Numbers — All Verifiable</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691640"/>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2DD4BF"/>
                </a:solidFill>
                <a:latin typeface="Segoe UI Semibold"/>
              </a:rPr>
              <a:t>18</a:t>
            </a:r>
          </a:p>
          <a:p>
            <a:pPr algn="ctr">
              <a:lnSpc>
                <a:spcPct val="100000"/>
              </a:lnSpc>
            </a:pPr>
            <a:r>
              <a:rPr sz="1000" b="0">
                <a:solidFill>
                  <a:srgbClr val="9FB0CC"/>
                </a:solidFill>
                <a:latin typeface="Segoe UI"/>
              </a:rPr>
              <a:t>GoF patterns  ·  4 creational · 5 structural · 9 behavioral</a:t>
            </a:r>
          </a:p>
        </p:txBody>
      </p:sp>
      <p:sp>
        <p:nvSpPr>
          <p:cNvPr id="8" name="Rounded Rectangle 7"/>
          <p:cNvSpPr/>
          <p:nvPr/>
        </p:nvSpPr>
        <p:spPr>
          <a:xfrm>
            <a:off x="3310128" y="1691640"/>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4ADE80"/>
                </a:solidFill>
                <a:latin typeface="Segoe UI Semibold"/>
              </a:rPr>
              <a:t>176</a:t>
            </a:r>
          </a:p>
          <a:p>
            <a:pPr algn="ctr">
              <a:lnSpc>
                <a:spcPct val="100000"/>
              </a:lnSpc>
            </a:pPr>
            <a:r>
              <a:rPr sz="1000" b="0">
                <a:solidFill>
                  <a:srgbClr val="9FB0CC"/>
                </a:solidFill>
                <a:latin typeface="Segoe UI"/>
              </a:rPr>
              <a:t>automated tests  ·  in 31 test classes</a:t>
            </a:r>
          </a:p>
        </p:txBody>
      </p:sp>
      <p:sp>
        <p:nvSpPr>
          <p:cNvPr id="9" name="Rounded Rectangle 8"/>
          <p:cNvSpPr/>
          <p:nvPr/>
        </p:nvSpPr>
        <p:spPr>
          <a:xfrm>
            <a:off x="6117336" y="1691640"/>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60A5FA"/>
                </a:solidFill>
                <a:latin typeface="Segoe UI Semibold"/>
              </a:rPr>
              <a:t>~190</a:t>
            </a:r>
          </a:p>
          <a:p>
            <a:pPr algn="ctr">
              <a:lnSpc>
                <a:spcPct val="100000"/>
              </a:lnSpc>
            </a:pPr>
            <a:r>
              <a:rPr sz="1000" b="0">
                <a:solidFill>
                  <a:srgbClr val="9FB0CC"/>
                </a:solidFill>
                <a:latin typeface="Segoe UI"/>
              </a:rPr>
              <a:t>production files  ·  ~17,000 lines of code</a:t>
            </a:r>
          </a:p>
        </p:txBody>
      </p:sp>
      <p:sp>
        <p:nvSpPr>
          <p:cNvPr id="10" name="Rounded Rectangle 9"/>
          <p:cNvSpPr/>
          <p:nvPr/>
        </p:nvSpPr>
        <p:spPr>
          <a:xfrm>
            <a:off x="8924544" y="1691640"/>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A78BFA"/>
                </a:solidFill>
                <a:latin typeface="Segoe UI Semibold"/>
              </a:rPr>
              <a:t>8</a:t>
            </a:r>
          </a:p>
          <a:p>
            <a:pPr algn="ctr">
              <a:lnSpc>
                <a:spcPct val="100000"/>
              </a:lnSpc>
            </a:pPr>
            <a:r>
              <a:rPr sz="1000" b="0">
                <a:solidFill>
                  <a:srgbClr val="9FB0CC"/>
                </a:solidFill>
                <a:latin typeface="Segoe UI"/>
              </a:rPr>
              <a:t>report types  ·  on one Template Method</a:t>
            </a:r>
          </a:p>
        </p:txBody>
      </p:sp>
      <p:sp>
        <p:nvSpPr>
          <p:cNvPr id="11" name="Rounded Rectangle 10"/>
          <p:cNvSpPr/>
          <p:nvPr/>
        </p:nvSpPr>
        <p:spPr>
          <a:xfrm>
            <a:off x="502920" y="3630168"/>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A78BFA"/>
                </a:solidFill>
                <a:latin typeface="Segoe UI Semibold"/>
              </a:rPr>
              <a:t>6</a:t>
            </a:r>
          </a:p>
          <a:p>
            <a:pPr algn="ctr">
              <a:lnSpc>
                <a:spcPct val="100000"/>
              </a:lnSpc>
            </a:pPr>
            <a:r>
              <a:rPr sz="1000" b="0">
                <a:solidFill>
                  <a:srgbClr val="9FB0CC"/>
                </a:solidFill>
                <a:latin typeface="Segoe UI"/>
              </a:rPr>
              <a:t>PO states  ·  in the State machine</a:t>
            </a:r>
          </a:p>
        </p:txBody>
      </p:sp>
      <p:sp>
        <p:nvSpPr>
          <p:cNvPr id="12" name="Rounded Rectangle 11"/>
          <p:cNvSpPr/>
          <p:nvPr/>
        </p:nvSpPr>
        <p:spPr>
          <a:xfrm>
            <a:off x="3310128" y="3630168"/>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FBBF24"/>
                </a:solidFill>
                <a:latin typeface="Segoe UI Semibold"/>
              </a:rPr>
              <a:t>4</a:t>
            </a:r>
          </a:p>
          <a:p>
            <a:pPr algn="ctr">
              <a:lnSpc>
                <a:spcPct val="100000"/>
              </a:lnSpc>
            </a:pPr>
            <a:r>
              <a:rPr sz="1000" b="0">
                <a:solidFill>
                  <a:srgbClr val="9FB0CC"/>
                </a:solidFill>
                <a:latin typeface="Segoe UI"/>
              </a:rPr>
              <a:t>roles  ·  behind 3 security layers</a:t>
            </a:r>
          </a:p>
        </p:txBody>
      </p:sp>
      <p:sp>
        <p:nvSpPr>
          <p:cNvPr id="13" name="Rounded Rectangle 12"/>
          <p:cNvSpPr/>
          <p:nvPr/>
        </p:nvSpPr>
        <p:spPr>
          <a:xfrm>
            <a:off x="6117336" y="3630168"/>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F87171"/>
                </a:solidFill>
                <a:latin typeface="Segoe UI Semibold"/>
              </a:rPr>
              <a:t>5</a:t>
            </a:r>
          </a:p>
          <a:p>
            <a:pPr algn="ctr">
              <a:lnSpc>
                <a:spcPct val="100000"/>
              </a:lnSpc>
            </a:pPr>
            <a:r>
              <a:rPr sz="1000" b="0">
                <a:solidFill>
                  <a:srgbClr val="9FB0CC"/>
                </a:solidFill>
                <a:latin typeface="Segoe UI"/>
              </a:rPr>
              <a:t>payment channels  ·  behind one Adapter port</a:t>
            </a:r>
          </a:p>
        </p:txBody>
      </p:sp>
      <p:sp>
        <p:nvSpPr>
          <p:cNvPr id="14" name="Rounded Rectangle 13"/>
          <p:cNvSpPr/>
          <p:nvPr/>
        </p:nvSpPr>
        <p:spPr>
          <a:xfrm>
            <a:off x="8924544" y="3630168"/>
            <a:ext cx="2670048" cy="1810512"/>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3000" b="1">
                <a:solidFill>
                  <a:srgbClr val="2DD4BF"/>
                </a:solidFill>
                <a:latin typeface="Segoe UI Semibold"/>
              </a:rPr>
              <a:t>10</a:t>
            </a:r>
          </a:p>
          <a:p>
            <a:pPr algn="ctr">
              <a:lnSpc>
                <a:spcPct val="100000"/>
              </a:lnSpc>
            </a:pPr>
            <a:r>
              <a:rPr sz="1000" b="0">
                <a:solidFill>
                  <a:srgbClr val="9FB0CC"/>
                </a:solidFill>
                <a:latin typeface="Segoe UI"/>
              </a:rPr>
              <a:t>levels of undo  ·  via Memento snapshots</a:t>
            </a:r>
          </a:p>
        </p:txBody>
      </p:sp>
      <p:sp>
        <p:nvSpPr>
          <p:cNvPr id="15" name="Rounded Rectangle 14"/>
          <p:cNvSpPr/>
          <p:nvPr/>
        </p:nvSpPr>
        <p:spPr>
          <a:xfrm>
            <a:off x="502920" y="5596128"/>
            <a:ext cx="11183112" cy="658368"/>
          </a:xfrm>
          <a:prstGeom prst="roundRect">
            <a:avLst>
              <a:gd name="adj" fmla="val 9000"/>
            </a:avLst>
          </a:prstGeom>
          <a:solidFill>
            <a:srgbClr val="1D1835"/>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100" b="1">
                <a:solidFill>
                  <a:srgbClr val="A78BFA"/>
                </a:solidFill>
                <a:latin typeface="Segoe UI Semibold"/>
              </a:rPr>
              <a:t>NEXT  →  </a:t>
            </a:r>
            <a:r>
              <a:rPr sz="1100" b="1">
                <a:solidFill>
                  <a:srgbClr val="F2F6FD"/>
                </a:solidFill>
                <a:latin typeface="Segoe UI Semibold"/>
              </a:rPr>
              <a:t>SUMYA SOMA — inside the engine room: how 18 patterns carry the money path</a:t>
            </a:r>
          </a:p>
        </p:txBody>
      </p:sp>
      <p:sp>
        <p:nvSpPr>
          <p:cNvPr id="16" name="TextBox 15"/>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7" name="TextBox 16"/>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10 / 30  ·  MD Mahamudul Hasan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5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8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11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1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16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19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224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25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A78B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A78B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A78BFA"/>
                </a:solidFill>
                <a:latin typeface="Segoe UI Semibold"/>
              </a:rPr>
              <a:t>SLIDE 11 · SECTION 2 — SUMYA SOMA</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Engine Room: 18 Patterns, One Rule</a:t>
            </a:r>
          </a:p>
        </p:txBody>
      </p:sp>
      <p:sp>
        <p:nvSpPr>
          <p:cNvPr id="6" name="Rounded Rectangle 5"/>
          <p:cNvSpPr/>
          <p:nvPr/>
        </p:nvSpPr>
        <p:spPr>
          <a:xfrm>
            <a:off x="521207" y="1316736"/>
            <a:ext cx="658368" cy="4572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554480"/>
            <a:ext cx="11183112" cy="777240"/>
          </a:xfrm>
          <a:prstGeom prst="roundRect">
            <a:avLst>
              <a:gd name="adj" fmla="val 9000"/>
            </a:avLst>
          </a:prstGeom>
          <a:solidFill>
            <a:srgbClr val="1D1835"/>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0" i="1">
                <a:solidFill>
                  <a:srgbClr val="F2F6FD"/>
                </a:solidFill>
                <a:latin typeface="Segoe UI Semibold"/>
              </a:rPr>
              <a:t>"A pattern earns its place only by carrying a real feature. Nothing here is decoration — delete any pattern and a feature you saw on screen breaks."</a:t>
            </a:r>
          </a:p>
        </p:txBody>
      </p:sp>
      <p:sp>
        <p:nvSpPr>
          <p:cNvPr id="8" name="Rounded Rectangle 7"/>
          <p:cNvSpPr/>
          <p:nvPr/>
        </p:nvSpPr>
        <p:spPr>
          <a:xfrm>
            <a:off x="502920" y="2560320"/>
            <a:ext cx="3611880" cy="301752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pPr>
            <a:r>
              <a:rPr sz="1100" b="1">
                <a:solidFill>
                  <a:srgbClr val="2DD4BF"/>
                </a:solidFill>
                <a:latin typeface="Segoe UI Semibold"/>
              </a:rPr>
              <a:t>CREATIONAL · 4</a:t>
            </a:r>
          </a:p>
        </p:txBody>
      </p:sp>
      <p:sp>
        <p:nvSpPr>
          <p:cNvPr id="9" name="Rounded Rectangle 8"/>
          <p:cNvSpPr/>
          <p:nvPr/>
        </p:nvSpPr>
        <p:spPr>
          <a:xfrm>
            <a:off x="649224" y="2971800"/>
            <a:ext cx="3319272" cy="310896"/>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2DD4BF"/>
                </a:solidFill>
                <a:latin typeface="Segoe UI Semibold"/>
              </a:rPr>
              <a:t>Singleton</a:t>
            </a:r>
          </a:p>
        </p:txBody>
      </p:sp>
      <p:sp>
        <p:nvSpPr>
          <p:cNvPr id="10" name="Rounded Rectangle 9"/>
          <p:cNvSpPr/>
          <p:nvPr/>
        </p:nvSpPr>
        <p:spPr>
          <a:xfrm>
            <a:off x="649224" y="3605022"/>
            <a:ext cx="3319272" cy="310896"/>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2DD4BF"/>
                </a:solidFill>
                <a:latin typeface="Segoe UI Semibold"/>
              </a:rPr>
              <a:t>Factory Method</a:t>
            </a:r>
          </a:p>
        </p:txBody>
      </p:sp>
      <p:sp>
        <p:nvSpPr>
          <p:cNvPr id="11" name="Rounded Rectangle 10"/>
          <p:cNvSpPr/>
          <p:nvPr/>
        </p:nvSpPr>
        <p:spPr>
          <a:xfrm>
            <a:off x="649224" y="4238244"/>
            <a:ext cx="3319272" cy="310896"/>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2DD4BF"/>
                </a:solidFill>
                <a:latin typeface="Segoe UI Semibold"/>
              </a:rPr>
              <a:t>Builder</a:t>
            </a:r>
          </a:p>
        </p:txBody>
      </p:sp>
      <p:sp>
        <p:nvSpPr>
          <p:cNvPr id="12" name="Rounded Rectangle 11"/>
          <p:cNvSpPr/>
          <p:nvPr/>
        </p:nvSpPr>
        <p:spPr>
          <a:xfrm>
            <a:off x="649224" y="4871466"/>
            <a:ext cx="3319272" cy="310896"/>
          </a:xfrm>
          <a:prstGeom prst="roundRect">
            <a:avLst>
              <a:gd name="adj" fmla="val 50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2DD4BF"/>
                </a:solidFill>
                <a:latin typeface="Segoe UI Semibold"/>
              </a:rPr>
              <a:t>Prototype</a:t>
            </a:r>
          </a:p>
        </p:txBody>
      </p:sp>
      <p:sp>
        <p:nvSpPr>
          <p:cNvPr id="13" name="Rounded Rectangle 12"/>
          <p:cNvSpPr/>
          <p:nvPr/>
        </p:nvSpPr>
        <p:spPr>
          <a:xfrm>
            <a:off x="4297680" y="2560320"/>
            <a:ext cx="3611880" cy="301752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pPr>
            <a:r>
              <a:rPr sz="1100" b="1">
                <a:solidFill>
                  <a:srgbClr val="60A5FA"/>
                </a:solidFill>
                <a:latin typeface="Segoe UI Semibold"/>
              </a:rPr>
              <a:t>STRUCTURAL · 5</a:t>
            </a:r>
          </a:p>
        </p:txBody>
      </p:sp>
      <p:sp>
        <p:nvSpPr>
          <p:cNvPr id="14" name="Rounded Rectangle 13"/>
          <p:cNvSpPr/>
          <p:nvPr/>
        </p:nvSpPr>
        <p:spPr>
          <a:xfrm>
            <a:off x="4443984" y="2971800"/>
            <a:ext cx="3319272"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60A5FA"/>
                </a:solidFill>
                <a:latin typeface="Segoe UI Semibold"/>
              </a:rPr>
              <a:t>Adapter</a:t>
            </a:r>
          </a:p>
        </p:txBody>
      </p:sp>
      <p:sp>
        <p:nvSpPr>
          <p:cNvPr id="15" name="Rounded Rectangle 14"/>
          <p:cNvSpPr/>
          <p:nvPr/>
        </p:nvSpPr>
        <p:spPr>
          <a:xfrm>
            <a:off x="4443984" y="3478377"/>
            <a:ext cx="3319272"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60A5FA"/>
                </a:solidFill>
                <a:latin typeface="Segoe UI Semibold"/>
              </a:rPr>
              <a:t>Decorator</a:t>
            </a:r>
          </a:p>
        </p:txBody>
      </p:sp>
      <p:sp>
        <p:nvSpPr>
          <p:cNvPr id="16" name="Rounded Rectangle 15"/>
          <p:cNvSpPr/>
          <p:nvPr/>
        </p:nvSpPr>
        <p:spPr>
          <a:xfrm>
            <a:off x="4443984" y="3984955"/>
            <a:ext cx="3319272"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60A5FA"/>
                </a:solidFill>
                <a:latin typeface="Segoe UI Semibold"/>
              </a:rPr>
              <a:t>Facade</a:t>
            </a:r>
          </a:p>
        </p:txBody>
      </p:sp>
      <p:sp>
        <p:nvSpPr>
          <p:cNvPr id="17" name="Rounded Rectangle 16"/>
          <p:cNvSpPr/>
          <p:nvPr/>
        </p:nvSpPr>
        <p:spPr>
          <a:xfrm>
            <a:off x="4443984" y="4491532"/>
            <a:ext cx="3319272"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60A5FA"/>
                </a:solidFill>
                <a:latin typeface="Segoe UI Semibold"/>
              </a:rPr>
              <a:t>Proxy</a:t>
            </a:r>
          </a:p>
        </p:txBody>
      </p:sp>
      <p:sp>
        <p:nvSpPr>
          <p:cNvPr id="18" name="Rounded Rectangle 17"/>
          <p:cNvSpPr/>
          <p:nvPr/>
        </p:nvSpPr>
        <p:spPr>
          <a:xfrm>
            <a:off x="4443984" y="4998110"/>
            <a:ext cx="3319272"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60A5FA"/>
                </a:solidFill>
                <a:latin typeface="Segoe UI Semibold"/>
              </a:rPr>
              <a:t>Composite</a:t>
            </a:r>
          </a:p>
        </p:txBody>
      </p:sp>
      <p:sp>
        <p:nvSpPr>
          <p:cNvPr id="19" name="Rounded Rectangle 18"/>
          <p:cNvSpPr/>
          <p:nvPr/>
        </p:nvSpPr>
        <p:spPr>
          <a:xfrm>
            <a:off x="8092440" y="2560320"/>
            <a:ext cx="3611880" cy="301752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pPr>
            <a:r>
              <a:rPr sz="1100" b="1">
                <a:solidFill>
                  <a:srgbClr val="A78BFA"/>
                </a:solidFill>
                <a:latin typeface="Segoe UI Semibold"/>
              </a:rPr>
              <a:t>BEHAVIORAL · 9</a:t>
            </a:r>
          </a:p>
        </p:txBody>
      </p:sp>
      <p:sp>
        <p:nvSpPr>
          <p:cNvPr id="20" name="Rounded Rectangle 19"/>
          <p:cNvSpPr/>
          <p:nvPr/>
        </p:nvSpPr>
        <p:spPr>
          <a:xfrm>
            <a:off x="8238744" y="2971800"/>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Observer</a:t>
            </a:r>
          </a:p>
        </p:txBody>
      </p:sp>
      <p:sp>
        <p:nvSpPr>
          <p:cNvPr id="21" name="Rounded Rectangle 20"/>
          <p:cNvSpPr/>
          <p:nvPr/>
        </p:nvSpPr>
        <p:spPr>
          <a:xfrm>
            <a:off x="8238744" y="3253232"/>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Strategy</a:t>
            </a:r>
          </a:p>
        </p:txBody>
      </p:sp>
      <p:sp>
        <p:nvSpPr>
          <p:cNvPr id="22" name="Rounded Rectangle 21"/>
          <p:cNvSpPr/>
          <p:nvPr/>
        </p:nvSpPr>
        <p:spPr>
          <a:xfrm>
            <a:off x="8238744" y="3534664"/>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Command</a:t>
            </a:r>
          </a:p>
        </p:txBody>
      </p:sp>
      <p:sp>
        <p:nvSpPr>
          <p:cNvPr id="23" name="Rounded Rectangle 22"/>
          <p:cNvSpPr/>
          <p:nvPr/>
        </p:nvSpPr>
        <p:spPr>
          <a:xfrm>
            <a:off x="8238744" y="3816096"/>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Template Method</a:t>
            </a:r>
          </a:p>
        </p:txBody>
      </p:sp>
      <p:sp>
        <p:nvSpPr>
          <p:cNvPr id="24" name="Rounded Rectangle 23"/>
          <p:cNvSpPr/>
          <p:nvPr/>
        </p:nvSpPr>
        <p:spPr>
          <a:xfrm>
            <a:off x="8238744" y="4097528"/>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Chain of Responsibility</a:t>
            </a:r>
          </a:p>
        </p:txBody>
      </p:sp>
      <p:sp>
        <p:nvSpPr>
          <p:cNvPr id="25" name="Rounded Rectangle 24"/>
          <p:cNvSpPr/>
          <p:nvPr/>
        </p:nvSpPr>
        <p:spPr>
          <a:xfrm>
            <a:off x="8238744" y="4378960"/>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State</a:t>
            </a:r>
          </a:p>
        </p:txBody>
      </p:sp>
      <p:sp>
        <p:nvSpPr>
          <p:cNvPr id="26" name="Rounded Rectangle 25"/>
          <p:cNvSpPr/>
          <p:nvPr/>
        </p:nvSpPr>
        <p:spPr>
          <a:xfrm>
            <a:off x="8238744" y="4660392"/>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Visitor</a:t>
            </a:r>
          </a:p>
        </p:txBody>
      </p:sp>
      <p:sp>
        <p:nvSpPr>
          <p:cNvPr id="27" name="Rounded Rectangle 26"/>
          <p:cNvSpPr/>
          <p:nvPr/>
        </p:nvSpPr>
        <p:spPr>
          <a:xfrm>
            <a:off x="8238744" y="4941824"/>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Memento</a:t>
            </a:r>
          </a:p>
        </p:txBody>
      </p:sp>
      <p:sp>
        <p:nvSpPr>
          <p:cNvPr id="28" name="Rounded Rectangle 27"/>
          <p:cNvSpPr/>
          <p:nvPr/>
        </p:nvSpPr>
        <p:spPr>
          <a:xfrm>
            <a:off x="8238744" y="5223256"/>
            <a:ext cx="3319272" cy="249427"/>
          </a:xfrm>
          <a:prstGeom prst="roundRect">
            <a:avLst>
              <a:gd name="adj" fmla="val 50000"/>
            </a:avLst>
          </a:prstGeom>
          <a:solidFill>
            <a:srgbClr val="18263F"/>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A78BFA"/>
                </a:solidFill>
                <a:latin typeface="Segoe UI Semibold"/>
              </a:rPr>
              <a:t>Iterator</a:t>
            </a:r>
          </a:p>
        </p:txBody>
      </p:sp>
      <p:sp>
        <p:nvSpPr>
          <p:cNvPr id="29" name="Rounded Rectangle 28"/>
          <p:cNvSpPr/>
          <p:nvPr/>
        </p:nvSpPr>
        <p:spPr>
          <a:xfrm>
            <a:off x="502920" y="5760720"/>
            <a:ext cx="11183112" cy="50292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PatternCatalog + drift-guard test: </a:t>
            </a:r>
            <a:r>
              <a:rPr sz="1050" b="0">
                <a:solidFill>
                  <a:srgbClr val="9FB0CC"/>
                </a:solidFill>
                <a:latin typeface="Segoe UI"/>
              </a:rPr>
              <a:t>the build fails if a pattern card cites a class that doesn't exist.</a:t>
            </a:r>
          </a:p>
        </p:txBody>
      </p:sp>
      <p:sp>
        <p:nvSpPr>
          <p:cNvPr id="30" name="TextBox 29"/>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31" name="TextBox 30"/>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11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5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84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60"/>
                                        <p:tgtEl>
                                          <p:spTgt spid="13"/>
                                        </p:tgtEl>
                                      </p:cBhvr>
                                    </p:animEffect>
                                  </p:childTnLst>
                                </p:cTn>
                              </p:par>
                              <p:par>
                                <p:cTn id="23" presetID="10" presetClass="entr" presetSubtype="0" fill="hold" grpId="0" nodeType="withEffect">
                                  <p:stCondLst>
                                    <p:cond delay="11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60"/>
                                        <p:tgtEl>
                                          <p:spTgt spid="19"/>
                                        </p:tgtEl>
                                      </p:cBhvr>
                                    </p:animEffect>
                                  </p:childTnLst>
                                </p:cTn>
                              </p:par>
                              <p:par>
                                <p:cTn id="26" presetID="10" presetClass="entr" presetSubtype="0" fill="hold" grpId="0" nodeType="withEffect">
                                  <p:stCondLst>
                                    <p:cond delay="140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6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13" grpId="0" animBg="1"/>
      <p:bldP spid="19"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12 · CREATIONAL × 4</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How Objects Are Born</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Every creation pattern answers a real shop-floor need.</a:t>
            </a:r>
          </a:p>
        </p:txBody>
      </p:sp>
      <p:sp>
        <p:nvSpPr>
          <p:cNvPr id="8" name="Rounded Rectangle 7"/>
          <p:cNvSpPr/>
          <p:nvPr/>
        </p:nvSpPr>
        <p:spPr>
          <a:xfrm>
            <a:off x="502920" y="1737360"/>
            <a:ext cx="5532120" cy="2148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900" b="1">
                <a:solidFill>
                  <a:srgbClr val="2DD4BF"/>
                </a:solidFill>
                <a:latin typeface="Segoe UI Semibold"/>
              </a:rPr>
              <a:t>SINGLETON  </a:t>
            </a:r>
            <a:r>
              <a:rPr sz="1300" b="1">
                <a:solidFill>
                  <a:srgbClr val="F2F6FD"/>
                </a:solidFill>
                <a:latin typeface="Segoe UI Semibold"/>
              </a:rPr>
              <a:t>One stock truth per process</a:t>
            </a:r>
          </a:p>
          <a:p>
            <a:pPr algn="l">
              <a:lnSpc>
                <a:spcPct val="104000"/>
              </a:lnSpc>
              <a:spcAft>
                <a:spcPts val="300"/>
              </a:spcAft>
            </a:pPr>
            <a:r>
              <a:rPr sz="1050" b="0">
                <a:solidFill>
                  <a:srgbClr val="9FB0CC"/>
                </a:solidFill>
                <a:latin typeface="Segoe UI"/>
              </a:rPr>
              <a:t>InventoryCatalog is the single authority — two tills can never oversell the same shelf. DatabaseConnection owns the one shared client.</a:t>
            </a:r>
          </a:p>
          <a:p>
            <a:pPr algn="l">
              <a:lnSpc>
                <a:spcPct val="104000"/>
              </a:lnSpc>
              <a:spcAft>
                <a:spcPts val="300"/>
              </a:spcAft>
            </a:pPr>
            <a:r>
              <a:rPr sz="850" b="0">
                <a:solidFill>
                  <a:srgbClr val="6B7C9C"/>
                </a:solidFill>
                <a:latin typeface="Consolas"/>
              </a:rPr>
              <a:t>catalog/InventoryCatalog.java · persistence/DatabaseConnection.java</a:t>
            </a:r>
          </a:p>
        </p:txBody>
      </p:sp>
      <p:sp>
        <p:nvSpPr>
          <p:cNvPr id="9" name="Rounded Rectangle 8"/>
          <p:cNvSpPr/>
          <p:nvPr/>
        </p:nvSpPr>
        <p:spPr>
          <a:xfrm>
            <a:off x="502920" y="1737360"/>
            <a:ext cx="64008" cy="214884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6126480" y="1737360"/>
            <a:ext cx="5532120" cy="2148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900" b="1">
                <a:solidFill>
                  <a:srgbClr val="60A5FA"/>
                </a:solidFill>
                <a:latin typeface="Segoe UI Semibold"/>
              </a:rPr>
              <a:t>FACTORY METHOD  </a:t>
            </a:r>
            <a:r>
              <a:rPr sz="1300" b="1">
                <a:solidFill>
                  <a:srgbClr val="F2F6FD"/>
                </a:solidFill>
                <a:latin typeface="Segoe UI Semibold"/>
              </a:rPr>
              <a:t>One 'Add Item' path</a:t>
            </a:r>
          </a:p>
          <a:p>
            <a:pPr algn="l">
              <a:lnSpc>
                <a:spcPct val="104000"/>
              </a:lnSpc>
              <a:spcAft>
                <a:spcPts val="300"/>
              </a:spcAft>
            </a:pPr>
            <a:r>
              <a:rPr sz="1050" b="0">
                <a:solidFill>
                  <a:srgbClr val="9FB0CC"/>
                </a:solidFill>
                <a:latin typeface="Segoe UI"/>
              </a:rPr>
              <a:t>ProductFactory validates shared input, then the subclass decides: UnitProductFactory for per-piece, WeighedProductFactory for per-kg.</a:t>
            </a:r>
          </a:p>
          <a:p>
            <a:pPr algn="l">
              <a:lnSpc>
                <a:spcPct val="104000"/>
              </a:lnSpc>
              <a:spcAft>
                <a:spcPts val="300"/>
              </a:spcAft>
            </a:pPr>
            <a:r>
              <a:rPr sz="850" b="0">
                <a:solidFill>
                  <a:srgbClr val="6B7C9C"/>
                </a:solidFill>
                <a:latin typeface="Consolas"/>
              </a:rPr>
              <a:t>catalog/ProductFactory.java</a:t>
            </a:r>
          </a:p>
        </p:txBody>
      </p:sp>
      <p:sp>
        <p:nvSpPr>
          <p:cNvPr id="11" name="Rounded Rectangle 10"/>
          <p:cNvSpPr/>
          <p:nvPr/>
        </p:nvSpPr>
        <p:spPr>
          <a:xfrm>
            <a:off x="6126480" y="1737360"/>
            <a:ext cx="64008" cy="214884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502920" y="4023360"/>
            <a:ext cx="5532120" cy="2148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900" b="1">
                <a:solidFill>
                  <a:srgbClr val="A78BFA"/>
                </a:solidFill>
                <a:latin typeface="Segoe UI Semibold"/>
              </a:rPr>
              <a:t>BUILDER  </a:t>
            </a:r>
            <a:r>
              <a:rPr sz="1300" b="1">
                <a:solidFill>
                  <a:srgbClr val="F2F6FD"/>
                </a:solidFill>
                <a:latin typeface="Segoe UI Semibold"/>
              </a:rPr>
              <a:t>No half-built purchase orders</a:t>
            </a:r>
          </a:p>
          <a:p>
            <a:pPr algn="l">
              <a:lnSpc>
                <a:spcPct val="104000"/>
              </a:lnSpc>
              <a:spcAft>
                <a:spcPts val="300"/>
              </a:spcAft>
            </a:pPr>
            <a:r>
              <a:rPr sz="1050" b="0">
                <a:solidFill>
                  <a:srgbClr val="9FB0CC"/>
                </a:solidFill>
                <a:latin typeface="Segoe UI"/>
              </a:rPr>
              <a:t>PurchaseOrderBuilder assembles line by line (fluent); build() enforces ≥1 line and mints the PO number — incomplete POs cannot escape.</a:t>
            </a:r>
          </a:p>
          <a:p>
            <a:pPr algn="l">
              <a:lnSpc>
                <a:spcPct val="104000"/>
              </a:lnSpc>
              <a:spcAft>
                <a:spcPts val="300"/>
              </a:spcAft>
            </a:pPr>
            <a:r>
              <a:rPr sz="850" b="0">
                <a:solidFill>
                  <a:srgbClr val="6B7C9C"/>
                </a:solidFill>
                <a:latin typeface="Consolas"/>
              </a:rPr>
              <a:t>suppliers/PurchaseOrderBuilder.java</a:t>
            </a:r>
          </a:p>
        </p:txBody>
      </p:sp>
      <p:sp>
        <p:nvSpPr>
          <p:cNvPr id="13" name="Rounded Rectangle 12"/>
          <p:cNvSpPr/>
          <p:nvPr/>
        </p:nvSpPr>
        <p:spPr>
          <a:xfrm>
            <a:off x="502920" y="4023360"/>
            <a:ext cx="64008" cy="214884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6126480" y="4023360"/>
            <a:ext cx="5532120" cy="2148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900" b="1">
                <a:solidFill>
                  <a:srgbClr val="FBBF24"/>
                </a:solidFill>
                <a:latin typeface="Segoe UI Semibold"/>
              </a:rPr>
              <a:t>PROTOTYPE  </a:t>
            </a:r>
            <a:r>
              <a:rPr sz="1300" b="1">
                <a:solidFill>
                  <a:srgbClr val="F2F6FD"/>
                </a:solidFill>
                <a:latin typeface="Segoe UI Semibold"/>
              </a:rPr>
              <a:t>The weekly restock clone</a:t>
            </a:r>
          </a:p>
          <a:p>
            <a:pPr algn="l">
              <a:lnSpc>
                <a:spcPct val="104000"/>
              </a:lnSpc>
              <a:spcAft>
                <a:spcPts val="300"/>
              </a:spcAft>
            </a:pPr>
            <a:r>
              <a:rPr sz="1050" b="0">
                <a:solidFill>
                  <a:srgbClr val="9FB0CC"/>
                </a:solidFill>
                <a:latin typeface="Segoe UI"/>
              </a:rPr>
              <a:t>StandingOrderTemplate.instantiate() clones the template into a fresh DRAFT PO — the weekly order is cloned, never retyped. 2 clicks instead of 15.</a:t>
            </a:r>
          </a:p>
          <a:p>
            <a:pPr algn="l">
              <a:lnSpc>
                <a:spcPct val="104000"/>
              </a:lnSpc>
              <a:spcAft>
                <a:spcPts val="300"/>
              </a:spcAft>
            </a:pPr>
            <a:r>
              <a:rPr sz="850" b="0">
                <a:solidFill>
                  <a:srgbClr val="6B7C9C"/>
                </a:solidFill>
                <a:latin typeface="Consolas"/>
              </a:rPr>
              <a:t>suppliers/StandingOrderTemplate.java</a:t>
            </a:r>
          </a:p>
        </p:txBody>
      </p:sp>
      <p:sp>
        <p:nvSpPr>
          <p:cNvPr id="15" name="Rounded Rectangle 14"/>
          <p:cNvSpPr/>
          <p:nvPr/>
        </p:nvSpPr>
        <p:spPr>
          <a:xfrm>
            <a:off x="6126480" y="4023360"/>
            <a:ext cx="64008" cy="214884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7" name="TextBox 16"/>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12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1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87171">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87171">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87171"/>
                </a:solidFill>
                <a:latin typeface="Segoe UI Semibold"/>
              </a:rPr>
              <a:t>SLIDE 13 · THE CHECKOUT GATE</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Chain of Responsibility + Command</a:t>
            </a:r>
          </a:p>
        </p:txBody>
      </p:sp>
      <p:sp>
        <p:nvSpPr>
          <p:cNvPr id="6" name="Rounded Rectangle 5"/>
          <p:cNvSpPr/>
          <p:nvPr/>
        </p:nvSpPr>
        <p:spPr>
          <a:xfrm>
            <a:off x="521207" y="1316736"/>
            <a:ext cx="658368" cy="4572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Six checks before money moves — then a tender that can undo itself.</a:t>
            </a:r>
          </a:p>
        </p:txBody>
      </p:sp>
      <p:sp>
        <p:nvSpPr>
          <p:cNvPr id="8" name="Rounded Rectangle 7"/>
          <p:cNvSpPr/>
          <p:nvPr/>
        </p:nvSpPr>
        <p:spPr>
          <a:xfrm>
            <a:off x="502920" y="1700784"/>
            <a:ext cx="2377440" cy="329184"/>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1">
                <a:solidFill>
                  <a:srgbClr val="0B1220"/>
                </a:solidFill>
                <a:latin typeface="Segoe UI Semibold"/>
              </a:rPr>
              <a:t>CHAIN OF RESPONSIBILITY — VALIDATION</a:t>
            </a:r>
          </a:p>
        </p:txBody>
      </p:sp>
      <p:sp>
        <p:nvSpPr>
          <p:cNvPr id="9" name="Pentagon 8"/>
          <p:cNvSpPr/>
          <p:nvPr/>
        </p:nvSpPr>
        <p:spPr>
          <a:xfrm>
            <a:off x="502920" y="2121408"/>
            <a:ext cx="2001012" cy="713232"/>
          </a:xfrm>
          <a:prstGeom prst="homePlate">
            <a:avLst/>
          </a:prstGeom>
          <a:solidFill>
            <a:srgbClr val="F87171">
              <a:alpha val="30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Bill not empty</a:t>
            </a:r>
          </a:p>
        </p:txBody>
      </p:sp>
      <p:sp>
        <p:nvSpPr>
          <p:cNvPr id="10" name="Chevron 9"/>
          <p:cNvSpPr/>
          <p:nvPr/>
        </p:nvSpPr>
        <p:spPr>
          <a:xfrm>
            <a:off x="2339340" y="2121408"/>
            <a:ext cx="2001012" cy="713232"/>
          </a:xfrm>
          <a:prstGeom prst="chevron">
            <a:avLst/>
          </a:prstGeom>
          <a:solidFill>
            <a:srgbClr val="F87171">
              <a:alpha val="38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Weighment done</a:t>
            </a:r>
          </a:p>
        </p:txBody>
      </p:sp>
      <p:sp>
        <p:nvSpPr>
          <p:cNvPr id="11" name="Chevron 10"/>
          <p:cNvSpPr/>
          <p:nvPr/>
        </p:nvSpPr>
        <p:spPr>
          <a:xfrm>
            <a:off x="4175760" y="2121408"/>
            <a:ext cx="2001012" cy="713232"/>
          </a:xfrm>
          <a:prstGeom prst="chevron">
            <a:avLst/>
          </a:prstGeom>
          <a:solidFill>
            <a:srgbClr val="F87171">
              <a:alpha val="46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Stock available</a:t>
            </a:r>
          </a:p>
        </p:txBody>
      </p:sp>
      <p:sp>
        <p:nvSpPr>
          <p:cNvPr id="12" name="Chevron 11"/>
          <p:cNvSpPr/>
          <p:nvPr/>
        </p:nvSpPr>
        <p:spPr>
          <a:xfrm>
            <a:off x="6012180" y="2121408"/>
            <a:ext cx="2001012" cy="713232"/>
          </a:xfrm>
          <a:prstGeom prst="chevron">
            <a:avLst/>
          </a:prstGeom>
          <a:solidFill>
            <a:srgbClr val="F87171">
              <a:alpha val="54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Promo eligible</a:t>
            </a:r>
          </a:p>
        </p:txBody>
      </p:sp>
      <p:sp>
        <p:nvSpPr>
          <p:cNvPr id="13" name="Chevron 12"/>
          <p:cNvSpPr/>
          <p:nvPr/>
        </p:nvSpPr>
        <p:spPr>
          <a:xfrm>
            <a:off x="7848600" y="2121408"/>
            <a:ext cx="2001012" cy="713232"/>
          </a:xfrm>
          <a:prstGeom prst="chevron">
            <a:avLst/>
          </a:prstGeom>
          <a:solidFill>
            <a:srgbClr val="F87171">
              <a:alpha val="62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Card valid</a:t>
            </a:r>
          </a:p>
        </p:txBody>
      </p:sp>
      <p:sp>
        <p:nvSpPr>
          <p:cNvPr id="14" name="Chevron 13"/>
          <p:cNvSpPr/>
          <p:nvPr/>
        </p:nvSpPr>
        <p:spPr>
          <a:xfrm>
            <a:off x="9685020" y="2121408"/>
            <a:ext cx="2001012" cy="713232"/>
          </a:xfrm>
          <a:prstGeom prst="chevron">
            <a:avLst/>
          </a:prstGeom>
          <a:solidFill>
            <a:srgbClr val="F87171">
              <a:alpha val="70000"/>
            </a:srgbClr>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900" b="1">
                <a:solidFill>
                  <a:srgbClr val="F2F6FD"/>
                </a:solidFill>
                <a:latin typeface="Segoe UI Semibold"/>
              </a:rPr>
              <a:t>Tender enough</a:t>
            </a:r>
          </a:p>
        </p:txBody>
      </p:sp>
      <p:sp>
        <p:nvSpPr>
          <p:cNvPr id="15" name="TextBox 14"/>
          <p:cNvSpPr txBox="1"/>
          <p:nvPr/>
        </p:nvSpPr>
        <p:spPr>
          <a:xfrm>
            <a:off x="502920" y="2907792"/>
            <a:ext cx="11155680" cy="274320"/>
          </a:xfrm>
          <a:prstGeom prst="rect">
            <a:avLst/>
          </a:prstGeom>
          <a:noFill/>
        </p:spPr>
        <p:txBody>
          <a:bodyPr wrap="square" lIns="0" tIns="0" rIns="0" bIns="0" anchor="t">
            <a:spAutoFit/>
          </a:bodyPr>
          <a:lstStyle/>
          <a:p>
            <a:pPr algn="l">
              <a:lnSpc>
                <a:spcPct val="100000"/>
              </a:lnSpc>
            </a:pPr>
            <a:r>
              <a:rPr sz="1050" b="0">
                <a:solidFill>
                  <a:srgbClr val="9FB0CC"/>
                </a:solidFill>
                <a:latin typeface="Segoe UI"/>
              </a:rPr>
              <a:t>ValidationChain.validate() returns the FIRST failing rule — the cashier sees exactly what to fix, before money moves.</a:t>
            </a:r>
          </a:p>
        </p:txBody>
      </p:sp>
      <p:sp>
        <p:nvSpPr>
          <p:cNvPr id="16" name="Rounded Rectangle 15"/>
          <p:cNvSpPr/>
          <p:nvPr/>
        </p:nvSpPr>
        <p:spPr>
          <a:xfrm>
            <a:off x="502920" y="3346704"/>
            <a:ext cx="2377440" cy="329184"/>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1">
                <a:solidFill>
                  <a:srgbClr val="0B1220"/>
                </a:solidFill>
                <a:latin typeface="Segoe UI Semibold"/>
              </a:rPr>
              <a:t>COMMAND — REVERSIBLE TENDER</a:t>
            </a:r>
          </a:p>
        </p:txBody>
      </p:sp>
      <p:sp>
        <p:nvSpPr>
          <p:cNvPr id="17" name="Rounded Rectangle 16"/>
          <p:cNvSpPr/>
          <p:nvPr/>
        </p:nvSpPr>
        <p:spPr>
          <a:xfrm>
            <a:off x="502920" y="3767328"/>
            <a:ext cx="2377440" cy="868680"/>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100" b="1">
                <a:solidFill>
                  <a:srgbClr val="F2F6FD"/>
                </a:solidFill>
                <a:latin typeface="Segoe UI Semibold"/>
              </a:rPr>
              <a:t>Reserve Stock</a:t>
            </a:r>
          </a:p>
        </p:txBody>
      </p:sp>
      <p:sp>
        <p:nvSpPr>
          <p:cNvPr id="18" name="Right Arrow 17"/>
          <p:cNvSpPr/>
          <p:nvPr/>
        </p:nvSpPr>
        <p:spPr>
          <a:xfrm>
            <a:off x="2935224" y="4059936"/>
            <a:ext cx="384048" cy="27432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319272" y="3767328"/>
            <a:ext cx="2377440" cy="868680"/>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100" b="1">
                <a:solidFill>
                  <a:srgbClr val="F2F6FD"/>
                </a:solidFill>
                <a:latin typeface="Segoe UI Semibold"/>
              </a:rPr>
              <a:t>Charge Tender</a:t>
            </a:r>
          </a:p>
        </p:txBody>
      </p:sp>
      <p:sp>
        <p:nvSpPr>
          <p:cNvPr id="20" name="Right Arrow 19"/>
          <p:cNvSpPr/>
          <p:nvPr/>
        </p:nvSpPr>
        <p:spPr>
          <a:xfrm>
            <a:off x="5751576" y="4059936"/>
            <a:ext cx="384048" cy="27432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35624" y="3767328"/>
            <a:ext cx="2377440" cy="868680"/>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100" b="1">
                <a:solidFill>
                  <a:srgbClr val="F2F6FD"/>
                </a:solidFill>
                <a:latin typeface="Segoe UI Semibold"/>
              </a:rPr>
              <a:t>Award Points</a:t>
            </a:r>
          </a:p>
        </p:txBody>
      </p:sp>
      <p:sp>
        <p:nvSpPr>
          <p:cNvPr id="22" name="Right Arrow 21"/>
          <p:cNvSpPr/>
          <p:nvPr/>
        </p:nvSpPr>
        <p:spPr>
          <a:xfrm>
            <a:off x="8567928" y="4059936"/>
            <a:ext cx="384048" cy="274320"/>
          </a:xfrm>
          <a:prstGeom prst="rightArrow">
            <a:avLst/>
          </a:prstGeom>
          <a:solidFill>
            <a:srgbClr val="4ADE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951976" y="3767328"/>
            <a:ext cx="2377440" cy="868680"/>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100" b="1">
                <a:solidFill>
                  <a:srgbClr val="F2F6FD"/>
                </a:solidFill>
                <a:latin typeface="Segoe UI Semibold"/>
              </a:rPr>
              <a:t>Create Sale</a:t>
            </a:r>
          </a:p>
        </p:txBody>
      </p:sp>
      <p:sp>
        <p:nvSpPr>
          <p:cNvPr id="24" name="Left Arrow 23"/>
          <p:cNvSpPr/>
          <p:nvPr/>
        </p:nvSpPr>
        <p:spPr>
          <a:xfrm>
            <a:off x="2926080" y="4800600"/>
            <a:ext cx="6309360" cy="457200"/>
          </a:xfrm>
          <a:prstGeom prst="leftArrow">
            <a:avLst/>
          </a:prstGeom>
          <a:solidFill>
            <a:srgbClr val="F8717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F2F6FD"/>
                </a:solidFill>
                <a:latin typeface="Segoe UI"/>
              </a:rPr>
              <a:t>declined card  →  reverse-order rollback: stock, points &amp; sale restored</a:t>
            </a:r>
          </a:p>
        </p:txBody>
      </p:sp>
      <p:sp>
        <p:nvSpPr>
          <p:cNvPr id="25" name="TextBox 24"/>
          <p:cNvSpPr txBox="1"/>
          <p:nvPr/>
        </p:nvSpPr>
        <p:spPr>
          <a:xfrm>
            <a:off x="502920" y="5468112"/>
            <a:ext cx="11155680" cy="502920"/>
          </a:xfrm>
          <a:prstGeom prst="rect">
            <a:avLst/>
          </a:prstGeom>
          <a:noFill/>
        </p:spPr>
        <p:txBody>
          <a:bodyPr wrap="square" lIns="0" tIns="0" rIns="0" bIns="0" anchor="t">
            <a:spAutoFit/>
          </a:bodyPr>
          <a:lstStyle/>
          <a:p>
            <a:pPr algn="l">
              <a:lnSpc>
                <a:spcPct val="110000"/>
              </a:lnSpc>
            </a:pPr>
            <a:r>
              <a:rPr sz="1100" b="0">
                <a:solidFill>
                  <a:srgbClr val="9FB0CC"/>
                </a:solidFill>
                <a:latin typeface="Segoe UI"/>
              </a:rPr>
              <a:t>BillingInvoker runs four commands; on failure it unwinds them in reverse — the sale is atomic because every step can undo itself. No phantom sales. No lost stock.</a:t>
            </a:r>
          </a:p>
        </p:txBody>
      </p:sp>
      <p:sp>
        <p:nvSpPr>
          <p:cNvPr id="26" name="TextBox 25"/>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7" name="TextBox 26"/>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13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56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5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5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84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1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4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60"/>
                                        <p:tgtEl>
                                          <p:spTgt spid="19"/>
                                        </p:tgtEl>
                                      </p:cBhvr>
                                    </p:animEffect>
                                  </p:childTnLst>
                                </p:cTn>
                              </p:par>
                              <p:par>
                                <p:cTn id="50" presetID="10" presetClass="entr" presetSubtype="0" fill="hold" grpId="0" nodeType="withEffect">
                                  <p:stCondLst>
                                    <p:cond delay="196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60"/>
                                        <p:tgtEl>
                                          <p:spTgt spid="21"/>
                                        </p:tgtEl>
                                      </p:cBhvr>
                                    </p:animEffect>
                                  </p:childTnLst>
                                </p:cTn>
                              </p:par>
                              <p:par>
                                <p:cTn id="53" presetID="10" presetClass="entr" presetSubtype="0" fill="hold" grpId="0" nodeType="withEffect">
                                  <p:stCondLst>
                                    <p:cond delay="224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60"/>
                                        <p:tgtEl>
                                          <p:spTgt spid="23"/>
                                        </p:tgtEl>
                                      </p:cBhvr>
                                    </p:animEffect>
                                  </p:childTnLst>
                                </p:cTn>
                              </p:par>
                              <p:par>
                                <p:cTn id="56" presetID="10" presetClass="entr" presetSubtype="0" fill="hold" grpId="0" nodeType="withEffect">
                                  <p:stCondLst>
                                    <p:cond delay="252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60"/>
                                        <p:tgtEl>
                                          <p:spTgt spid="24"/>
                                        </p:tgtEl>
                                      </p:cBhvr>
                                    </p:animEffect>
                                  </p:childTnLst>
                                </p:cTn>
                              </p:par>
                              <p:par>
                                <p:cTn id="59" presetID="10" presetClass="entr" presetSubtype="0" fill="hold" grpId="0" nodeType="withEffect">
                                  <p:stCondLst>
                                    <p:cond delay="280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6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p:bldP spid="16" grpId="0" animBg="1"/>
      <p:bldP spid="17" grpId="0" animBg="1"/>
      <p:bldP spid="19" grpId="0" animBg="1"/>
      <p:bldP spid="21" grpId="0" animBg="1"/>
      <p:bldP spid="23" grpId="0" animBg="1"/>
      <p:bldP spid="24" grpId="0" animBg="1"/>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BBF24">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BBF24"/>
                </a:solidFill>
                <a:latin typeface="Segoe UI Semibold"/>
              </a:rPr>
              <a:t>SLIDE 14 · PRICING AT RUNTIME</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Strategy + Decorator</a:t>
            </a:r>
          </a:p>
        </p:txBody>
      </p:sp>
      <p:sp>
        <p:nvSpPr>
          <p:cNvPr id="6" name="Rounded Rectangle 5"/>
          <p:cNvSpPr/>
          <p:nvPr/>
        </p:nvSpPr>
        <p:spPr>
          <a:xfrm>
            <a:off x="521207" y="1316736"/>
            <a:ext cx="658368" cy="4572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Two patterns cooperate: one decides the price, the other applies it.</a:t>
            </a:r>
          </a:p>
        </p:txBody>
      </p:sp>
      <p:sp>
        <p:nvSpPr>
          <p:cNvPr id="8" name="Rounded Rectangle 7"/>
          <p:cNvSpPr/>
          <p:nvPr/>
        </p:nvSpPr>
        <p:spPr>
          <a:xfrm>
            <a:off x="502920" y="1810512"/>
            <a:ext cx="5486400" cy="36576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FBBF24"/>
                </a:solidFill>
                <a:latin typeface="Segoe UI Semibold"/>
              </a:rPr>
              <a:t>STRATEGY — WHO DECIDES THE PRICE</a:t>
            </a:r>
          </a:p>
          <a:p>
            <a:pPr algn="l">
              <a:lnSpc>
                <a:spcPct val="100000"/>
              </a:lnSpc>
              <a:spcAft>
                <a:spcPts val="600"/>
              </a:spcAft>
            </a:pPr>
            <a:r>
              <a:rPr sz="1050" b="0">
                <a:solidFill>
                  <a:srgbClr val="9FB0CC"/>
                </a:solidFill>
                <a:latin typeface="Segoe UI"/>
              </a:rPr>
              <a:t>PromotionEngine.strategyFor(line, customer) picks per line, per day:</a:t>
            </a:r>
          </a:p>
        </p:txBody>
      </p:sp>
      <p:sp>
        <p:nvSpPr>
          <p:cNvPr id="9" name="Rounded Rectangle 8"/>
          <p:cNvSpPr/>
          <p:nvPr/>
        </p:nvSpPr>
        <p:spPr>
          <a:xfrm>
            <a:off x="502920" y="1810512"/>
            <a:ext cx="5486400"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2743200"/>
            <a:ext cx="5029200" cy="548640"/>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RegularPrice</a:t>
            </a:r>
            <a:r>
              <a:rPr sz="950" b="0">
                <a:solidFill>
                  <a:srgbClr val="6B7C9C"/>
                </a:solidFill>
                <a:latin typeface="Segoe UI"/>
              </a:rPr>
              <a:t>   — no promotion</a:t>
            </a:r>
          </a:p>
        </p:txBody>
      </p:sp>
      <p:sp>
        <p:nvSpPr>
          <p:cNvPr id="11" name="Rounded Rectangle 10"/>
          <p:cNvSpPr/>
          <p:nvPr/>
        </p:nvSpPr>
        <p:spPr>
          <a:xfrm>
            <a:off x="731520" y="3401568"/>
            <a:ext cx="5029200" cy="548640"/>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CategorySale</a:t>
            </a:r>
            <a:r>
              <a:rPr sz="950" b="0">
                <a:solidFill>
                  <a:srgbClr val="6B7C9C"/>
                </a:solidFill>
                <a:latin typeface="Segoe UI"/>
              </a:rPr>
              <a:t>   — date-windowed, e.g. Grocery −10%</a:t>
            </a:r>
          </a:p>
        </p:txBody>
      </p:sp>
      <p:sp>
        <p:nvSpPr>
          <p:cNvPr id="12" name="Rounded Rectangle 11"/>
          <p:cNvSpPr/>
          <p:nvPr/>
        </p:nvSpPr>
        <p:spPr>
          <a:xfrm>
            <a:off x="731520" y="4059935"/>
            <a:ext cx="5029200" cy="548640"/>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MemberPrice</a:t>
            </a:r>
            <a:r>
              <a:rPr sz="950" b="0">
                <a:solidFill>
                  <a:srgbClr val="6B7C9C"/>
                </a:solidFill>
                <a:latin typeface="Segoe UI"/>
              </a:rPr>
              <a:t>   — loyalty −5%</a:t>
            </a:r>
          </a:p>
        </p:txBody>
      </p:sp>
      <p:sp>
        <p:nvSpPr>
          <p:cNvPr id="13" name="TextBox 12"/>
          <p:cNvSpPr txBox="1"/>
          <p:nvPr/>
        </p:nvSpPr>
        <p:spPr>
          <a:xfrm>
            <a:off x="731520" y="4892040"/>
            <a:ext cx="5029200" cy="457200"/>
          </a:xfrm>
          <a:prstGeom prst="rect">
            <a:avLst/>
          </a:prstGeom>
          <a:noFill/>
        </p:spPr>
        <p:txBody>
          <a:bodyPr wrap="square" lIns="0" tIns="0" rIns="0" bIns="0" anchor="t">
            <a:spAutoFit/>
          </a:bodyPr>
          <a:lstStyle/>
          <a:p>
            <a:pPr algn="l">
              <a:lnSpc>
                <a:spcPct val="105000"/>
              </a:lnSpc>
            </a:pPr>
            <a:r>
              <a:rPr sz="1000" b="0">
                <a:solidFill>
                  <a:srgbClr val="9FB0CC"/>
                </a:solidFill>
                <a:latin typeface="Segoe UI"/>
              </a:rPr>
              <a:t>Manager toggles a sale in the back office → the till follows at once. Billing code never changes.</a:t>
            </a:r>
          </a:p>
        </p:txBody>
      </p:sp>
      <p:sp>
        <p:nvSpPr>
          <p:cNvPr id="14" name="Rounded Rectangle 13"/>
          <p:cNvSpPr/>
          <p:nvPr/>
        </p:nvSpPr>
        <p:spPr>
          <a:xfrm>
            <a:off x="6217920" y="1810512"/>
            <a:ext cx="5468112" cy="36576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60A5FA"/>
                </a:solidFill>
                <a:latin typeface="Segoe UI Semibold"/>
              </a:rPr>
              <a:t>DECORATOR — HOW IT'S APPLIED</a:t>
            </a:r>
          </a:p>
          <a:p>
            <a:pPr algn="l">
              <a:lnSpc>
                <a:spcPct val="100000"/>
              </a:lnSpc>
              <a:spcAft>
                <a:spcPts val="600"/>
              </a:spcAft>
            </a:pPr>
            <a:r>
              <a:rPr sz="1050" b="0">
                <a:solidFill>
                  <a:srgbClr val="9FB0CC"/>
                </a:solidFill>
                <a:latin typeface="Segoe UI"/>
              </a:rPr>
              <a:t>Each fee/discount is a transparent wrapper over the real line:</a:t>
            </a:r>
          </a:p>
        </p:txBody>
      </p:sp>
      <p:sp>
        <p:nvSpPr>
          <p:cNvPr id="15" name="Rounded Rectangle 14"/>
          <p:cNvSpPr/>
          <p:nvPr/>
        </p:nvSpPr>
        <p:spPr>
          <a:xfrm>
            <a:off x="6217920" y="1810512"/>
            <a:ext cx="5468112"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446520" y="2743200"/>
            <a:ext cx="4983480" cy="548640"/>
          </a:xfrm>
          <a:prstGeom prst="roundRect">
            <a:avLst>
              <a:gd name="adj" fmla="val 9000"/>
            </a:avLst>
          </a:prstGeom>
          <a:solidFill>
            <a:srgbClr val="1E2E4D"/>
          </a:solidFill>
          <a:ln w="9525">
            <a:solidFill>
              <a:srgbClr val="5C6FA0"/>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RoundOffAdjustment</a:t>
            </a:r>
            <a:r>
              <a:rPr sz="950" b="0">
                <a:solidFill>
                  <a:srgbClr val="6B7C9C"/>
                </a:solidFill>
                <a:latin typeface="Segoe UI"/>
              </a:rPr>
              <a:t>   — cash rounding  223.75 → 224</a:t>
            </a:r>
          </a:p>
        </p:txBody>
      </p:sp>
      <p:sp>
        <p:nvSpPr>
          <p:cNvPr id="17" name="Rounded Rectangle 16"/>
          <p:cNvSpPr/>
          <p:nvPr/>
        </p:nvSpPr>
        <p:spPr>
          <a:xfrm>
            <a:off x="6446520" y="3401568"/>
            <a:ext cx="4983480" cy="548640"/>
          </a:xfrm>
          <a:prstGeom prst="roundRect">
            <a:avLst>
              <a:gd name="adj" fmla="val 9000"/>
            </a:avLst>
          </a:prstGeom>
          <a:solidFill>
            <a:srgbClr val="1E2E4D"/>
          </a:solidFill>
          <a:ln w="9525">
            <a:solidFill>
              <a:srgbClr val="7A68B8"/>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CarryBagFee  +5</a:t>
            </a:r>
            <a:r>
              <a:rPr sz="950" b="0">
                <a:solidFill>
                  <a:srgbClr val="6B7C9C"/>
                </a:solidFill>
                <a:latin typeface="Segoe UI"/>
              </a:rPr>
              <a:t>   — bags &amp; delivery</a:t>
            </a:r>
          </a:p>
        </p:txBody>
      </p:sp>
      <p:sp>
        <p:nvSpPr>
          <p:cNvPr id="18" name="Rounded Rectangle 17"/>
          <p:cNvSpPr/>
          <p:nvPr/>
        </p:nvSpPr>
        <p:spPr>
          <a:xfrm>
            <a:off x="6446520" y="4059935"/>
            <a:ext cx="4983480" cy="548640"/>
          </a:xfrm>
          <a:prstGeom prst="roundRect">
            <a:avLst>
              <a:gd name="adj" fmla="val 9000"/>
            </a:avLst>
          </a:prstGeom>
          <a:solidFill>
            <a:srgbClr val="1E2E4D"/>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a:solidFill>
                  <a:srgbClr val="F2F6FD"/>
                </a:solidFill>
                <a:latin typeface="Consolas"/>
              </a:rPr>
              <a:t>LineDiscount  −10%</a:t>
            </a:r>
            <a:r>
              <a:rPr sz="950" b="0">
                <a:solidFill>
                  <a:srgbClr val="6B7C9C"/>
                </a:solidFill>
                <a:latin typeface="Segoe UI"/>
              </a:rPr>
              <a:t>   — the promotion</a:t>
            </a:r>
          </a:p>
        </p:txBody>
      </p:sp>
      <p:sp>
        <p:nvSpPr>
          <p:cNvPr id="19" name="Rounded Rectangle 18"/>
          <p:cNvSpPr/>
          <p:nvPr/>
        </p:nvSpPr>
        <p:spPr>
          <a:xfrm>
            <a:off x="6446520" y="4718303"/>
            <a:ext cx="4983480" cy="548640"/>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50" b="1" dirty="0">
                <a:solidFill>
                  <a:srgbClr val="F2F6FD"/>
                </a:solidFill>
                <a:latin typeface="Consolas"/>
              </a:rPr>
              <a:t>Teer Oil 5L  ·  1,250</a:t>
            </a:r>
            <a:r>
              <a:rPr sz="950" b="0" dirty="0">
                <a:solidFill>
                  <a:srgbClr val="6B7C9C"/>
                </a:solidFill>
                <a:latin typeface="Segoe UI"/>
              </a:rPr>
              <a:t>   — the real line</a:t>
            </a:r>
          </a:p>
        </p:txBody>
      </p:sp>
      <p:sp>
        <p:nvSpPr>
          <p:cNvPr id="21" name="Rounded Rectangle 20"/>
          <p:cNvSpPr/>
          <p:nvPr/>
        </p:nvSpPr>
        <p:spPr>
          <a:xfrm>
            <a:off x="502920" y="5669280"/>
            <a:ext cx="11183112" cy="566928"/>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Strategy returns a decorated line — </a:t>
            </a:r>
            <a:r>
              <a:rPr sz="1050" b="0">
                <a:solidFill>
                  <a:srgbClr val="9FB0CC"/>
                </a:solidFill>
                <a:latin typeface="Segoe UI"/>
              </a:rPr>
              <a:t>the patterns compose instead of competing.</a:t>
            </a:r>
          </a:p>
        </p:txBody>
      </p:sp>
      <p:sp>
        <p:nvSpPr>
          <p:cNvPr id="22" name="TextBox 21"/>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3" name="TextBox 22"/>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14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60"/>
                                        <p:tgtEl>
                                          <p:spTgt spid="14"/>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60"/>
                                        <p:tgtEl>
                                          <p:spTgt spid="15"/>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60"/>
                                        <p:tgtEl>
                                          <p:spTgt spid="13"/>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6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3" grpId="0"/>
      <p:bldP spid="14" grpId="0" animBg="1"/>
      <p:bldP spid="15"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4ADE80">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4ADE8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4ADE80"/>
                </a:solidFill>
                <a:latin typeface="Segoe UI Semibold"/>
              </a:rPr>
              <a:t>SLIDE 15 · THE MONEY PORT</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Adapter + Facade</a:t>
            </a:r>
          </a:p>
        </p:txBody>
      </p:sp>
      <p:sp>
        <p:nvSpPr>
          <p:cNvPr id="6" name="Rounded Rectangle 5"/>
          <p:cNvSpPr/>
          <p:nvPr/>
        </p:nvSpPr>
        <p:spPr>
          <a:xfrm>
            <a:off x="521207" y="1316736"/>
            <a:ext cx="658368" cy="4572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Five vendor dialects behind one port — and one door into the whole pipeline.</a:t>
            </a:r>
          </a:p>
        </p:txBody>
      </p:sp>
      <p:sp>
        <p:nvSpPr>
          <p:cNvPr id="8" name="Rounded Rectangle 7"/>
          <p:cNvSpPr/>
          <p:nvPr/>
        </p:nvSpPr>
        <p:spPr>
          <a:xfrm>
            <a:off x="502920" y="1810512"/>
            <a:ext cx="4023360"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0000"/>
              </a:lnSpc>
              <a:spcAft>
                <a:spcPts val="600"/>
              </a:spcAft>
            </a:pPr>
            <a:r>
              <a:rPr sz="1100" b="1">
                <a:solidFill>
                  <a:srgbClr val="FBBF24"/>
                </a:solidFill>
                <a:latin typeface="Segoe UI Semibold"/>
              </a:rPr>
              <a:t>FACADE — ONE DOOR</a:t>
            </a:r>
          </a:p>
          <a:p>
            <a:pPr algn="l">
              <a:lnSpc>
                <a:spcPct val="100000"/>
              </a:lnSpc>
              <a:spcAft>
                <a:spcPts val="600"/>
              </a:spcAft>
            </a:pPr>
            <a:r>
              <a:rPr sz="1000" b="0">
                <a:solidFill>
                  <a:srgbClr val="9FB0CC"/>
                </a:solidFill>
                <a:latin typeface="Segoe UI"/>
              </a:rPr>
              <a:t>Every UI button is one call on BillingFacade, which hides sessions, pricing, validation, commands, channels and loyalty:</a:t>
            </a:r>
          </a:p>
        </p:txBody>
      </p:sp>
      <p:sp>
        <p:nvSpPr>
          <p:cNvPr id="9" name="Rounded Rectangle 8"/>
          <p:cNvSpPr/>
          <p:nvPr/>
        </p:nvSpPr>
        <p:spPr>
          <a:xfrm>
            <a:off x="502920" y="1810512"/>
            <a:ext cx="4023360"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13232" y="3108960"/>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addLine()</a:t>
            </a:r>
          </a:p>
        </p:txBody>
      </p:sp>
      <p:sp>
        <p:nvSpPr>
          <p:cNvPr id="11" name="Rounded Rectangle 10"/>
          <p:cNvSpPr/>
          <p:nvPr/>
        </p:nvSpPr>
        <p:spPr>
          <a:xfrm>
            <a:off x="713232" y="3511296"/>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updateLine()</a:t>
            </a:r>
          </a:p>
        </p:txBody>
      </p:sp>
      <p:sp>
        <p:nvSpPr>
          <p:cNvPr id="12" name="Rounded Rectangle 11"/>
          <p:cNvSpPr/>
          <p:nvPr/>
        </p:nvSpPr>
        <p:spPr>
          <a:xfrm>
            <a:off x="713232" y="3913632"/>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setCustomer()</a:t>
            </a:r>
          </a:p>
        </p:txBody>
      </p:sp>
      <p:sp>
        <p:nvSpPr>
          <p:cNvPr id="13" name="Rounded Rectangle 12"/>
          <p:cNvSpPr/>
          <p:nvPr/>
        </p:nvSpPr>
        <p:spPr>
          <a:xfrm>
            <a:off x="713232" y="4315968"/>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setCoupon()</a:t>
            </a:r>
          </a:p>
        </p:txBody>
      </p:sp>
      <p:sp>
        <p:nvSpPr>
          <p:cNvPr id="14" name="Rounded Rectangle 13"/>
          <p:cNvSpPr/>
          <p:nvPr/>
        </p:nvSpPr>
        <p:spPr>
          <a:xfrm>
            <a:off x="713232" y="4718304"/>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undo()</a:t>
            </a:r>
          </a:p>
        </p:txBody>
      </p:sp>
      <p:sp>
        <p:nvSpPr>
          <p:cNvPr id="15" name="Rounded Rectangle 14"/>
          <p:cNvSpPr/>
          <p:nvPr/>
        </p:nvSpPr>
        <p:spPr>
          <a:xfrm>
            <a:off x="713232" y="5120640"/>
            <a:ext cx="3566160" cy="310896"/>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Consolas"/>
              </a:rPr>
              <a:t>tender()</a:t>
            </a:r>
          </a:p>
        </p:txBody>
      </p:sp>
      <p:sp>
        <p:nvSpPr>
          <p:cNvPr id="16" name="Rounded Rectangle 15"/>
          <p:cNvSpPr/>
          <p:nvPr/>
        </p:nvSpPr>
        <p:spPr>
          <a:xfrm>
            <a:off x="4754880" y="1810512"/>
            <a:ext cx="6931152"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0000"/>
              </a:lnSpc>
              <a:spcAft>
                <a:spcPts val="600"/>
              </a:spcAft>
            </a:pPr>
            <a:r>
              <a:rPr sz="1100" b="1">
                <a:solidFill>
                  <a:srgbClr val="4ADE80"/>
                </a:solidFill>
                <a:latin typeface="Segoe UI Semibold"/>
              </a:rPr>
              <a:t>ADAPTER — ONE PORT, FIVE DIALECTS</a:t>
            </a:r>
          </a:p>
          <a:p>
            <a:pPr algn="l">
              <a:lnSpc>
                <a:spcPct val="100000"/>
              </a:lnSpc>
              <a:spcAft>
                <a:spcPts val="600"/>
              </a:spcAft>
            </a:pPr>
            <a:r>
              <a:rPr sz="1000" b="0">
                <a:solidFill>
                  <a:srgbClr val="9FB0CC"/>
                </a:solidFill>
                <a:latin typeface="Segoe UI"/>
              </a:rPr>
              <a:t>PaymentChannel speaks BigDecimal (charge / refund). Billing never branches on tender type:</a:t>
            </a:r>
          </a:p>
        </p:txBody>
      </p:sp>
      <p:sp>
        <p:nvSpPr>
          <p:cNvPr id="17" name="Rounded Rectangle 16"/>
          <p:cNvSpPr/>
          <p:nvPr/>
        </p:nvSpPr>
        <p:spPr>
          <a:xfrm>
            <a:off x="4754880" y="1810512"/>
            <a:ext cx="6931152" cy="73152"/>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4983480" y="3017520"/>
            <a:ext cx="3108960" cy="47548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CashAdapter</a:t>
            </a:r>
          </a:p>
        </p:txBody>
      </p:sp>
      <p:sp>
        <p:nvSpPr>
          <p:cNvPr id="19" name="TextBox 18"/>
          <p:cNvSpPr txBox="1"/>
          <p:nvPr/>
        </p:nvSpPr>
        <p:spPr>
          <a:xfrm>
            <a:off x="8183879" y="3099815"/>
            <a:ext cx="3429000" cy="365760"/>
          </a:xfrm>
          <a:prstGeom prst="rect">
            <a:avLst/>
          </a:prstGeom>
          <a:noFill/>
        </p:spPr>
        <p:txBody>
          <a:bodyPr wrap="square" lIns="0" tIns="0" rIns="0" bIns="0" anchor="t">
            <a:spAutoFit/>
          </a:bodyPr>
          <a:lstStyle/>
          <a:p>
            <a:pPr algn="l">
              <a:lnSpc>
                <a:spcPct val="100000"/>
              </a:lnSpc>
            </a:pPr>
            <a:r>
              <a:rPr sz="900" b="0">
                <a:solidFill>
                  <a:srgbClr val="6B7C9C"/>
                </a:solidFill>
                <a:latin typeface="Segoe UI"/>
              </a:rPr>
              <a:t>plain arithmetic</a:t>
            </a:r>
          </a:p>
        </p:txBody>
      </p:sp>
      <p:sp>
        <p:nvSpPr>
          <p:cNvPr id="20" name="Rounded Rectangle 19"/>
          <p:cNvSpPr/>
          <p:nvPr/>
        </p:nvSpPr>
        <p:spPr>
          <a:xfrm>
            <a:off x="4983480" y="3584448"/>
            <a:ext cx="3108960" cy="47548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CardAdapter</a:t>
            </a:r>
          </a:p>
        </p:txBody>
      </p:sp>
      <p:sp>
        <p:nvSpPr>
          <p:cNvPr id="21" name="TextBox 20"/>
          <p:cNvSpPr txBox="1"/>
          <p:nvPr/>
        </p:nvSpPr>
        <p:spPr>
          <a:xfrm>
            <a:off x="8183879" y="3666744"/>
            <a:ext cx="3429000" cy="365760"/>
          </a:xfrm>
          <a:prstGeom prst="rect">
            <a:avLst/>
          </a:prstGeom>
          <a:noFill/>
        </p:spPr>
        <p:txBody>
          <a:bodyPr wrap="square" lIns="0" tIns="0" rIns="0" bIns="0" anchor="t">
            <a:spAutoFit/>
          </a:bodyPr>
          <a:lstStyle/>
          <a:p>
            <a:pPr algn="l">
              <a:lnSpc>
                <a:spcPct val="100000"/>
              </a:lnSpc>
            </a:pPr>
            <a:r>
              <a:rPr sz="900" b="0">
                <a:solidFill>
                  <a:srgbClr val="6B7C9C"/>
                </a:solidFill>
                <a:latin typeface="Segoe UI"/>
              </a:rPr>
              <a:t>terminal speaks doubles + int codes</a:t>
            </a:r>
          </a:p>
        </p:txBody>
      </p:sp>
      <p:sp>
        <p:nvSpPr>
          <p:cNvPr id="22" name="Rounded Rectangle 21"/>
          <p:cNvSpPr/>
          <p:nvPr/>
        </p:nvSpPr>
        <p:spPr>
          <a:xfrm>
            <a:off x="4983480" y="4151376"/>
            <a:ext cx="3108960" cy="47548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BkashAdapter</a:t>
            </a:r>
          </a:p>
        </p:txBody>
      </p:sp>
      <p:sp>
        <p:nvSpPr>
          <p:cNvPr id="23" name="TextBox 22"/>
          <p:cNvSpPr txBox="1"/>
          <p:nvPr/>
        </p:nvSpPr>
        <p:spPr>
          <a:xfrm>
            <a:off x="8183879" y="4233672"/>
            <a:ext cx="3429000" cy="365760"/>
          </a:xfrm>
          <a:prstGeom prst="rect">
            <a:avLst/>
          </a:prstGeom>
          <a:noFill/>
        </p:spPr>
        <p:txBody>
          <a:bodyPr wrap="square" lIns="0" tIns="0" rIns="0" bIns="0" anchor="t">
            <a:spAutoFit/>
          </a:bodyPr>
          <a:lstStyle/>
          <a:p>
            <a:pPr algn="l">
              <a:lnSpc>
                <a:spcPct val="100000"/>
              </a:lnSpc>
            </a:pPr>
            <a:r>
              <a:rPr sz="900" b="0">
                <a:solidFill>
                  <a:srgbClr val="6B7C9C"/>
                </a:solidFill>
                <a:latin typeface="Segoe UI"/>
              </a:rPr>
              <a:t>merchant API speaks poisha longs</a:t>
            </a:r>
          </a:p>
        </p:txBody>
      </p:sp>
      <p:sp>
        <p:nvSpPr>
          <p:cNvPr id="24" name="Rounded Rectangle 23"/>
          <p:cNvSpPr/>
          <p:nvPr/>
        </p:nvSpPr>
        <p:spPr>
          <a:xfrm>
            <a:off x="4983480" y="4718304"/>
            <a:ext cx="3108960" cy="47548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NagadAdapter</a:t>
            </a:r>
          </a:p>
        </p:txBody>
      </p:sp>
      <p:sp>
        <p:nvSpPr>
          <p:cNvPr id="25" name="TextBox 24"/>
          <p:cNvSpPr txBox="1"/>
          <p:nvPr/>
        </p:nvSpPr>
        <p:spPr>
          <a:xfrm>
            <a:off x="8183879" y="4800600"/>
            <a:ext cx="3429000" cy="365760"/>
          </a:xfrm>
          <a:prstGeom prst="rect">
            <a:avLst/>
          </a:prstGeom>
          <a:noFill/>
        </p:spPr>
        <p:txBody>
          <a:bodyPr wrap="square" lIns="0" tIns="0" rIns="0" bIns="0" anchor="t">
            <a:spAutoFit/>
          </a:bodyPr>
          <a:lstStyle/>
          <a:p>
            <a:pPr algn="l">
              <a:lnSpc>
                <a:spcPct val="100000"/>
              </a:lnSpc>
            </a:pPr>
            <a:r>
              <a:rPr sz="900" b="0">
                <a:solidFill>
                  <a:srgbClr val="6B7C9C"/>
                </a:solidFill>
                <a:latin typeface="Segoe UI"/>
              </a:rPr>
              <a:t>API speaks strings</a:t>
            </a:r>
          </a:p>
        </p:txBody>
      </p:sp>
      <p:sp>
        <p:nvSpPr>
          <p:cNvPr id="26" name="Rounded Rectangle 25"/>
          <p:cNvSpPr/>
          <p:nvPr/>
        </p:nvSpPr>
        <p:spPr>
          <a:xfrm>
            <a:off x="4983480" y="5285232"/>
            <a:ext cx="3108960" cy="47548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PointsAdapter</a:t>
            </a:r>
          </a:p>
        </p:txBody>
      </p:sp>
      <p:sp>
        <p:nvSpPr>
          <p:cNvPr id="27" name="TextBox 26"/>
          <p:cNvSpPr txBox="1"/>
          <p:nvPr/>
        </p:nvSpPr>
        <p:spPr>
          <a:xfrm>
            <a:off x="8183879" y="5367528"/>
            <a:ext cx="3429000" cy="365760"/>
          </a:xfrm>
          <a:prstGeom prst="rect">
            <a:avLst/>
          </a:prstGeom>
          <a:noFill/>
        </p:spPr>
        <p:txBody>
          <a:bodyPr wrap="square" lIns="0" tIns="0" rIns="0" bIns="0" anchor="t">
            <a:spAutoFit/>
          </a:bodyPr>
          <a:lstStyle/>
          <a:p>
            <a:pPr algn="l">
              <a:lnSpc>
                <a:spcPct val="100000"/>
              </a:lnSpc>
            </a:pPr>
            <a:r>
              <a:rPr sz="900" b="0">
                <a:solidFill>
                  <a:srgbClr val="6B7C9C"/>
                </a:solidFill>
                <a:latin typeface="Segoe UI"/>
              </a:rPr>
              <a:t>loyalty points as tender</a:t>
            </a:r>
          </a:p>
        </p:txBody>
      </p:sp>
      <p:sp>
        <p:nvSpPr>
          <p:cNvPr id="29" name="TextBox 28"/>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30" name="TextBox 29"/>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15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60"/>
                                        <p:tgtEl>
                                          <p:spTgt spid="16"/>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6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60A5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60A5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60A5FA"/>
                </a:solidFill>
                <a:latin typeface="Segoe UI Semibold"/>
              </a:rPr>
              <a:t>SLIDE 16 · EVENT-DRIVEN STOCK</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Observer + Iterator</a:t>
            </a:r>
          </a:p>
        </p:txBody>
      </p:sp>
      <p:sp>
        <p:nvSpPr>
          <p:cNvPr id="6" name="Rounded Rectangle 5"/>
          <p:cNvSpPr/>
          <p:nvPr/>
        </p:nvSpPr>
        <p:spPr>
          <a:xfrm>
            <a:off x="521207" y="1316736"/>
            <a:ext cx="658368" cy="4572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The shelf announces; the back office reacts — and everyone walks it the same way.</a:t>
            </a:r>
          </a:p>
        </p:txBody>
      </p:sp>
      <p:sp>
        <p:nvSpPr>
          <p:cNvPr id="8" name="Rounded Rectangle 7"/>
          <p:cNvSpPr/>
          <p:nvPr/>
        </p:nvSpPr>
        <p:spPr>
          <a:xfrm>
            <a:off x="502920" y="1810512"/>
            <a:ext cx="6263640"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60A5FA"/>
                </a:solidFill>
                <a:latin typeface="Segoe UI Semibold"/>
              </a:rPr>
              <a:t>OBSERVER — THE SHELF TALKS</a:t>
            </a:r>
          </a:p>
          <a:p>
            <a:pPr algn="l">
              <a:lnSpc>
                <a:spcPct val="100000"/>
              </a:lnSpc>
              <a:spcAft>
                <a:spcPts val="600"/>
              </a:spcAft>
            </a:pPr>
            <a:r>
              <a:rPr sz="1000" b="0">
                <a:solidFill>
                  <a:srgbClr val="9FB0CC"/>
                </a:solidFill>
                <a:latin typeface="Segoe UI"/>
              </a:rPr>
              <a:t>Product implements StockSubject. On every stock move it fires a StockEvent:</a:t>
            </a:r>
          </a:p>
        </p:txBody>
      </p:sp>
      <p:sp>
        <p:nvSpPr>
          <p:cNvPr id="9" name="Rounded Rectangle 8"/>
          <p:cNvSpPr/>
          <p:nvPr/>
        </p:nvSpPr>
        <p:spPr>
          <a:xfrm>
            <a:off x="502920" y="1810512"/>
            <a:ext cx="6263640"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2788920"/>
            <a:ext cx="1115568"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Consolas"/>
              </a:rPr>
              <a:t>RESTOCK</a:t>
            </a:r>
          </a:p>
        </p:txBody>
      </p:sp>
      <p:sp>
        <p:nvSpPr>
          <p:cNvPr id="11" name="Rounded Rectangle 10"/>
          <p:cNvSpPr/>
          <p:nvPr/>
        </p:nvSpPr>
        <p:spPr>
          <a:xfrm>
            <a:off x="1901952" y="2788920"/>
            <a:ext cx="1115568"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Consolas"/>
              </a:rPr>
              <a:t>LOW_STOCK</a:t>
            </a:r>
          </a:p>
        </p:txBody>
      </p:sp>
      <p:sp>
        <p:nvSpPr>
          <p:cNvPr id="12" name="Rounded Rectangle 11"/>
          <p:cNvSpPr/>
          <p:nvPr/>
        </p:nvSpPr>
        <p:spPr>
          <a:xfrm>
            <a:off x="3072384" y="2788920"/>
            <a:ext cx="1115568"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Consolas"/>
              </a:rPr>
              <a:t>PRICE_CHANGE</a:t>
            </a:r>
          </a:p>
        </p:txBody>
      </p:sp>
      <p:sp>
        <p:nvSpPr>
          <p:cNvPr id="13" name="Rounded Rectangle 12"/>
          <p:cNvSpPr/>
          <p:nvPr/>
        </p:nvSpPr>
        <p:spPr>
          <a:xfrm>
            <a:off x="4242816" y="2788920"/>
            <a:ext cx="1115568"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Consolas"/>
              </a:rPr>
              <a:t>EXPIRY_SOON</a:t>
            </a:r>
          </a:p>
        </p:txBody>
      </p:sp>
      <p:sp>
        <p:nvSpPr>
          <p:cNvPr id="14" name="Rounded Rectangle 13"/>
          <p:cNvSpPr/>
          <p:nvPr/>
        </p:nvSpPr>
        <p:spPr>
          <a:xfrm>
            <a:off x="5413248" y="2788920"/>
            <a:ext cx="1115568"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Consolas"/>
              </a:rPr>
              <a:t>SHRINKAGE</a:t>
            </a:r>
          </a:p>
        </p:txBody>
      </p:sp>
      <p:sp>
        <p:nvSpPr>
          <p:cNvPr id="15" name="Rounded Rectangle 14"/>
          <p:cNvSpPr/>
          <p:nvPr/>
        </p:nvSpPr>
        <p:spPr>
          <a:xfrm>
            <a:off x="731520" y="3310128"/>
            <a:ext cx="5806440" cy="512064"/>
          </a:xfrm>
          <a:prstGeom prst="roundRect">
            <a:avLst>
              <a:gd name="adj" fmla="val 9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60A5FA"/>
                </a:solidFill>
                <a:latin typeface="Segoe UI"/>
              </a:rPr>
              <a:t>→  </a:t>
            </a:r>
            <a:r>
              <a:rPr sz="1050" b="1">
                <a:solidFill>
                  <a:srgbClr val="F2F6FD"/>
                </a:solidFill>
                <a:latin typeface="Consolas"/>
              </a:rPr>
              <a:t>AlertService</a:t>
            </a:r>
            <a:r>
              <a:rPr sz="950" b="0">
                <a:solidFill>
                  <a:srgbClr val="6B7C9C"/>
                </a:solidFill>
                <a:latin typeface="Segoe UI"/>
              </a:rPr>
              <a:t>  — files it into the alerts feed</a:t>
            </a:r>
          </a:p>
        </p:txBody>
      </p:sp>
      <p:sp>
        <p:nvSpPr>
          <p:cNvPr id="16" name="Rounded Rectangle 15"/>
          <p:cNvSpPr/>
          <p:nvPr/>
        </p:nvSpPr>
        <p:spPr>
          <a:xfrm>
            <a:off x="731520" y="3913632"/>
            <a:ext cx="5806440" cy="512064"/>
          </a:xfrm>
          <a:prstGeom prst="roundRect">
            <a:avLst>
              <a:gd name="adj" fmla="val 9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60A5FA"/>
                </a:solidFill>
                <a:latin typeface="Segoe UI"/>
              </a:rPr>
              <a:t>→  </a:t>
            </a:r>
            <a:r>
              <a:rPr sz="1050" b="1">
                <a:solidFill>
                  <a:srgbClr val="F2F6FD"/>
                </a:solidFill>
                <a:latin typeface="Consolas"/>
              </a:rPr>
              <a:t>ReorderSuggestionObserver</a:t>
            </a:r>
            <a:r>
              <a:rPr sz="950" b="0">
                <a:solidFill>
                  <a:srgbClr val="6B7C9C"/>
                </a:solidFill>
                <a:latin typeface="Segoe UI"/>
              </a:rPr>
              <a:t>  — turns LOW_STOCK into restock hints</a:t>
            </a:r>
          </a:p>
        </p:txBody>
      </p:sp>
      <p:sp>
        <p:nvSpPr>
          <p:cNvPr id="17" name="Rounded Rectangle 16"/>
          <p:cNvSpPr/>
          <p:nvPr/>
        </p:nvSpPr>
        <p:spPr>
          <a:xfrm>
            <a:off x="731520" y="4517136"/>
            <a:ext cx="5806440" cy="512064"/>
          </a:xfrm>
          <a:prstGeom prst="roundRect">
            <a:avLst>
              <a:gd name="adj" fmla="val 9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60A5FA"/>
                </a:solidFill>
                <a:latin typeface="Segoe UI"/>
              </a:rPr>
              <a:t>→  </a:t>
            </a:r>
            <a:r>
              <a:rPr sz="1050" b="1">
                <a:solidFill>
                  <a:srgbClr val="F2F6FD"/>
                </a:solidFill>
                <a:latin typeface="Consolas"/>
              </a:rPr>
              <a:t>ExpiryWatcher</a:t>
            </a:r>
            <a:r>
              <a:rPr sz="950" b="0">
                <a:solidFill>
                  <a:srgbClr val="6B7C9C"/>
                </a:solidFill>
                <a:latin typeface="Segoe UI"/>
              </a:rPr>
              <a:t>  — sweeps batches about to expire</a:t>
            </a:r>
          </a:p>
        </p:txBody>
      </p:sp>
      <p:sp>
        <p:nvSpPr>
          <p:cNvPr id="18" name="TextBox 17"/>
          <p:cNvSpPr txBox="1"/>
          <p:nvPr/>
        </p:nvSpPr>
        <p:spPr>
          <a:xfrm>
            <a:off x="731520" y="5157216"/>
            <a:ext cx="5760720" cy="411480"/>
          </a:xfrm>
          <a:prstGeom prst="rect">
            <a:avLst/>
          </a:prstGeom>
          <a:noFill/>
        </p:spPr>
        <p:txBody>
          <a:bodyPr wrap="square" lIns="0" tIns="0" rIns="0" bIns="0" anchor="t">
            <a:spAutoFit/>
          </a:bodyPr>
          <a:lstStyle/>
          <a:p>
            <a:pPr algn="l">
              <a:lnSpc>
                <a:spcPct val="100000"/>
              </a:lnSpc>
            </a:pPr>
            <a:r>
              <a:rPr sz="1000" b="0">
                <a:solidFill>
                  <a:srgbClr val="9FB0CC"/>
                </a:solidFill>
                <a:latin typeface="Segoe UI"/>
              </a:rPr>
              <a:t>New listener tomorrow = one new observer class, zero changes to Product.</a:t>
            </a:r>
          </a:p>
        </p:txBody>
      </p:sp>
      <p:sp>
        <p:nvSpPr>
          <p:cNvPr id="19" name="Rounded Rectangle 18"/>
          <p:cNvSpPr/>
          <p:nvPr/>
        </p:nvSpPr>
        <p:spPr>
          <a:xfrm>
            <a:off x="6949440" y="1810512"/>
            <a:ext cx="4736592"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2DD4BF"/>
                </a:solidFill>
                <a:latin typeface="Segoe UI Semibold"/>
              </a:rPr>
              <a:t>ITERATOR — NAMED WALKS</a:t>
            </a:r>
          </a:p>
          <a:p>
            <a:pPr algn="l">
              <a:lnSpc>
                <a:spcPct val="100000"/>
              </a:lnSpc>
              <a:spcAft>
                <a:spcPts val="600"/>
              </a:spcAft>
            </a:pPr>
            <a:r>
              <a:rPr sz="1000" b="0">
                <a:solidFill>
                  <a:srgbClr val="9FB0CC"/>
                </a:solidFill>
                <a:latin typeface="Segoe UI"/>
              </a:rPr>
              <a:t>Four re-iterable walks over the same shelf:</a:t>
            </a:r>
          </a:p>
        </p:txBody>
      </p:sp>
      <p:sp>
        <p:nvSpPr>
          <p:cNvPr id="20" name="Rounded Rectangle 19"/>
          <p:cNvSpPr/>
          <p:nvPr/>
        </p:nvSpPr>
        <p:spPr>
          <a:xfrm>
            <a:off x="6949440" y="1810512"/>
            <a:ext cx="4736592" cy="73152"/>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ounded Rectangle 20"/>
          <p:cNvSpPr/>
          <p:nvPr/>
        </p:nvSpPr>
        <p:spPr>
          <a:xfrm>
            <a:off x="7178040" y="2834640"/>
            <a:ext cx="4279392" cy="512064"/>
          </a:xfrm>
          <a:prstGeom prst="roundRect">
            <a:avLst>
              <a:gd name="adj" fmla="val 9000"/>
            </a:avLst>
          </a:prstGeom>
          <a:solidFill>
            <a:srgbClr val="1E2E4D"/>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InStockIterator</a:t>
            </a:r>
            <a:r>
              <a:rPr sz="900" b="0">
                <a:solidFill>
                  <a:srgbClr val="6B7C9C"/>
                </a:solidFill>
                <a:latin typeface="Segoe UI"/>
              </a:rPr>
              <a:t>  — what can be sold now</a:t>
            </a:r>
          </a:p>
        </p:txBody>
      </p:sp>
      <p:sp>
        <p:nvSpPr>
          <p:cNvPr id="22" name="Rounded Rectangle 21"/>
          <p:cNvSpPr/>
          <p:nvPr/>
        </p:nvSpPr>
        <p:spPr>
          <a:xfrm>
            <a:off x="7178040" y="3456432"/>
            <a:ext cx="4279392" cy="512064"/>
          </a:xfrm>
          <a:prstGeom prst="roundRect">
            <a:avLst>
              <a:gd name="adj" fmla="val 9000"/>
            </a:avLst>
          </a:prstGeom>
          <a:solidFill>
            <a:srgbClr val="1E2E4D"/>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LowStockIterator</a:t>
            </a:r>
            <a:r>
              <a:rPr sz="900" b="0">
                <a:solidFill>
                  <a:srgbClr val="6B7C9C"/>
                </a:solidFill>
                <a:latin typeface="Segoe UI"/>
              </a:rPr>
              <a:t>  — what needs reordering</a:t>
            </a:r>
          </a:p>
        </p:txBody>
      </p:sp>
      <p:sp>
        <p:nvSpPr>
          <p:cNvPr id="23" name="Rounded Rectangle 22"/>
          <p:cNvSpPr/>
          <p:nvPr/>
        </p:nvSpPr>
        <p:spPr>
          <a:xfrm>
            <a:off x="7178040" y="4078224"/>
            <a:ext cx="4279392" cy="512064"/>
          </a:xfrm>
          <a:prstGeom prst="roundRect">
            <a:avLst>
              <a:gd name="adj" fmla="val 9000"/>
            </a:avLst>
          </a:prstGeom>
          <a:solidFill>
            <a:srgbClr val="1E2E4D"/>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ExpiringSoonIterator</a:t>
            </a:r>
            <a:r>
              <a:rPr sz="900" b="0">
                <a:solidFill>
                  <a:srgbClr val="6B7C9C"/>
                </a:solidFill>
                <a:latin typeface="Segoe UI"/>
              </a:rPr>
              <a:t>  — the 14-day watch list</a:t>
            </a:r>
          </a:p>
        </p:txBody>
      </p:sp>
      <p:sp>
        <p:nvSpPr>
          <p:cNvPr id="24" name="Rounded Rectangle 23"/>
          <p:cNvSpPr/>
          <p:nvPr/>
        </p:nvSpPr>
        <p:spPr>
          <a:xfrm>
            <a:off x="7178040" y="4700016"/>
            <a:ext cx="4279392" cy="512064"/>
          </a:xfrm>
          <a:prstGeom prst="roundRect">
            <a:avLst>
              <a:gd name="adj" fmla="val 9000"/>
            </a:avLst>
          </a:prstGeom>
          <a:solidFill>
            <a:srgbClr val="1E2E4D"/>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00" b="1">
                <a:solidFill>
                  <a:srgbClr val="F2F6FD"/>
                </a:solidFill>
                <a:latin typeface="Consolas"/>
              </a:rPr>
              <a:t>PriceRangeIterator</a:t>
            </a:r>
            <a:r>
              <a:rPr sz="900" b="0">
                <a:solidFill>
                  <a:srgbClr val="6B7C9C"/>
                </a:solidFill>
                <a:latin typeface="Segoe UI"/>
              </a:rPr>
              <a:t>  — for price editing</a:t>
            </a:r>
          </a:p>
        </p:txBody>
      </p:sp>
      <p:sp>
        <p:nvSpPr>
          <p:cNvPr id="25" name="TextBox 24"/>
          <p:cNvSpPr txBox="1"/>
          <p:nvPr/>
        </p:nvSpPr>
        <p:spPr>
          <a:xfrm>
            <a:off x="7178040" y="5340095"/>
            <a:ext cx="4279392" cy="731520"/>
          </a:xfrm>
          <a:prstGeom prst="rect">
            <a:avLst/>
          </a:prstGeom>
          <a:noFill/>
        </p:spPr>
        <p:txBody>
          <a:bodyPr wrap="square" lIns="0" tIns="0" rIns="0" bIns="0" anchor="t">
            <a:spAutoFit/>
          </a:bodyPr>
          <a:lstStyle/>
          <a:p>
            <a:pPr algn="l">
              <a:lnSpc>
                <a:spcPct val="108000"/>
              </a:lnSpc>
            </a:pPr>
            <a:r>
              <a:rPr sz="1000" b="0">
                <a:solidFill>
                  <a:srgbClr val="9FB0CC"/>
                </a:solidFill>
                <a:latin typeface="Segoe UI"/>
              </a:rPr>
              <a:t>The low-stock VIEW and the low-stock REPORT share one iterator — they can never disagree with each other.</a:t>
            </a:r>
          </a:p>
        </p:txBody>
      </p:sp>
      <p:sp>
        <p:nvSpPr>
          <p:cNvPr id="26" name="TextBox 25"/>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7" name="TextBox 26"/>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16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60"/>
                                        <p:tgtEl>
                                          <p:spTgt spid="19"/>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60"/>
                                        <p:tgtEl>
                                          <p:spTgt spid="20"/>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60"/>
                                        <p:tgtEl>
                                          <p:spTgt spid="18"/>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6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8" grpId="0"/>
      <p:bldP spid="19" grpId="0" animBg="1"/>
      <p:bldP spid="20" grpId="0" animBg="1"/>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A78B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A78B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A78BFA"/>
                </a:solidFill>
                <a:latin typeface="Segoe UI Semibold"/>
              </a:rPr>
              <a:t>SLIDE 17 · THE BILL ITSELF</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Composite + Visitor</a:t>
            </a:r>
          </a:p>
        </p:txBody>
      </p:sp>
      <p:sp>
        <p:nvSpPr>
          <p:cNvPr id="6" name="Rounded Rectangle 5"/>
          <p:cNvSpPr/>
          <p:nvPr/>
        </p:nvSpPr>
        <p:spPr>
          <a:xfrm>
            <a:off x="521207" y="1316736"/>
            <a:ext cx="658368" cy="4572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One line that stocks truthfully — and one traversal that feeds three outputs.</a:t>
            </a:r>
          </a:p>
        </p:txBody>
      </p:sp>
      <p:sp>
        <p:nvSpPr>
          <p:cNvPr id="8" name="Rounded Rectangle 7"/>
          <p:cNvSpPr/>
          <p:nvPr/>
        </p:nvSpPr>
        <p:spPr>
          <a:xfrm>
            <a:off x="502920" y="1810512"/>
            <a:ext cx="5486400"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FBBF24"/>
                </a:solidFill>
                <a:latin typeface="Segoe UI Semibold"/>
              </a:rPr>
              <a:t>COMPOSITE — THE EID HAMPER</a:t>
            </a:r>
          </a:p>
          <a:p>
            <a:pPr algn="l">
              <a:lnSpc>
                <a:spcPct val="100000"/>
              </a:lnSpc>
              <a:spcAft>
                <a:spcPts val="600"/>
              </a:spcAft>
            </a:pPr>
            <a:r>
              <a:rPr sz="1000" b="0">
                <a:solidFill>
                  <a:srgbClr val="9FB0CC"/>
                </a:solidFill>
                <a:latin typeface="Segoe UI"/>
              </a:rPr>
              <a:t>ComboProduct sells as ONE line — but stocks truthfully:</a:t>
            </a:r>
          </a:p>
        </p:txBody>
      </p:sp>
      <p:sp>
        <p:nvSpPr>
          <p:cNvPr id="9" name="Rounded Rectangle 8"/>
          <p:cNvSpPr/>
          <p:nvPr/>
        </p:nvSpPr>
        <p:spPr>
          <a:xfrm>
            <a:off x="502920" y="1810512"/>
            <a:ext cx="5486400"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2743200"/>
            <a:ext cx="5029200" cy="1371600"/>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spcAft>
                <a:spcPts val="200"/>
              </a:spcAft>
            </a:pPr>
            <a:r>
              <a:rPr sz="1100" b="1">
                <a:solidFill>
                  <a:srgbClr val="F2F6FD"/>
                </a:solidFill>
                <a:latin typeface="Segoe UI Semibold"/>
              </a:rPr>
              <a:t>Eid Hamper  (ComboProduct)</a:t>
            </a:r>
          </a:p>
          <a:p>
            <a:pPr algn="l">
              <a:lnSpc>
                <a:spcPct val="100000"/>
              </a:lnSpc>
              <a:spcAft>
                <a:spcPts val="200"/>
              </a:spcAft>
            </a:pPr>
            <a:r>
              <a:rPr sz="950" b="0">
                <a:solidFill>
                  <a:srgbClr val="6B7C9C"/>
                </a:solidFill>
                <a:latin typeface="Segoe UI"/>
              </a:rPr>
              <a:t>Teer Oil 1L  ·  Pran Ghee 500g  ·  Miner Water 1L — the components</a:t>
            </a:r>
          </a:p>
        </p:txBody>
      </p:sp>
      <p:sp>
        <p:nvSpPr>
          <p:cNvPr id="11" name="Rounded Rectangle 10"/>
          <p:cNvSpPr/>
          <p:nvPr/>
        </p:nvSpPr>
        <p:spPr>
          <a:xfrm>
            <a:off x="731520" y="4251960"/>
            <a:ext cx="5029200" cy="475488"/>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950" b="0">
                <a:solidFill>
                  <a:srgbClr val="9FB0CC"/>
                </a:solidFill>
                <a:latin typeface="Segoe UI"/>
              </a:rPr>
              <a:t>getStock() → scarcest component</a:t>
            </a:r>
          </a:p>
        </p:txBody>
      </p:sp>
      <p:sp>
        <p:nvSpPr>
          <p:cNvPr id="12" name="Rounded Rectangle 11"/>
          <p:cNvSpPr/>
          <p:nvPr/>
        </p:nvSpPr>
        <p:spPr>
          <a:xfrm>
            <a:off x="731520" y="4818888"/>
            <a:ext cx="5029200" cy="475488"/>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950" b="0">
                <a:solidFill>
                  <a:srgbClr val="9FB0CC"/>
                </a:solidFill>
                <a:latin typeface="Segoe UI"/>
              </a:rPr>
              <a:t>consume() → fans out to every part</a:t>
            </a:r>
          </a:p>
        </p:txBody>
      </p:sp>
      <p:sp>
        <p:nvSpPr>
          <p:cNvPr id="13" name="TextBox 12"/>
          <p:cNvSpPr txBox="1"/>
          <p:nvPr/>
        </p:nvSpPr>
        <p:spPr>
          <a:xfrm>
            <a:off x="731520" y="5440680"/>
            <a:ext cx="5029200" cy="457200"/>
          </a:xfrm>
          <a:prstGeom prst="rect">
            <a:avLst/>
          </a:prstGeom>
          <a:noFill/>
        </p:spPr>
        <p:txBody>
          <a:bodyPr wrap="square" lIns="0" tIns="0" rIns="0" bIns="0" anchor="t">
            <a:spAutoFit/>
          </a:bodyPr>
          <a:lstStyle/>
          <a:p>
            <a:pPr algn="l">
              <a:lnSpc>
                <a:spcPct val="100000"/>
              </a:lnSpc>
            </a:pPr>
            <a:r>
              <a:rPr sz="950" b="0">
                <a:solidFill>
                  <a:srgbClr val="6B7C9C"/>
                </a:solidFill>
                <a:latin typeface="Segoe UI"/>
              </a:rPr>
              <a:t>Combo-in-combo rejected — the tree stays one level deep, on purpose.</a:t>
            </a:r>
          </a:p>
        </p:txBody>
      </p:sp>
      <p:sp>
        <p:nvSpPr>
          <p:cNvPr id="14" name="Rounded Rectangle 13"/>
          <p:cNvSpPr/>
          <p:nvPr/>
        </p:nvSpPr>
        <p:spPr>
          <a:xfrm>
            <a:off x="6217920" y="1810512"/>
            <a:ext cx="5468112"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A78BFA"/>
                </a:solidFill>
                <a:latin typeface="Segoe UI Semibold"/>
              </a:rPr>
              <a:t>VISITOR — ONE TRAVERSAL, THREE OUTPUTS</a:t>
            </a:r>
          </a:p>
          <a:p>
            <a:pPr algn="l">
              <a:lnSpc>
                <a:spcPct val="100000"/>
              </a:lnSpc>
              <a:spcAft>
                <a:spcPts val="600"/>
              </a:spcAft>
            </a:pPr>
            <a:r>
              <a:rPr sz="1000" b="0">
                <a:solidFill>
                  <a:srgbClr val="9FB0CC"/>
                </a:solidFill>
                <a:latin typeface="Segoe UI"/>
              </a:rPr>
              <a:t>BillItemVisitor — 8 visit() overloads, double dispatch, zero instanceof:</a:t>
            </a:r>
          </a:p>
        </p:txBody>
      </p:sp>
      <p:sp>
        <p:nvSpPr>
          <p:cNvPr id="15" name="Rounded Rectangle 14"/>
          <p:cNvSpPr/>
          <p:nvPr/>
        </p:nvSpPr>
        <p:spPr>
          <a:xfrm>
            <a:off x="6217920" y="1810512"/>
            <a:ext cx="5468112" cy="7315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446520" y="2880360"/>
            <a:ext cx="4983480" cy="566928"/>
          </a:xfrm>
          <a:prstGeom prst="roundRect">
            <a:avLst>
              <a:gd name="adj" fmla="val 9000"/>
            </a:avLst>
          </a:prstGeom>
          <a:solidFill>
            <a:srgbClr val="1E2E4D"/>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50" b="1">
                <a:solidFill>
                  <a:srgbClr val="4ADE80"/>
                </a:solidFill>
                <a:latin typeface="Segoe UI"/>
              </a:rPr>
              <a:t>→  </a:t>
            </a:r>
            <a:r>
              <a:rPr sz="1050" b="1">
                <a:solidFill>
                  <a:srgbClr val="F2F6FD"/>
                </a:solidFill>
                <a:latin typeface="Consolas"/>
              </a:rPr>
              <a:t>VatVisitor</a:t>
            </a:r>
            <a:r>
              <a:rPr sz="950" b="0">
                <a:solidFill>
                  <a:srgbClr val="6B7C9C"/>
                </a:solidFill>
                <a:latin typeface="Segoe UI"/>
              </a:rPr>
              <a:t>  — output VAT per NBR rate slab</a:t>
            </a:r>
          </a:p>
        </p:txBody>
      </p:sp>
      <p:sp>
        <p:nvSpPr>
          <p:cNvPr id="17" name="Rounded Rectangle 16"/>
          <p:cNvSpPr/>
          <p:nvPr/>
        </p:nvSpPr>
        <p:spPr>
          <a:xfrm>
            <a:off x="6446520" y="3557015"/>
            <a:ext cx="4983480" cy="566928"/>
          </a:xfrm>
          <a:prstGeom prst="roundRect">
            <a:avLst>
              <a:gd name="adj" fmla="val 9000"/>
            </a:avLst>
          </a:prstGeom>
          <a:solidFill>
            <a:srgbClr val="1E2E4D"/>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50" b="1">
                <a:solidFill>
                  <a:srgbClr val="60A5FA"/>
                </a:solidFill>
                <a:latin typeface="Segoe UI"/>
              </a:rPr>
              <a:t>→  </a:t>
            </a:r>
            <a:r>
              <a:rPr sz="1050" b="1">
                <a:solidFill>
                  <a:srgbClr val="F2F6FD"/>
                </a:solidFill>
                <a:latin typeface="Consolas"/>
              </a:rPr>
              <a:t>ProfitVisitor</a:t>
            </a:r>
            <a:r>
              <a:rPr sz="950" b="0">
                <a:solidFill>
                  <a:srgbClr val="6B7C9C"/>
                </a:solidFill>
                <a:latin typeface="Segoe UI"/>
              </a:rPr>
              <a:t>  — margin = net of VAT − COGS</a:t>
            </a:r>
          </a:p>
        </p:txBody>
      </p:sp>
      <p:sp>
        <p:nvSpPr>
          <p:cNvPr id="18" name="Rounded Rectangle 17"/>
          <p:cNvSpPr/>
          <p:nvPr/>
        </p:nvSpPr>
        <p:spPr>
          <a:xfrm>
            <a:off x="6446520" y="4233672"/>
            <a:ext cx="4983480" cy="566928"/>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1050" b="1">
                <a:solidFill>
                  <a:srgbClr val="FBBF24"/>
                </a:solidFill>
                <a:latin typeface="Segoe UI"/>
              </a:rPr>
              <a:t>→  </a:t>
            </a:r>
            <a:r>
              <a:rPr sz="1050" b="1">
                <a:solidFill>
                  <a:srgbClr val="F2F6FD"/>
                </a:solidFill>
                <a:latin typeface="Consolas"/>
              </a:rPr>
              <a:t>ReceiptFormatterVisitor</a:t>
            </a:r>
            <a:r>
              <a:rPr sz="950" b="0">
                <a:solidFill>
                  <a:srgbClr val="6B7C9C"/>
                </a:solidFill>
                <a:latin typeface="Segoe UI"/>
              </a:rPr>
              <a:t>  — the 38-column thermal slip</a:t>
            </a:r>
          </a:p>
        </p:txBody>
      </p:sp>
      <p:sp>
        <p:nvSpPr>
          <p:cNvPr id="19" name="TextBox 18"/>
          <p:cNvSpPr txBox="1"/>
          <p:nvPr/>
        </p:nvSpPr>
        <p:spPr>
          <a:xfrm>
            <a:off x="6446520" y="4928616"/>
            <a:ext cx="4983480" cy="685800"/>
          </a:xfrm>
          <a:prstGeom prst="rect">
            <a:avLst/>
          </a:prstGeom>
          <a:noFill/>
        </p:spPr>
        <p:txBody>
          <a:bodyPr wrap="square" lIns="0" tIns="0" rIns="0" bIns="0" anchor="t">
            <a:spAutoFit/>
          </a:bodyPr>
          <a:lstStyle/>
          <a:p>
            <a:pPr algn="l">
              <a:lnSpc>
                <a:spcPct val="108000"/>
              </a:lnSpc>
            </a:pPr>
            <a:r>
              <a:rPr sz="1000" b="0">
                <a:solidFill>
                  <a:srgbClr val="9FB0CC"/>
                </a:solidFill>
                <a:latin typeface="Segoe UI"/>
              </a:rPr>
              <a:t>Same visitor also walks reloaded history — a reprint months later shows exactly what was charged.</a:t>
            </a:r>
          </a:p>
        </p:txBody>
      </p:sp>
      <p:sp>
        <p:nvSpPr>
          <p:cNvPr id="20" name="TextBox 19"/>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1" name="TextBox 20"/>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17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60"/>
                                        <p:tgtEl>
                                          <p:spTgt spid="14"/>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60"/>
                                        <p:tgtEl>
                                          <p:spTgt spid="15"/>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60"/>
                                        <p:tgtEl>
                                          <p:spTgt spid="13"/>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6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3" grpId="0"/>
      <p:bldP spid="14" grpId="0" animBg="1"/>
      <p:bldP spid="15" grpId="0" animBg="1"/>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87171">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87171">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87171"/>
                </a:solidFill>
                <a:latin typeface="Segoe UI Semibold"/>
              </a:rPr>
              <a:t>SLIDE 18 · GOVERNANCE</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Proxy + State</a:t>
            </a:r>
          </a:p>
        </p:txBody>
      </p:sp>
      <p:sp>
        <p:nvSpPr>
          <p:cNvPr id="6" name="Rounded Rectangle 5"/>
          <p:cNvSpPr/>
          <p:nvPr/>
        </p:nvSpPr>
        <p:spPr>
          <a:xfrm>
            <a:off x="521207" y="1316736"/>
            <a:ext cx="658368" cy="4572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Who may write — and which transitions are even possible.</a:t>
            </a:r>
          </a:p>
        </p:txBody>
      </p:sp>
      <p:sp>
        <p:nvSpPr>
          <p:cNvPr id="8" name="Rounded Rectangle 7"/>
          <p:cNvSpPr/>
          <p:nvPr/>
        </p:nvSpPr>
        <p:spPr>
          <a:xfrm>
            <a:off x="502920" y="1810512"/>
            <a:ext cx="5120640"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F87171"/>
                </a:solidFill>
                <a:latin typeface="Segoe UI Semibold"/>
              </a:rPr>
              <a:t>PROXY — THE ROLE WALL AT THE DATA LAYER</a:t>
            </a:r>
          </a:p>
        </p:txBody>
      </p:sp>
      <p:sp>
        <p:nvSpPr>
          <p:cNvPr id="9" name="Rounded Rectangle 8"/>
          <p:cNvSpPr/>
          <p:nvPr/>
        </p:nvSpPr>
        <p:spPr>
          <a:xfrm>
            <a:off x="502920" y="1810512"/>
            <a:ext cx="5120640" cy="73152"/>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2331720"/>
            <a:ext cx="4663440" cy="566928"/>
          </a:xfrm>
          <a:prstGeom prst="roundRect">
            <a:avLst>
              <a:gd name="adj" fmla="val 9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0">
                <a:solidFill>
                  <a:srgbClr val="9FB0CC"/>
                </a:solidFill>
                <a:latin typeface="Segoe UI"/>
              </a:rPr>
              <a:t>Cashier calls save()/delete()</a:t>
            </a:r>
          </a:p>
        </p:txBody>
      </p:sp>
      <p:sp>
        <p:nvSpPr>
          <p:cNvPr id="11" name="Rounded Rectangle 10"/>
          <p:cNvSpPr/>
          <p:nvPr/>
        </p:nvSpPr>
        <p:spPr>
          <a:xfrm>
            <a:off x="731520" y="3008376"/>
            <a:ext cx="4663440" cy="566928"/>
          </a:xfrm>
          <a:prstGeom prst="roundRect">
            <a:avLst>
              <a:gd name="adj" fmla="val 9000"/>
            </a:avLst>
          </a:prstGeom>
          <a:solidFill>
            <a:srgbClr val="1E2E4D"/>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1">
                <a:solidFill>
                  <a:srgbClr val="F2F6FD"/>
                </a:solidFill>
                <a:latin typeface="Consolas"/>
              </a:rPr>
              <a:t>RoleGuardProxy&lt;T&gt; wraps Repository</a:t>
            </a:r>
          </a:p>
        </p:txBody>
      </p:sp>
      <p:sp>
        <p:nvSpPr>
          <p:cNvPr id="12" name="Rounded Rectangle 11"/>
          <p:cNvSpPr/>
          <p:nvPr/>
        </p:nvSpPr>
        <p:spPr>
          <a:xfrm>
            <a:off x="731520" y="3685032"/>
            <a:ext cx="4663440" cy="566928"/>
          </a:xfrm>
          <a:prstGeom prst="roundRect">
            <a:avLst>
              <a:gd name="adj" fmla="val 9000"/>
            </a:avLst>
          </a:prstGeom>
          <a:solidFill>
            <a:srgbClr val="1E2E4D"/>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1">
                <a:solidFill>
                  <a:srgbClr val="F2F6FD"/>
                </a:solidFill>
                <a:latin typeface="Consolas"/>
              </a:rPr>
              <a:t>ProductWritePolicy checks role</a:t>
            </a:r>
          </a:p>
        </p:txBody>
      </p:sp>
      <p:sp>
        <p:nvSpPr>
          <p:cNvPr id="13" name="Rounded Rectangle 12"/>
          <p:cNvSpPr/>
          <p:nvPr/>
        </p:nvSpPr>
        <p:spPr>
          <a:xfrm>
            <a:off x="731520" y="4361688"/>
            <a:ext cx="4663440" cy="566928"/>
          </a:xfrm>
          <a:prstGeom prst="roundRect">
            <a:avLst>
              <a:gd name="adj" fmla="val 9000"/>
            </a:avLst>
          </a:prstGeom>
          <a:solidFill>
            <a:srgbClr val="2A1520"/>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00" b="0">
                <a:solidFill>
                  <a:srgbClr val="F2F6FD"/>
                </a:solidFill>
                <a:latin typeface="Segoe UI"/>
              </a:rPr>
              <a:t>AccessDeniedException — before the data moves</a:t>
            </a:r>
          </a:p>
        </p:txBody>
      </p:sp>
      <p:sp>
        <p:nvSpPr>
          <p:cNvPr id="14" name="TextBox 13"/>
          <p:cNvSpPr txBox="1"/>
          <p:nvPr/>
        </p:nvSpPr>
        <p:spPr>
          <a:xfrm>
            <a:off x="731520" y="5056632"/>
            <a:ext cx="4663440" cy="594360"/>
          </a:xfrm>
          <a:prstGeom prst="rect">
            <a:avLst/>
          </a:prstGeom>
          <a:noFill/>
        </p:spPr>
        <p:txBody>
          <a:bodyPr wrap="square" lIns="0" tIns="0" rIns="0" bIns="0" anchor="t">
            <a:spAutoFit/>
          </a:bodyPr>
          <a:lstStyle/>
          <a:p>
            <a:pPr algn="l">
              <a:lnSpc>
                <a:spcPct val="108000"/>
              </a:lnSpc>
            </a:pPr>
            <a:r>
              <a:rPr sz="1000" b="0">
                <a:solidFill>
                  <a:srgbClr val="9FB0CC"/>
                </a:solidFill>
                <a:latin typeface="Segoe UI"/>
              </a:rPr>
              <a:t>Reads pass through untouched. Even a buggy controller can't let a cashier mutate the catalog.</a:t>
            </a:r>
          </a:p>
        </p:txBody>
      </p:sp>
      <p:sp>
        <p:nvSpPr>
          <p:cNvPr id="15" name="Rounded Rectangle 14"/>
          <p:cNvSpPr/>
          <p:nvPr/>
        </p:nvSpPr>
        <p:spPr>
          <a:xfrm>
            <a:off x="5852160" y="1810512"/>
            <a:ext cx="5833872"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A78BFA"/>
                </a:solidFill>
                <a:latin typeface="Segoe UI Semibold"/>
              </a:rPr>
              <a:t>STATE — THE PO LIFECYCLE</a:t>
            </a:r>
          </a:p>
          <a:p>
            <a:pPr algn="l">
              <a:lnSpc>
                <a:spcPct val="100000"/>
              </a:lnSpc>
              <a:spcAft>
                <a:spcPts val="600"/>
              </a:spcAft>
            </a:pPr>
            <a:r>
              <a:rPr sz="1000" b="0">
                <a:solidFill>
                  <a:srgbClr val="9FB0CC"/>
                </a:solidFill>
                <a:latin typeface="Segoe UI"/>
              </a:rPr>
              <a:t>The rules live INSIDE the state objects — illegal transitions don't exist as methods:</a:t>
            </a:r>
          </a:p>
        </p:txBody>
      </p:sp>
      <p:sp>
        <p:nvSpPr>
          <p:cNvPr id="16" name="Rounded Rectangle 15"/>
          <p:cNvSpPr/>
          <p:nvPr/>
        </p:nvSpPr>
        <p:spPr>
          <a:xfrm>
            <a:off x="5852160" y="1810512"/>
            <a:ext cx="5833872" cy="7315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Pentagon 16"/>
          <p:cNvSpPr/>
          <p:nvPr/>
        </p:nvSpPr>
        <p:spPr>
          <a:xfrm>
            <a:off x="6080760" y="2788920"/>
            <a:ext cx="1210665" cy="603504"/>
          </a:xfrm>
          <a:prstGeom prst="homePlate">
            <a:avLst/>
          </a:prstGeom>
          <a:solidFill>
            <a:srgbClr val="A78BFA">
              <a:alpha val="30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850" b="1">
                <a:solidFill>
                  <a:srgbClr val="F2F6FD"/>
                </a:solidFill>
                <a:latin typeface="Segoe UI Semibold"/>
              </a:rPr>
              <a:t>DRAFT</a:t>
            </a:r>
          </a:p>
        </p:txBody>
      </p:sp>
      <p:sp>
        <p:nvSpPr>
          <p:cNvPr id="18" name="Chevron 17"/>
          <p:cNvSpPr/>
          <p:nvPr/>
        </p:nvSpPr>
        <p:spPr>
          <a:xfrm>
            <a:off x="7126833" y="2788920"/>
            <a:ext cx="1210665" cy="603504"/>
          </a:xfrm>
          <a:prstGeom prst="chevron">
            <a:avLst/>
          </a:prstGeom>
          <a:solidFill>
            <a:srgbClr val="A78BFA">
              <a:alpha val="38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850" b="1">
                <a:solidFill>
                  <a:srgbClr val="F2F6FD"/>
                </a:solidFill>
                <a:latin typeface="Segoe UI Semibold"/>
              </a:rPr>
              <a:t>ORDERED</a:t>
            </a:r>
          </a:p>
        </p:txBody>
      </p:sp>
      <p:sp>
        <p:nvSpPr>
          <p:cNvPr id="19" name="Chevron 18"/>
          <p:cNvSpPr/>
          <p:nvPr/>
        </p:nvSpPr>
        <p:spPr>
          <a:xfrm>
            <a:off x="8172907" y="2788920"/>
            <a:ext cx="1210665" cy="603504"/>
          </a:xfrm>
          <a:prstGeom prst="chevron">
            <a:avLst/>
          </a:prstGeom>
          <a:solidFill>
            <a:srgbClr val="A78BFA">
              <a:alpha val="46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850" b="1">
                <a:solidFill>
                  <a:srgbClr val="F2F6FD"/>
                </a:solidFill>
                <a:latin typeface="Segoe UI Semibold"/>
              </a:rPr>
              <a:t>PART. REC'D</a:t>
            </a:r>
          </a:p>
        </p:txBody>
      </p:sp>
      <p:sp>
        <p:nvSpPr>
          <p:cNvPr id="20" name="Chevron 19"/>
          <p:cNvSpPr/>
          <p:nvPr/>
        </p:nvSpPr>
        <p:spPr>
          <a:xfrm>
            <a:off x="9218980" y="2788920"/>
            <a:ext cx="1210665" cy="603504"/>
          </a:xfrm>
          <a:prstGeom prst="chevron">
            <a:avLst/>
          </a:prstGeom>
          <a:solidFill>
            <a:srgbClr val="A78BFA">
              <a:alpha val="54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850" b="1">
                <a:solidFill>
                  <a:srgbClr val="F2F6FD"/>
                </a:solidFill>
                <a:latin typeface="Segoe UI Semibold"/>
              </a:rPr>
              <a:t>RECEIVED</a:t>
            </a:r>
          </a:p>
        </p:txBody>
      </p:sp>
      <p:sp>
        <p:nvSpPr>
          <p:cNvPr id="21" name="Chevron 20"/>
          <p:cNvSpPr/>
          <p:nvPr/>
        </p:nvSpPr>
        <p:spPr>
          <a:xfrm>
            <a:off x="10265054" y="2788920"/>
            <a:ext cx="1210665" cy="603504"/>
          </a:xfrm>
          <a:prstGeom prst="chevron">
            <a:avLst/>
          </a:prstGeom>
          <a:solidFill>
            <a:srgbClr val="A78BFA">
              <a:alpha val="62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46304" rIns="45720" rtlCol="0" anchor="ctr"/>
          <a:lstStyle/>
          <a:p>
            <a:pPr algn="ctr"/>
            <a:r>
              <a:rPr sz="850" b="1">
                <a:solidFill>
                  <a:srgbClr val="F2F6FD"/>
                </a:solidFill>
                <a:latin typeface="Segoe UI Semibold"/>
              </a:rPr>
              <a:t>CLOSED</a:t>
            </a:r>
          </a:p>
        </p:txBody>
      </p:sp>
      <p:sp>
        <p:nvSpPr>
          <p:cNvPr id="22" name="Rounded Rectangle 21"/>
          <p:cNvSpPr/>
          <p:nvPr/>
        </p:nvSpPr>
        <p:spPr>
          <a:xfrm>
            <a:off x="7863840" y="3584448"/>
            <a:ext cx="2011680" cy="329184"/>
          </a:xfrm>
          <a:prstGeom prst="roundRect">
            <a:avLst>
              <a:gd name="adj" fmla="val 50000"/>
            </a:avLst>
          </a:prstGeom>
          <a:solidFill>
            <a:srgbClr val="18263F"/>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F87171"/>
                </a:solidFill>
                <a:latin typeface="Segoe UI Semibold"/>
              </a:rPr>
              <a:t>CANCELLED</a:t>
            </a:r>
          </a:p>
        </p:txBody>
      </p:sp>
      <p:sp>
        <p:nvSpPr>
          <p:cNvPr id="23" name="Rounded Rectangle 22"/>
          <p:cNvSpPr/>
          <p:nvPr/>
        </p:nvSpPr>
        <p:spPr>
          <a:xfrm>
            <a:off x="6080760" y="4114800"/>
            <a:ext cx="5394960" cy="45720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50" b="1">
                <a:solidFill>
                  <a:srgbClr val="4ADE80"/>
                </a:solidFill>
                <a:latin typeface="Segoe UI"/>
              </a:rPr>
              <a:t>✓  </a:t>
            </a:r>
          </a:p>
          <a:p>
            <a:pPr algn="l">
              <a:lnSpc>
                <a:spcPct val="100000"/>
              </a:lnSpc>
            </a:pPr>
            <a:r>
              <a:rPr sz="950" b="0">
                <a:solidFill>
                  <a:srgbClr val="9FB0CC"/>
                </a:solidFill>
                <a:latin typeface="Segoe UI"/>
              </a:rPr>
              <a:t>a DRAFT physically cannot be received</a:t>
            </a:r>
          </a:p>
        </p:txBody>
      </p:sp>
      <p:sp>
        <p:nvSpPr>
          <p:cNvPr id="24" name="Rounded Rectangle 23"/>
          <p:cNvSpPr/>
          <p:nvPr/>
        </p:nvSpPr>
        <p:spPr>
          <a:xfrm>
            <a:off x="6080760" y="4663440"/>
            <a:ext cx="5394960" cy="45720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50" b="1">
                <a:solidFill>
                  <a:srgbClr val="4ADE80"/>
                </a:solidFill>
                <a:latin typeface="Segoe UI"/>
              </a:rPr>
              <a:t>✓  </a:t>
            </a:r>
          </a:p>
          <a:p>
            <a:pPr algn="l">
              <a:lnSpc>
                <a:spcPct val="100000"/>
              </a:lnSpc>
            </a:pPr>
            <a:r>
              <a:rPr sz="950" b="0">
                <a:solidFill>
                  <a:srgbClr val="9FB0CC"/>
                </a:solidFill>
                <a:latin typeface="Segoe UI"/>
              </a:rPr>
              <a:t>a CLOSED PO cannot be cancelled</a:t>
            </a:r>
          </a:p>
        </p:txBody>
      </p:sp>
      <p:sp>
        <p:nvSpPr>
          <p:cNvPr id="25" name="Rounded Rectangle 24"/>
          <p:cNvSpPr/>
          <p:nvPr/>
        </p:nvSpPr>
        <p:spPr>
          <a:xfrm>
            <a:off x="6080760" y="5212079"/>
            <a:ext cx="5394960" cy="45720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50" b="1">
                <a:solidFill>
                  <a:srgbClr val="4ADE80"/>
                </a:solidFill>
                <a:latin typeface="Segoe UI"/>
              </a:rPr>
              <a:t>✓  </a:t>
            </a:r>
          </a:p>
          <a:p>
            <a:pPr algn="l">
              <a:lnSpc>
                <a:spcPct val="100000"/>
              </a:lnSpc>
            </a:pPr>
            <a:r>
              <a:rPr sz="950" b="0">
                <a:solidFill>
                  <a:srgbClr val="9FB0CC"/>
                </a:solidFill>
                <a:latin typeface="Segoe UI"/>
              </a:rPr>
              <a:t>a terminal state stays terminal</a:t>
            </a:r>
          </a:p>
        </p:txBody>
      </p:sp>
      <p:sp>
        <p:nvSpPr>
          <p:cNvPr id="26" name="TextBox 25"/>
          <p:cNvSpPr txBox="1"/>
          <p:nvPr/>
        </p:nvSpPr>
        <p:spPr>
          <a:xfrm>
            <a:off x="6080760" y="5760719"/>
            <a:ext cx="5394960" cy="411480"/>
          </a:xfrm>
          <a:prstGeom prst="rect">
            <a:avLst/>
          </a:prstGeom>
          <a:noFill/>
        </p:spPr>
        <p:txBody>
          <a:bodyPr wrap="square" lIns="0" tIns="0" rIns="0" bIns="0" anchor="t">
            <a:spAutoFit/>
          </a:bodyPr>
          <a:lstStyle/>
          <a:p>
            <a:pPr algn="l">
              <a:lnSpc>
                <a:spcPct val="105000"/>
              </a:lnSpc>
            </a:pPr>
            <a:r>
              <a:rPr sz="950" b="0">
                <a:solidFill>
                  <a:srgbClr val="6B7C9C"/>
                </a:solidFill>
                <a:latin typeface="Segoe UI"/>
              </a:rPr>
              <a:t>Meanwhile a sale's status is a plain enum — sales have no per-status behavior. Honest asymmetry.</a:t>
            </a:r>
          </a:p>
        </p:txBody>
      </p:sp>
      <p:sp>
        <p:nvSpPr>
          <p:cNvPr id="27" name="TextBox 26"/>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8" name="TextBox 27"/>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18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60"/>
                                        <p:tgtEl>
                                          <p:spTgt spid="15"/>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60"/>
                                        <p:tgtEl>
                                          <p:spTgt spid="16"/>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60"/>
                                        <p:tgtEl>
                                          <p:spTgt spid="17"/>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60"/>
                                        <p:tgtEl>
                                          <p:spTgt spid="18"/>
                                        </p:tgtEl>
                                      </p:cBhvr>
                                    </p:animEffect>
                                  </p:childTnLst>
                                </p:cTn>
                              </p:par>
                              <p:par>
                                <p:cTn id="35" presetID="10" presetClass="entr" presetSubtype="0" fill="hold" grpId="0" nodeType="withEffect">
                                  <p:stCondLst>
                                    <p:cond delay="84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60"/>
                                        <p:tgtEl>
                                          <p:spTgt spid="19"/>
                                        </p:tgtEl>
                                      </p:cBhvr>
                                    </p:animEffect>
                                  </p:childTnLst>
                                </p:cTn>
                              </p:par>
                              <p:par>
                                <p:cTn id="38" presetID="10" presetClass="entr" presetSubtype="0" fill="hold" grpId="0" nodeType="withEffect">
                                  <p:stCondLst>
                                    <p:cond delay="84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60"/>
                                        <p:tgtEl>
                                          <p:spTgt spid="20"/>
                                        </p:tgtEl>
                                      </p:cBhvr>
                                    </p:animEffect>
                                  </p:childTnLst>
                                </p:cTn>
                              </p:par>
                              <p:par>
                                <p:cTn id="41" presetID="10" presetClass="entr" presetSubtype="0" fill="hold" grpId="0" nodeType="withEffect">
                                  <p:stCondLst>
                                    <p:cond delay="84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60"/>
                                        <p:tgtEl>
                                          <p:spTgt spid="21"/>
                                        </p:tgtEl>
                                      </p:cBhvr>
                                    </p:animEffect>
                                  </p:childTnLst>
                                </p:cTn>
                              </p:par>
                              <p:par>
                                <p:cTn id="44" presetID="10" presetClass="entr" presetSubtype="0" fill="hold" grpId="0" nodeType="withEffect">
                                  <p:stCondLst>
                                    <p:cond delay="84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60"/>
                                        <p:tgtEl>
                                          <p:spTgt spid="22"/>
                                        </p:tgtEl>
                                      </p:cBhvr>
                                    </p:animEffect>
                                  </p:childTnLst>
                                </p:cTn>
                              </p:par>
                              <p:par>
                                <p:cTn id="47" presetID="10" presetClass="entr" presetSubtype="0" fill="hold" grpId="0" nodeType="withEffect">
                                  <p:stCondLst>
                                    <p:cond delay="112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60"/>
                                        <p:tgtEl>
                                          <p:spTgt spid="14"/>
                                        </p:tgtEl>
                                      </p:cBhvr>
                                    </p:animEffect>
                                  </p:childTnLst>
                                </p:cTn>
                              </p:par>
                              <p:par>
                                <p:cTn id="50" presetID="10" presetClass="entr" presetSubtype="0" fill="hold" grpId="0" nodeType="withEffect">
                                  <p:stCondLst>
                                    <p:cond delay="112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6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4" grpId="0"/>
      <p:bldP spid="15" grpId="0" animBg="1"/>
      <p:bldP spid="16" grpId="0" animBg="1"/>
      <p:bldP spid="17" grpId="0" animBg="1"/>
      <p:bldP spid="18" grpId="0" animBg="1"/>
      <p:bldP spid="19" grpId="0" animBg="1"/>
      <p:bldP spid="20" grpId="0" animBg="1"/>
      <p:bldP spid="21" grpId="0" animBg="1"/>
      <p:bldP spid="22" grpId="0" animBg="1"/>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4ADE80">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4ADE8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4ADE80"/>
                </a:solidFill>
                <a:latin typeface="Segoe UI Semibold"/>
              </a:rPr>
              <a:t>SLIDE 19 · REPORTS &amp; UNDO</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Template Method + Memento</a:t>
            </a:r>
          </a:p>
        </p:txBody>
      </p:sp>
      <p:sp>
        <p:nvSpPr>
          <p:cNvPr id="6" name="Rounded Rectangle 5"/>
          <p:cNvSpPr/>
          <p:nvPr/>
        </p:nvSpPr>
        <p:spPr>
          <a:xfrm>
            <a:off x="521207" y="1316736"/>
            <a:ext cx="658368" cy="4572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Eight reports from one skeleton — and a cashier safety net, ten deep.</a:t>
            </a:r>
          </a:p>
        </p:txBody>
      </p:sp>
      <p:sp>
        <p:nvSpPr>
          <p:cNvPr id="8" name="Rounded Rectangle 7"/>
          <p:cNvSpPr/>
          <p:nvPr/>
        </p:nvSpPr>
        <p:spPr>
          <a:xfrm>
            <a:off x="502920" y="1810512"/>
            <a:ext cx="6263640"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4ADE80"/>
                </a:solidFill>
                <a:latin typeface="Segoe UI Semibold"/>
              </a:rPr>
              <a:t>TEMPLATE METHOD — ONE SKELETON, EIGHT REPORTS</a:t>
            </a:r>
          </a:p>
          <a:p>
            <a:pPr algn="l">
              <a:lnSpc>
                <a:spcPct val="100000"/>
              </a:lnSpc>
              <a:spcAft>
                <a:spcPts val="600"/>
              </a:spcAft>
            </a:pPr>
            <a:r>
              <a:rPr sz="1000" b="0">
                <a:solidFill>
                  <a:srgbClr val="9FB0CC"/>
                </a:solidFill>
                <a:latin typeface="Segoe UI"/>
              </a:rPr>
              <a:t>AbstractReportGenerator.generate() is FINAL — pull sales in range, aggregate, format. Each report fills 3 hooks:</a:t>
            </a:r>
          </a:p>
        </p:txBody>
      </p:sp>
      <p:sp>
        <p:nvSpPr>
          <p:cNvPr id="9" name="Rounded Rectangle 8"/>
          <p:cNvSpPr/>
          <p:nvPr/>
        </p:nvSpPr>
        <p:spPr>
          <a:xfrm>
            <a:off x="502920" y="1810512"/>
            <a:ext cx="6263640" cy="73152"/>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2834640"/>
            <a:ext cx="1783080" cy="329184"/>
          </a:xfrm>
          <a:prstGeom prst="roundRect">
            <a:avLst>
              <a:gd name="adj" fmla="val 50000"/>
            </a:avLst>
          </a:prstGeom>
          <a:solidFill>
            <a:srgbClr val="18263F"/>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4ADE80"/>
                </a:solidFill>
                <a:latin typeface="Consolas"/>
              </a:rPr>
              <a:t>name()</a:t>
            </a:r>
          </a:p>
        </p:txBody>
      </p:sp>
      <p:sp>
        <p:nvSpPr>
          <p:cNvPr id="11" name="Rounded Rectangle 10"/>
          <p:cNvSpPr/>
          <p:nvPr/>
        </p:nvSpPr>
        <p:spPr>
          <a:xfrm>
            <a:off x="2606039" y="2834640"/>
            <a:ext cx="1783080" cy="329184"/>
          </a:xfrm>
          <a:prstGeom prst="roundRect">
            <a:avLst>
              <a:gd name="adj" fmla="val 50000"/>
            </a:avLst>
          </a:prstGeom>
          <a:solidFill>
            <a:srgbClr val="18263F"/>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4ADE80"/>
                </a:solidFill>
                <a:latin typeface="Consolas"/>
              </a:rPr>
              <a:t>headers()</a:t>
            </a:r>
          </a:p>
        </p:txBody>
      </p:sp>
      <p:sp>
        <p:nvSpPr>
          <p:cNvPr id="12" name="Rounded Rectangle 11"/>
          <p:cNvSpPr/>
          <p:nvPr/>
        </p:nvSpPr>
        <p:spPr>
          <a:xfrm>
            <a:off x="4480559" y="2834640"/>
            <a:ext cx="1783080" cy="329184"/>
          </a:xfrm>
          <a:prstGeom prst="roundRect">
            <a:avLst>
              <a:gd name="adj" fmla="val 50000"/>
            </a:avLst>
          </a:prstGeom>
          <a:solidFill>
            <a:srgbClr val="18263F"/>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4ADE80"/>
                </a:solidFill>
                <a:latin typeface="Consolas"/>
              </a:rPr>
              <a:t>aggregate(List&lt;Sale&gt;)</a:t>
            </a:r>
          </a:p>
        </p:txBody>
      </p:sp>
      <p:sp>
        <p:nvSpPr>
          <p:cNvPr id="13" name="Rounded Rectangle 12"/>
          <p:cNvSpPr/>
          <p:nvPr/>
        </p:nvSpPr>
        <p:spPr>
          <a:xfrm>
            <a:off x="731520" y="3429000"/>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Daily Sales</a:t>
            </a:r>
          </a:p>
        </p:txBody>
      </p:sp>
      <p:sp>
        <p:nvSpPr>
          <p:cNvPr id="14" name="Rounded Rectangle 13"/>
          <p:cNvSpPr/>
          <p:nvPr/>
        </p:nvSpPr>
        <p:spPr>
          <a:xfrm>
            <a:off x="2176272" y="3429000"/>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Best Sellers</a:t>
            </a:r>
          </a:p>
        </p:txBody>
      </p:sp>
      <p:sp>
        <p:nvSpPr>
          <p:cNvPr id="15" name="Rounded Rectangle 14"/>
          <p:cNvSpPr/>
          <p:nvPr/>
        </p:nvSpPr>
        <p:spPr>
          <a:xfrm>
            <a:off x="3621024" y="3429000"/>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Profit</a:t>
            </a:r>
          </a:p>
        </p:txBody>
      </p:sp>
      <p:sp>
        <p:nvSpPr>
          <p:cNvPr id="16" name="Rounded Rectangle 15"/>
          <p:cNvSpPr/>
          <p:nvPr/>
        </p:nvSpPr>
        <p:spPr>
          <a:xfrm>
            <a:off x="5065776" y="3429000"/>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VAT Summary</a:t>
            </a:r>
          </a:p>
        </p:txBody>
      </p:sp>
      <p:sp>
        <p:nvSpPr>
          <p:cNvPr id="17" name="Rounded Rectangle 16"/>
          <p:cNvSpPr/>
          <p:nvPr/>
        </p:nvSpPr>
        <p:spPr>
          <a:xfrm>
            <a:off x="731520" y="3813048"/>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Returns</a:t>
            </a:r>
          </a:p>
        </p:txBody>
      </p:sp>
      <p:sp>
        <p:nvSpPr>
          <p:cNvPr id="18" name="Rounded Rectangle 17"/>
          <p:cNvSpPr/>
          <p:nvPr/>
        </p:nvSpPr>
        <p:spPr>
          <a:xfrm>
            <a:off x="2176272" y="3813048"/>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Staff Perf.</a:t>
            </a:r>
          </a:p>
        </p:txBody>
      </p:sp>
      <p:sp>
        <p:nvSpPr>
          <p:cNvPr id="19" name="Rounded Rectangle 18"/>
          <p:cNvSpPr/>
          <p:nvPr/>
        </p:nvSpPr>
        <p:spPr>
          <a:xfrm>
            <a:off x="3621024" y="3813048"/>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Low Stock</a:t>
            </a:r>
          </a:p>
        </p:txBody>
      </p:sp>
      <p:sp>
        <p:nvSpPr>
          <p:cNvPr id="20" name="Rounded Rectangle 19"/>
          <p:cNvSpPr/>
          <p:nvPr/>
        </p:nvSpPr>
        <p:spPr>
          <a:xfrm>
            <a:off x="5065776" y="3813048"/>
            <a:ext cx="1371600" cy="310896"/>
          </a:xfrm>
          <a:prstGeom prst="roundRect">
            <a:avLst>
              <a:gd name="adj" fmla="val 50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750" b="1">
                <a:solidFill>
                  <a:srgbClr val="60A5FA"/>
                </a:solidFill>
                <a:latin typeface="Segoe UI Semibold"/>
              </a:rPr>
              <a:t>Expiry</a:t>
            </a:r>
          </a:p>
        </p:txBody>
      </p:sp>
      <p:sp>
        <p:nvSpPr>
          <p:cNvPr id="21" name="Rounded Rectangle 20"/>
          <p:cNvSpPr/>
          <p:nvPr/>
        </p:nvSpPr>
        <p:spPr>
          <a:xfrm>
            <a:off x="731520" y="4526280"/>
            <a:ext cx="5806440" cy="731520"/>
          </a:xfrm>
          <a:prstGeom prst="roundRect">
            <a:avLst>
              <a:gd name="adj" fmla="val 9000"/>
            </a:avLst>
          </a:prstGeom>
          <a:solidFill>
            <a:srgbClr val="14213A"/>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ctr"/>
          <a:lstStyle/>
          <a:p>
            <a:pPr algn="l">
              <a:lnSpc>
                <a:spcPct val="100000"/>
              </a:lnSpc>
            </a:pPr>
            <a:r>
              <a:rPr sz="1000" b="1">
                <a:solidFill>
                  <a:srgbClr val="F2F6FD"/>
                </a:solidFill>
                <a:latin typeface="Segoe UI Semibold"/>
              </a:rPr>
              <a:t>The invariant lives once:  </a:t>
            </a:r>
            <a:r>
              <a:rPr sz="1000" b="0">
                <a:solidFill>
                  <a:srgbClr val="9FB0CC"/>
                </a:solidFill>
                <a:latin typeface="Segoe UI"/>
              </a:rPr>
              <a:t>"VOIDED never counts as revenue" — decided in the base class, inherited by all 8.</a:t>
            </a:r>
          </a:p>
        </p:txBody>
      </p:sp>
      <p:sp>
        <p:nvSpPr>
          <p:cNvPr id="22" name="TextBox 21"/>
          <p:cNvSpPr txBox="1"/>
          <p:nvPr/>
        </p:nvSpPr>
        <p:spPr>
          <a:xfrm>
            <a:off x="731520" y="5394960"/>
            <a:ext cx="5760720" cy="457200"/>
          </a:xfrm>
          <a:prstGeom prst="rect">
            <a:avLst/>
          </a:prstGeom>
          <a:noFill/>
        </p:spPr>
        <p:txBody>
          <a:bodyPr wrap="square" lIns="0" tIns="0" rIns="0" bIns="0" anchor="t">
            <a:spAutoFit/>
          </a:bodyPr>
          <a:lstStyle/>
          <a:p>
            <a:pPr algn="l">
              <a:lnSpc>
                <a:spcPct val="100000"/>
              </a:lnSpc>
            </a:pPr>
            <a:r>
              <a:rPr sz="1000" b="0">
                <a:solidFill>
                  <a:srgbClr val="9FB0CC"/>
                </a:solidFill>
                <a:latin typeface="Segoe UI"/>
              </a:rPr>
              <a:t>A new report is 3 hooks — never a copy-pasted loop.</a:t>
            </a:r>
          </a:p>
        </p:txBody>
      </p:sp>
      <p:sp>
        <p:nvSpPr>
          <p:cNvPr id="23" name="Rounded Rectangle 22"/>
          <p:cNvSpPr/>
          <p:nvPr/>
        </p:nvSpPr>
        <p:spPr>
          <a:xfrm>
            <a:off x="6949440" y="1810512"/>
            <a:ext cx="4736592" cy="4206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0000"/>
              </a:lnSpc>
              <a:spcAft>
                <a:spcPts val="600"/>
              </a:spcAft>
            </a:pPr>
            <a:r>
              <a:rPr sz="1100" b="1">
                <a:solidFill>
                  <a:srgbClr val="FBBF24"/>
                </a:solidFill>
                <a:latin typeface="Segoe UI Semibold"/>
              </a:rPr>
              <a:t>MEMENTO — THE UNDO BUTTON</a:t>
            </a:r>
          </a:p>
          <a:p>
            <a:pPr algn="l">
              <a:lnSpc>
                <a:spcPct val="100000"/>
              </a:lnSpc>
              <a:spcAft>
                <a:spcPts val="600"/>
              </a:spcAft>
            </a:pPr>
            <a:r>
              <a:rPr sz="1000" b="0">
                <a:solidFill>
                  <a:srgbClr val="9FB0CC"/>
                </a:solidFill>
                <a:latin typeface="Segoe UI"/>
              </a:rPr>
              <a:t>Before every destructive edit, BillingSession snapshots the bill into an opaque BillMemento — a Deque, 10 deep:</a:t>
            </a:r>
          </a:p>
        </p:txBody>
      </p:sp>
      <p:sp>
        <p:nvSpPr>
          <p:cNvPr id="24" name="Rounded Rectangle 23"/>
          <p:cNvSpPr/>
          <p:nvPr/>
        </p:nvSpPr>
        <p:spPr>
          <a:xfrm>
            <a:off x="6949440" y="1810512"/>
            <a:ext cx="4736592"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24"/>
          <p:cNvSpPr/>
          <p:nvPr/>
        </p:nvSpPr>
        <p:spPr>
          <a:xfrm>
            <a:off x="7178040" y="3017520"/>
            <a:ext cx="4279392" cy="402336"/>
          </a:xfrm>
          <a:prstGeom prst="roundRect">
            <a:avLst>
              <a:gd name="adj" fmla="val 9000"/>
            </a:avLst>
          </a:prstGeom>
          <a:solidFill>
            <a:srgbClr val="1E2E4D"/>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00" b="0">
                <a:solidFill>
                  <a:srgbClr val="F2F6FD"/>
                </a:solidFill>
                <a:latin typeface="Consolas"/>
              </a:rPr>
              <a:t>snapshot #10</a:t>
            </a:r>
          </a:p>
        </p:txBody>
      </p:sp>
      <p:sp>
        <p:nvSpPr>
          <p:cNvPr id="26" name="Rounded Rectangle 25"/>
          <p:cNvSpPr/>
          <p:nvPr/>
        </p:nvSpPr>
        <p:spPr>
          <a:xfrm>
            <a:off x="7178040" y="3511296"/>
            <a:ext cx="4279392" cy="402336"/>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00" b="0">
                <a:solidFill>
                  <a:srgbClr val="6B7C9C"/>
                </a:solidFill>
                <a:latin typeface="Consolas"/>
              </a:rPr>
              <a:t>snapshot #9</a:t>
            </a:r>
          </a:p>
        </p:txBody>
      </p:sp>
      <p:sp>
        <p:nvSpPr>
          <p:cNvPr id="27" name="Rounded Rectangle 26"/>
          <p:cNvSpPr/>
          <p:nvPr/>
        </p:nvSpPr>
        <p:spPr>
          <a:xfrm>
            <a:off x="7178040" y="4005072"/>
            <a:ext cx="4279392" cy="402336"/>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00" b="0">
                <a:solidFill>
                  <a:srgbClr val="6B7C9C"/>
                </a:solidFill>
                <a:latin typeface="Consolas"/>
              </a:rPr>
              <a:t>snapshot #8</a:t>
            </a:r>
          </a:p>
        </p:txBody>
      </p:sp>
      <p:sp>
        <p:nvSpPr>
          <p:cNvPr id="28" name="Rounded Rectangle 27"/>
          <p:cNvSpPr/>
          <p:nvPr/>
        </p:nvSpPr>
        <p:spPr>
          <a:xfrm>
            <a:off x="7178040" y="4498848"/>
            <a:ext cx="4279392" cy="402336"/>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00000"/>
              </a:lnSpc>
            </a:pPr>
            <a:r>
              <a:rPr sz="900" b="0">
                <a:solidFill>
                  <a:srgbClr val="6B7C9C"/>
                </a:solidFill>
                <a:latin typeface="Consolas"/>
              </a:rPr>
              <a:t>snapshot #7</a:t>
            </a:r>
          </a:p>
        </p:txBody>
      </p:sp>
      <p:sp>
        <p:nvSpPr>
          <p:cNvPr id="29" name="Rounded Rectangle 28"/>
          <p:cNvSpPr/>
          <p:nvPr/>
        </p:nvSpPr>
        <p:spPr>
          <a:xfrm>
            <a:off x="7178040" y="4992624"/>
            <a:ext cx="4279392" cy="365760"/>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850" b="1">
                <a:solidFill>
                  <a:srgbClr val="FBBF24"/>
                </a:solidFill>
                <a:latin typeface="Consolas"/>
              </a:rPr>
              <a:t>undo()  →  restoreInto(bill)  —  one tap, exact state</a:t>
            </a:r>
          </a:p>
        </p:txBody>
      </p:sp>
      <p:sp>
        <p:nvSpPr>
          <p:cNvPr id="30" name="TextBox 29"/>
          <p:cNvSpPr txBox="1"/>
          <p:nvPr/>
        </p:nvSpPr>
        <p:spPr>
          <a:xfrm>
            <a:off x="7178040" y="5449824"/>
            <a:ext cx="4279392" cy="548640"/>
          </a:xfrm>
          <a:prstGeom prst="rect">
            <a:avLst/>
          </a:prstGeom>
          <a:noFill/>
        </p:spPr>
        <p:txBody>
          <a:bodyPr wrap="square" lIns="0" tIns="0" rIns="0" bIns="0" anchor="t">
            <a:spAutoFit/>
          </a:bodyPr>
          <a:lstStyle/>
          <a:p>
            <a:pPr algn="l">
              <a:lnSpc>
                <a:spcPct val="108000"/>
              </a:lnSpc>
            </a:pPr>
            <a:r>
              <a:rPr sz="1000" b="0">
                <a:solidFill>
                  <a:srgbClr val="9FB0CC"/>
                </a:solidFill>
                <a:latin typeface="Segoe UI"/>
              </a:rPr>
              <a:t>The bill doesn't know how it's remembered — encapsulation is the point.</a:t>
            </a:r>
          </a:p>
        </p:txBody>
      </p:sp>
      <p:sp>
        <p:nvSpPr>
          <p:cNvPr id="31" name="TextBox 30"/>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32" name="TextBox 31"/>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19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60"/>
                                        <p:tgtEl>
                                          <p:spTgt spid="23"/>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60"/>
                                        <p:tgtEl>
                                          <p:spTgt spid="24"/>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60"/>
                                        <p:tgtEl>
                                          <p:spTgt spid="21"/>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60"/>
                                        <p:tgtEl>
                                          <p:spTgt spid="29"/>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60"/>
                                        <p:tgtEl>
                                          <p:spTgt spid="22"/>
                                        </p:tgtEl>
                                      </p:cBhvr>
                                    </p:animEffect>
                                  </p:childTnLst>
                                </p:cTn>
                              </p:par>
                              <p:par>
                                <p:cTn id="38" presetID="10" presetClass="entr" presetSubtype="0" fill="hold" grpId="0" nodeType="withEffect">
                                  <p:stCondLst>
                                    <p:cond delay="112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6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21" grpId="0" animBg="1"/>
      <p:bldP spid="22" grpId="0"/>
      <p:bldP spid="23" grpId="0" animBg="1"/>
      <p:bldP spid="24" grpId="0" animBg="1"/>
      <p:bldP spid="29" grpId="0" animBg="1"/>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A78B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A78B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A78BFA"/>
                </a:solidFill>
                <a:latin typeface="Segoe UI Semibold"/>
              </a:rPr>
              <a:t>SLIDE 20 · THE DISCIPLINE OF "NO"</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Three Patterns We Refused</a:t>
            </a:r>
          </a:p>
        </p:txBody>
      </p:sp>
      <p:sp>
        <p:nvSpPr>
          <p:cNvPr id="6" name="Rounded Rectangle 5"/>
          <p:cNvSpPr/>
          <p:nvPr/>
        </p:nvSpPr>
        <p:spPr>
          <a:xfrm>
            <a:off x="521207" y="1316736"/>
            <a:ext cx="658368" cy="4572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The most senior pattern skill is refusing one — on the record.</a:t>
            </a:r>
          </a:p>
        </p:txBody>
      </p:sp>
      <p:sp>
        <p:nvSpPr>
          <p:cNvPr id="8" name="Rounded Rectangle 7"/>
          <p:cNvSpPr/>
          <p:nvPr/>
        </p:nvSpPr>
        <p:spPr>
          <a:xfrm>
            <a:off x="502920" y="1783080"/>
            <a:ext cx="3611880" cy="2651760"/>
          </a:xfrm>
          <a:prstGeom prst="roundRect">
            <a:avLst>
              <a:gd name="adj" fmla="val 9000"/>
            </a:avLst>
          </a:prstGeom>
          <a:solidFill>
            <a:srgbClr val="18263F"/>
          </a:solidFill>
          <a:ln w="9525">
            <a:solidFill>
              <a:srgbClr val="F87171"/>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8000"/>
              </a:lnSpc>
              <a:spcAft>
                <a:spcPts val="500"/>
              </a:spcAft>
            </a:pPr>
            <a:r>
              <a:rPr sz="900" b="1">
                <a:solidFill>
                  <a:srgbClr val="F87171"/>
                </a:solidFill>
                <a:latin typeface="Segoe UI Semibold"/>
              </a:rPr>
              <a:t>✗  REJECTED</a:t>
            </a:r>
          </a:p>
          <a:p>
            <a:pPr algn="l">
              <a:lnSpc>
                <a:spcPct val="108000"/>
              </a:lnSpc>
              <a:spcAft>
                <a:spcPts val="500"/>
              </a:spcAft>
            </a:pPr>
            <a:r>
              <a:rPr sz="1250" b="1">
                <a:solidFill>
                  <a:srgbClr val="F2F6FD"/>
                </a:solidFill>
                <a:latin typeface="Segoe UI Semibold"/>
              </a:rPr>
              <a:t>Audit trail ≠ Observer</a:t>
            </a:r>
          </a:p>
          <a:p>
            <a:pPr algn="l">
              <a:lnSpc>
                <a:spcPct val="108000"/>
              </a:lnSpc>
              <a:spcAft>
                <a:spcPts val="500"/>
              </a:spcAft>
            </a:pPr>
            <a:r>
              <a:rPr sz="1000" b="0">
                <a:solidFill>
                  <a:srgbClr val="9FB0CC"/>
                </a:solidFill>
                <a:latin typeface="Segoe UI"/>
              </a:rPr>
              <a:t>Audit events must carry actor + intent; stock events carry neither. Forcing Observer would lose the who and the why.</a:t>
            </a:r>
          </a:p>
        </p:txBody>
      </p:sp>
      <p:sp>
        <p:nvSpPr>
          <p:cNvPr id="9" name="Rounded Rectangle 8"/>
          <p:cNvSpPr/>
          <p:nvPr/>
        </p:nvSpPr>
        <p:spPr>
          <a:xfrm>
            <a:off x="502920" y="1783080"/>
            <a:ext cx="3611880" cy="73152"/>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0" y="1783080"/>
            <a:ext cx="3611880" cy="2651760"/>
          </a:xfrm>
          <a:prstGeom prst="roundRect">
            <a:avLst>
              <a:gd name="adj" fmla="val 9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8000"/>
              </a:lnSpc>
              <a:spcAft>
                <a:spcPts val="500"/>
              </a:spcAft>
            </a:pPr>
            <a:r>
              <a:rPr sz="900" b="1">
                <a:solidFill>
                  <a:srgbClr val="FBBF24"/>
                </a:solidFill>
                <a:latin typeface="Segoe UI Semibold"/>
              </a:rPr>
              <a:t>✗  REJECTED</a:t>
            </a:r>
          </a:p>
          <a:p>
            <a:pPr algn="l">
              <a:lnSpc>
                <a:spcPct val="108000"/>
              </a:lnSpc>
              <a:spcAft>
                <a:spcPts val="500"/>
              </a:spcAft>
            </a:pPr>
            <a:r>
              <a:rPr sz="1250" b="1">
                <a:solidFill>
                  <a:srgbClr val="F2F6FD"/>
                </a:solidFill>
                <a:latin typeface="Segoe UI Semibold"/>
              </a:rPr>
              <a:t>Z-report ≠ Template Method</a:t>
            </a:r>
          </a:p>
          <a:p>
            <a:pPr algn="l">
              <a:lnSpc>
                <a:spcPct val="108000"/>
              </a:lnSpc>
              <a:spcAft>
                <a:spcPts val="500"/>
              </a:spcAft>
            </a:pPr>
            <a:r>
              <a:rPr sz="1000" b="0">
                <a:solidFill>
                  <a:srgbClr val="9FB0CC"/>
                </a:solidFill>
                <a:latin typeface="Segoe UI"/>
              </a:rPr>
              <a:t>It must break the "VOIDED ≠ revenue" invariant — yesterday's void belongs in today's drawer math. Inheritance would inherit the wrong rule.</a:t>
            </a:r>
          </a:p>
        </p:txBody>
      </p:sp>
      <p:sp>
        <p:nvSpPr>
          <p:cNvPr id="11" name="Rounded Rectangle 10"/>
          <p:cNvSpPr/>
          <p:nvPr/>
        </p:nvSpPr>
        <p:spPr>
          <a:xfrm>
            <a:off x="4297680" y="1783080"/>
            <a:ext cx="3611880"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092440" y="1783080"/>
            <a:ext cx="3611880" cy="2651760"/>
          </a:xfrm>
          <a:prstGeom prst="roundRect">
            <a:avLst>
              <a:gd name="adj" fmla="val 9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8000"/>
              </a:lnSpc>
              <a:spcAft>
                <a:spcPts val="500"/>
              </a:spcAft>
            </a:pPr>
            <a:r>
              <a:rPr sz="900" b="1">
                <a:solidFill>
                  <a:srgbClr val="60A5FA"/>
                </a:solidFill>
                <a:latin typeface="Segoe UI Semibold"/>
              </a:rPr>
              <a:t>✗  REJECTED</a:t>
            </a:r>
          </a:p>
          <a:p>
            <a:pPr algn="l">
              <a:lnSpc>
                <a:spcPct val="108000"/>
              </a:lnSpc>
              <a:spcAft>
                <a:spcPts val="500"/>
              </a:spcAft>
            </a:pPr>
            <a:r>
              <a:rPr sz="1250" b="1">
                <a:solidFill>
                  <a:srgbClr val="F2F6FD"/>
                </a:solidFill>
                <a:latin typeface="Segoe UI Semibold"/>
              </a:rPr>
              <a:t>Sale status ≠ State</a:t>
            </a:r>
          </a:p>
          <a:p>
            <a:pPr algn="l">
              <a:lnSpc>
                <a:spcPct val="108000"/>
              </a:lnSpc>
              <a:spcAft>
                <a:spcPts val="500"/>
              </a:spcAft>
            </a:pPr>
            <a:r>
              <a:rPr sz="1000" b="0">
                <a:solidFill>
                  <a:srgbClr val="9FB0CC"/>
                </a:solidFill>
                <a:latin typeface="Segoe UI"/>
              </a:rPr>
              <a:t>Sales have no long-lived per-status behavior. A plain enum is honest; a State machine here would be theatre.</a:t>
            </a:r>
          </a:p>
        </p:txBody>
      </p:sp>
      <p:sp>
        <p:nvSpPr>
          <p:cNvPr id="13" name="Rounded Rectangle 12"/>
          <p:cNvSpPr/>
          <p:nvPr/>
        </p:nvSpPr>
        <p:spPr>
          <a:xfrm>
            <a:off x="8092440" y="1783080"/>
            <a:ext cx="3611880"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4709160"/>
            <a:ext cx="11183112" cy="868680"/>
          </a:xfrm>
          <a:prstGeom prst="roundRect">
            <a:avLst>
              <a:gd name="adj" fmla="val 9000"/>
            </a:avLst>
          </a:prstGeom>
          <a:solidFill>
            <a:srgbClr val="1D1835"/>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700" b="0" i="1">
                <a:solidFill>
                  <a:srgbClr val="F2F6FD"/>
                </a:solidFill>
                <a:latin typeface="Segoe UI Semibold"/>
              </a:rPr>
              <a:t>"Patterns follow the domain, not the syllabus."</a:t>
            </a:r>
          </a:p>
        </p:txBody>
      </p:sp>
      <p:sp>
        <p:nvSpPr>
          <p:cNvPr id="15" name="TextBox 14"/>
          <p:cNvSpPr txBox="1"/>
          <p:nvPr/>
        </p:nvSpPr>
        <p:spPr>
          <a:xfrm>
            <a:off x="502920" y="5669280"/>
            <a:ext cx="11183112" cy="320040"/>
          </a:xfrm>
          <a:prstGeom prst="rect">
            <a:avLst/>
          </a:prstGeom>
          <a:noFill/>
        </p:spPr>
        <p:txBody>
          <a:bodyPr wrap="square" lIns="0" tIns="0" rIns="0" bIns="0" anchor="t">
            <a:spAutoFit/>
          </a:bodyPr>
          <a:lstStyle/>
          <a:p>
            <a:pPr algn="ctr">
              <a:lnSpc>
                <a:spcPct val="100000"/>
              </a:lnSpc>
            </a:pPr>
            <a:r>
              <a:rPr sz="1050" b="0">
                <a:solidFill>
                  <a:srgbClr val="9FB0CC"/>
                </a:solidFill>
                <a:latin typeface="Segoe UI"/>
              </a:rPr>
              <a:t>Every rejection is written into the javadocs — the "why not" is part of the answer.</a:t>
            </a:r>
          </a:p>
        </p:txBody>
      </p:sp>
      <p:sp>
        <p:nvSpPr>
          <p:cNvPr id="16" name="Rounded Rectangle 15"/>
          <p:cNvSpPr/>
          <p:nvPr/>
        </p:nvSpPr>
        <p:spPr>
          <a:xfrm>
            <a:off x="4434840" y="6035040"/>
            <a:ext cx="3291840" cy="365760"/>
          </a:xfrm>
          <a:prstGeom prst="roundRect">
            <a:avLst>
              <a:gd name="adj" fmla="val 50000"/>
            </a:avLst>
          </a:prstGeom>
          <a:solidFill>
            <a:srgbClr val="18263F"/>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950" b="1">
                <a:solidFill>
                  <a:srgbClr val="FBBF24"/>
                </a:solidFill>
                <a:latin typeface="Segoe UI Semibold"/>
              </a:rPr>
              <a:t>NEXT  →  ALFA SANY — what this buys</a:t>
            </a:r>
          </a:p>
        </p:txBody>
      </p:sp>
      <p:sp>
        <p:nvSpPr>
          <p:cNvPr id="17" name="TextBox 16"/>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8" name="TextBox 17"/>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20 / 30  ·  Sumya Soma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BBF24">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BBF24"/>
                </a:solidFill>
                <a:latin typeface="Segoe UI Semibold"/>
              </a:rPr>
              <a:t>SLIDE 21 · SECTION 3 — ALFA SANY</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Built for the Examiner — Developer Mode</a:t>
            </a:r>
          </a:p>
        </p:txBody>
      </p:sp>
      <p:sp>
        <p:nvSpPr>
          <p:cNvPr id="6" name="Rounded Rectangle 5"/>
          <p:cNvSpPr/>
          <p:nvPr/>
        </p:nvSpPr>
        <p:spPr>
          <a:xfrm>
            <a:off x="521207" y="1316736"/>
            <a:ext cx="658368" cy="4572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783080"/>
            <a:ext cx="4160520" cy="4389120"/>
          </a:xfrm>
          <a:prstGeom prst="rect">
            <a:avLst/>
          </a:prstGeom>
          <a:noFill/>
        </p:spPr>
        <p:txBody>
          <a:bodyPr wrap="square" lIns="0" tIns="0" rIns="0" bIns="0" anchor="t">
            <a:spAutoFit/>
          </a:bodyPr>
          <a:lstStyle/>
          <a:p>
            <a:pPr algn="l">
              <a:lnSpc>
                <a:spcPct val="106000"/>
              </a:lnSpc>
              <a:spcAft>
                <a:spcPts val="800"/>
              </a:spcAft>
            </a:pPr>
            <a:r>
              <a:rPr sz="1100" b="1">
                <a:solidFill>
                  <a:srgbClr val="FBBF24"/>
                </a:solidFill>
                <a:latin typeface="Segoe UI"/>
              </a:rPr>
              <a:t>•  </a:t>
            </a:r>
            <a:r>
              <a:rPr sz="1100" b="1">
                <a:solidFill>
                  <a:srgbClr val="F2F6FD"/>
                </a:solidFill>
                <a:latin typeface="Segoe UI Semibold"/>
              </a:rPr>
              <a:t>18 pattern cards. </a:t>
            </a:r>
            <a:r>
              <a:rPr sz="1100" b="0">
                <a:solidFill>
                  <a:srgbClr val="9FB0CC"/>
                </a:solidFill>
                <a:latin typeface="Segoe UI"/>
              </a:rPr>
              <a:t>Problem → why this pattern → the rejected alternative → real class &amp; file → source snippet → proving test → "see it live"</a:t>
            </a:r>
          </a:p>
          <a:p>
            <a:pPr algn="l">
              <a:lnSpc>
                <a:spcPct val="106000"/>
              </a:lnSpc>
              <a:spcAft>
                <a:spcPts val="800"/>
              </a:spcAft>
            </a:pPr>
            <a:r>
              <a:rPr sz="1100" b="1">
                <a:solidFill>
                  <a:srgbClr val="FBBF24"/>
                </a:solidFill>
                <a:latin typeface="Segoe UI"/>
              </a:rPr>
              <a:t>•  </a:t>
            </a:r>
            <a:r>
              <a:rPr sz="1100" b="1">
                <a:solidFill>
                  <a:srgbClr val="F2F6FD"/>
                </a:solidFill>
                <a:latin typeface="Segoe UI Semibold"/>
              </a:rPr>
              <a:t>Live API explorer. </a:t>
            </a:r>
            <a:r>
              <a:rPr sz="1100" b="0">
                <a:solidFill>
                  <a:srgbClr val="9FB0CC"/>
                </a:solidFill>
                <a:latin typeface="Segoe UI"/>
              </a:rPr>
              <a:t>Call endpoints with your own token — even the 403s are a feature</a:t>
            </a:r>
          </a:p>
          <a:p>
            <a:pPr algn="l">
              <a:lnSpc>
                <a:spcPct val="106000"/>
              </a:lnSpc>
              <a:spcAft>
                <a:spcPts val="800"/>
              </a:spcAft>
            </a:pPr>
            <a:r>
              <a:rPr sz="1100" b="1">
                <a:solidFill>
                  <a:srgbClr val="FBBF24"/>
                </a:solidFill>
                <a:latin typeface="Segoe UI"/>
              </a:rPr>
              <a:t>•  </a:t>
            </a:r>
            <a:r>
              <a:rPr sz="1100" b="1">
                <a:solidFill>
                  <a:srgbClr val="F2F6FD"/>
                </a:solidFill>
                <a:latin typeface="Segoe UI Semibold"/>
              </a:rPr>
              <a:t>Drift-guard test. </a:t>
            </a:r>
            <a:r>
              <a:rPr sz="1100" b="0">
                <a:solidFill>
                  <a:srgbClr val="9FB0CC"/>
                </a:solidFill>
                <a:latin typeface="Segoe UI"/>
              </a:rPr>
              <a:t>PatternCatalogTest fails the build if a card cites a class that doesn't exist</a:t>
            </a:r>
          </a:p>
          <a:p>
            <a:pPr algn="l">
              <a:lnSpc>
                <a:spcPct val="106000"/>
              </a:lnSpc>
              <a:spcAft>
                <a:spcPts val="800"/>
              </a:spcAft>
            </a:pPr>
            <a:r>
              <a:rPr sz="1100" b="1">
                <a:solidFill>
                  <a:srgbClr val="FBBF24"/>
                </a:solidFill>
                <a:latin typeface="Segoe UI"/>
              </a:rPr>
              <a:t>•  </a:t>
            </a:r>
            <a:r>
              <a:rPr sz="1100" b="1">
                <a:solidFill>
                  <a:srgbClr val="F2F6FD"/>
                </a:solidFill>
                <a:latin typeface="Segoe UI Semibold"/>
              </a:rPr>
              <a:t>System diagnostics. </a:t>
            </a:r>
            <a:r>
              <a:rPr sz="1100" b="0">
                <a:solidFill>
                  <a:srgbClr val="9FB0CC"/>
                </a:solidFill>
                <a:latin typeface="Segoe UI"/>
              </a:rPr>
              <a:t>Persistence mode, uptime, Dhaka clock, token in play</a:t>
            </a:r>
          </a:p>
        </p:txBody>
      </p:sp>
      <p:sp>
        <p:nvSpPr>
          <p:cNvPr id="8" name="Rounded Rectangle 7"/>
          <p:cNvSpPr/>
          <p:nvPr/>
        </p:nvSpPr>
        <p:spPr>
          <a:xfrm>
            <a:off x="4892040" y="1737360"/>
            <a:ext cx="6784848" cy="4526280"/>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4965192" y="1801368"/>
            <a:ext cx="6638544"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5074920" y="186994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230368" y="186994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385816" y="186994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05272" y="1828800"/>
            <a:ext cx="5870448"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localhost:8080/#/patterns — developer only</a:t>
            </a:r>
          </a:p>
        </p:txBody>
      </p:sp>
      <p:pic>
        <p:nvPicPr>
          <p:cNvPr id="14" name="Picture 13" descr="pattern-studio.png"/>
          <p:cNvPicPr>
            <a:picLocks noChangeAspect="1"/>
          </p:cNvPicPr>
          <p:nvPr/>
        </p:nvPicPr>
        <p:blipFill>
          <a:blip r:embed="rId3"/>
          <a:stretch>
            <a:fillRect/>
          </a:stretch>
        </p:blipFill>
        <p:spPr>
          <a:xfrm>
            <a:off x="4965192" y="2288857"/>
            <a:ext cx="6638544" cy="3734181"/>
          </a:xfrm>
          <a:prstGeom prst="rect">
            <a:avLst/>
          </a:prstGeom>
          <a:effectLst/>
        </p:spPr>
      </p:pic>
      <p:sp>
        <p:nvSpPr>
          <p:cNvPr id="15" name="TextBox 14"/>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6" name="TextBox 15"/>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21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5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6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4ADE80">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4ADE8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4ADE80"/>
                </a:solidFill>
                <a:latin typeface="Segoe UI Semibold"/>
              </a:rPr>
              <a:t>SLIDE 22 · BUSINESS VALUE 1</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Money Visibility — Nothing Hidden</a:t>
            </a:r>
          </a:p>
        </p:txBody>
      </p:sp>
      <p:sp>
        <p:nvSpPr>
          <p:cNvPr id="6" name="Rounded Rectangle 5"/>
          <p:cNvSpPr/>
          <p:nvPr/>
        </p:nvSpPr>
        <p:spPr>
          <a:xfrm>
            <a:off x="521207" y="1316736"/>
            <a:ext cx="658368" cy="4572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783080"/>
            <a:ext cx="5532120" cy="2057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200" b="1">
                <a:solidFill>
                  <a:srgbClr val="4ADE80"/>
                </a:solidFill>
                <a:latin typeface="Segoe UI Semibold"/>
              </a:rPr>
              <a:t>NBR VAT SUMMARY</a:t>
            </a:r>
          </a:p>
          <a:p>
            <a:pPr algn="l">
              <a:lnSpc>
                <a:spcPct val="104000"/>
              </a:lnSpc>
              <a:spcAft>
                <a:spcPts val="300"/>
              </a:spcAft>
            </a:pPr>
            <a:r>
              <a:rPr sz="1000" b="0">
                <a:solidFill>
                  <a:srgbClr val="9FB0CC"/>
                </a:solidFill>
                <a:latin typeface="Segoe UI"/>
              </a:rPr>
              <a:t>A genuine filing source: slab-wise 0% / 7.5% / 15%, back-calculated from inclusive prices — 115 @ 15% → VAT exactly 15.00, pinned by a test.</a:t>
            </a:r>
          </a:p>
          <a:p>
            <a:pPr algn="l">
              <a:lnSpc>
                <a:spcPct val="104000"/>
              </a:lnSpc>
              <a:spcAft>
                <a:spcPts val="300"/>
              </a:spcAft>
            </a:pPr>
            <a:r>
              <a:rPr sz="850" b="0">
                <a:solidFill>
                  <a:srgbClr val="6B7C9C"/>
                </a:solidFill>
                <a:latin typeface="Consolas"/>
              </a:rPr>
              <a:t>vat = net × rate ÷ (100 + rate)</a:t>
            </a:r>
          </a:p>
        </p:txBody>
      </p:sp>
      <p:sp>
        <p:nvSpPr>
          <p:cNvPr id="8" name="Rounded Rectangle 7"/>
          <p:cNvSpPr/>
          <p:nvPr/>
        </p:nvSpPr>
        <p:spPr>
          <a:xfrm>
            <a:off x="502920" y="1783080"/>
            <a:ext cx="64008" cy="205740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6126480" y="1783080"/>
            <a:ext cx="5532120" cy="2057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200" b="1">
                <a:solidFill>
                  <a:srgbClr val="60A5FA"/>
                </a:solidFill>
                <a:latin typeface="Segoe UI Semibold"/>
              </a:rPr>
              <a:t>PROFIT REPORT</a:t>
            </a:r>
          </a:p>
          <a:p>
            <a:pPr algn="l">
              <a:lnSpc>
                <a:spcPct val="104000"/>
              </a:lnSpc>
              <a:spcAft>
                <a:spcPts val="300"/>
              </a:spcAft>
            </a:pPr>
            <a:r>
              <a:rPr sz="1000" b="0">
                <a:solidFill>
                  <a:srgbClr val="9FB0CC"/>
                </a:solidFill>
                <a:latin typeface="Segoe UI"/>
              </a:rPr>
              <a:t>Revenue vs cost snapshots captured at sale time — margins can never drift from what was actually paid.</a:t>
            </a:r>
          </a:p>
          <a:p>
            <a:pPr algn="l">
              <a:lnSpc>
                <a:spcPct val="104000"/>
              </a:lnSpc>
              <a:spcAft>
                <a:spcPts val="300"/>
              </a:spcAft>
            </a:pPr>
            <a:r>
              <a:rPr sz="850" b="0">
                <a:solidFill>
                  <a:srgbClr val="6B7C9C"/>
                </a:solidFill>
                <a:latin typeface="Consolas"/>
              </a:rPr>
              <a:t>receipt keeps a cost snapshot per line</a:t>
            </a:r>
          </a:p>
        </p:txBody>
      </p:sp>
      <p:sp>
        <p:nvSpPr>
          <p:cNvPr id="10" name="Rounded Rectangle 9"/>
          <p:cNvSpPr/>
          <p:nvPr/>
        </p:nvSpPr>
        <p:spPr>
          <a:xfrm>
            <a:off x="6126480" y="1783080"/>
            <a:ext cx="64008" cy="205740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502920" y="3977639"/>
            <a:ext cx="5532120" cy="2057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200" b="1">
                <a:solidFill>
                  <a:srgbClr val="FBBF24"/>
                </a:solidFill>
                <a:latin typeface="Segoe UI Semibold"/>
              </a:rPr>
              <a:t>PAYABLES</a:t>
            </a:r>
          </a:p>
          <a:p>
            <a:pPr algn="l">
              <a:lnSpc>
                <a:spcPct val="104000"/>
              </a:lnSpc>
              <a:spcAft>
                <a:spcPts val="300"/>
              </a:spcAft>
            </a:pPr>
            <a:r>
              <a:rPr sz="1000" b="0">
                <a:solidFill>
                  <a:srgbClr val="9FB0CC"/>
                </a:solidFill>
                <a:latin typeface="Segoe UI"/>
              </a:rPr>
              <a:t>Exactly how much is owed to each supplier, across installments — the life-saver number for the owner.</a:t>
            </a:r>
          </a:p>
          <a:p>
            <a:pPr algn="l">
              <a:lnSpc>
                <a:spcPct val="104000"/>
              </a:lnSpc>
              <a:spcAft>
                <a:spcPts val="300"/>
              </a:spcAft>
            </a:pPr>
            <a:r>
              <a:rPr sz="850" b="0">
                <a:solidFill>
                  <a:srgbClr val="6B7C9C"/>
                </a:solidFill>
                <a:latin typeface="Consolas"/>
              </a:rPr>
              <a:t>ordered total − paid</a:t>
            </a:r>
          </a:p>
        </p:txBody>
      </p:sp>
      <p:sp>
        <p:nvSpPr>
          <p:cNvPr id="12" name="Rounded Rectangle 11"/>
          <p:cNvSpPr/>
          <p:nvPr/>
        </p:nvSpPr>
        <p:spPr>
          <a:xfrm>
            <a:off x="502920" y="3977639"/>
            <a:ext cx="64008" cy="205740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6126480" y="3977639"/>
            <a:ext cx="5532120" cy="2057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200" b="1">
                <a:solidFill>
                  <a:srgbClr val="A78BFA"/>
                </a:solidFill>
                <a:latin typeface="Segoe UI Semibold"/>
              </a:rPr>
              <a:t>Z-REPORT · DAY CLOSE</a:t>
            </a:r>
          </a:p>
          <a:p>
            <a:pPr algn="l">
              <a:lnSpc>
                <a:spcPct val="104000"/>
              </a:lnSpc>
              <a:spcAft>
                <a:spcPts val="300"/>
              </a:spcAft>
            </a:pPr>
            <a:r>
              <a:rPr sz="1000" b="0">
                <a:solidFill>
                  <a:srgbClr val="9FB0CC"/>
                </a:solidFill>
                <a:latin typeface="Segoe UI"/>
              </a:rPr>
              <a:t>Per-tender split, expected vs counted cash, variance green at zero — the drawer reconciles by hand.</a:t>
            </a:r>
          </a:p>
          <a:p>
            <a:pPr algn="l">
              <a:lnSpc>
                <a:spcPct val="104000"/>
              </a:lnSpc>
              <a:spcAft>
                <a:spcPts val="300"/>
              </a:spcAft>
            </a:pPr>
            <a:r>
              <a:rPr sz="850" b="0">
                <a:solidFill>
                  <a:srgbClr val="6B7C9C"/>
                </a:solidFill>
                <a:latin typeface="Consolas"/>
              </a:rPr>
              <a:t>cashIn − changeOut − cashRefunds − voidCashOut</a:t>
            </a:r>
          </a:p>
        </p:txBody>
      </p:sp>
      <p:sp>
        <p:nvSpPr>
          <p:cNvPr id="14" name="Rounded Rectangle 13"/>
          <p:cNvSpPr/>
          <p:nvPr/>
        </p:nvSpPr>
        <p:spPr>
          <a:xfrm>
            <a:off x="6126480" y="3977639"/>
            <a:ext cx="64008" cy="205740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6" name="TextBox 15"/>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22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BBF24">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BBF24"/>
                </a:solidFill>
                <a:latin typeface="Segoe UI Semibold"/>
              </a:rPr>
              <a:t>SLIDE 23 · BUSINESS VALUE 2</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Speed &amp; Loss Prevention</a:t>
            </a:r>
          </a:p>
        </p:txBody>
      </p:sp>
      <p:sp>
        <p:nvSpPr>
          <p:cNvPr id="6" name="Rounded Rectangle 5"/>
          <p:cNvSpPr/>
          <p:nvPr/>
        </p:nvSpPr>
        <p:spPr>
          <a:xfrm>
            <a:off x="521207" y="1316736"/>
            <a:ext cx="658368" cy="4572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78308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2DD4BF"/>
                </a:solidFill>
                <a:latin typeface="Segoe UI Semibold"/>
              </a:rPr>
              <a:t>Weekly templates</a:t>
            </a:r>
          </a:p>
          <a:p>
            <a:pPr algn="l">
              <a:lnSpc>
                <a:spcPct val="100000"/>
              </a:lnSpc>
              <a:spcAft>
                <a:spcPts val="400"/>
              </a:spcAft>
            </a:pPr>
            <a:r>
              <a:rPr sz="1000" b="0">
                <a:solidFill>
                  <a:srgbClr val="9FB0CC"/>
                </a:solidFill>
                <a:latin typeface="Segoe UI"/>
              </a:rPr>
              <a:t>15 clicks → 2. Clone the standing order, adjust, submit.</a:t>
            </a:r>
          </a:p>
        </p:txBody>
      </p:sp>
      <p:sp>
        <p:nvSpPr>
          <p:cNvPr id="8" name="Rounded Rectangle 7"/>
          <p:cNvSpPr/>
          <p:nvPr/>
        </p:nvSpPr>
        <p:spPr>
          <a:xfrm>
            <a:off x="502920" y="1783080"/>
            <a:ext cx="3593592" cy="73152"/>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4297680" y="178308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60A5FA"/>
                </a:solidFill>
                <a:latin typeface="Segoe UI Semibold"/>
              </a:rPr>
              <a:t>1-tap Undo</a:t>
            </a:r>
          </a:p>
          <a:p>
            <a:pPr algn="l">
              <a:lnSpc>
                <a:spcPct val="100000"/>
              </a:lnSpc>
              <a:spcAft>
                <a:spcPts val="400"/>
              </a:spcAft>
            </a:pPr>
            <a:r>
              <a:rPr sz="1000" b="0">
                <a:solidFill>
                  <a:srgbClr val="9FB0CC"/>
                </a:solidFill>
                <a:latin typeface="Segoe UI"/>
              </a:rPr>
              <a:t>10 levels deep — mis-scans cost nothing.</a:t>
            </a:r>
          </a:p>
        </p:txBody>
      </p:sp>
      <p:sp>
        <p:nvSpPr>
          <p:cNvPr id="10" name="Rounded Rectangle 9"/>
          <p:cNvSpPr/>
          <p:nvPr/>
        </p:nvSpPr>
        <p:spPr>
          <a:xfrm>
            <a:off x="4297680" y="1783080"/>
            <a:ext cx="3593592" cy="73152"/>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8092440" y="1783080"/>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A78BFA"/>
                </a:solidFill>
                <a:latin typeface="Segoe UI Semibold"/>
              </a:rPr>
              <a:t>Enter → next customer</a:t>
            </a:r>
          </a:p>
          <a:p>
            <a:pPr algn="l">
              <a:lnSpc>
                <a:spcPct val="100000"/>
              </a:lnSpc>
              <a:spcAft>
                <a:spcPts val="400"/>
              </a:spcAft>
            </a:pPr>
            <a:r>
              <a:rPr sz="1000" b="0">
                <a:solidFill>
                  <a:srgbClr val="9FB0CC"/>
                </a:solidFill>
                <a:latin typeface="Segoe UI"/>
              </a:rPr>
              <a:t>Under a second per receipt cycle.</a:t>
            </a:r>
          </a:p>
        </p:txBody>
      </p:sp>
      <p:sp>
        <p:nvSpPr>
          <p:cNvPr id="12" name="Rounded Rectangle 11"/>
          <p:cNvSpPr/>
          <p:nvPr/>
        </p:nvSpPr>
        <p:spPr>
          <a:xfrm>
            <a:off x="8092440" y="1783080"/>
            <a:ext cx="3593592" cy="73152"/>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502920" y="3749039"/>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FBBF24"/>
                </a:solidFill>
                <a:latin typeface="Segoe UI Semibold"/>
              </a:rPr>
              <a:t>Role walls</a:t>
            </a:r>
          </a:p>
          <a:p>
            <a:pPr algn="l">
              <a:lnSpc>
                <a:spcPct val="100000"/>
              </a:lnSpc>
              <a:spcAft>
                <a:spcPts val="400"/>
              </a:spcAft>
            </a:pPr>
            <a:r>
              <a:rPr sz="1000" b="0">
                <a:solidFill>
                  <a:srgbClr val="9FB0CC"/>
                </a:solidFill>
                <a:latin typeface="Segoe UI"/>
              </a:rPr>
              <a:t>A cashier cannot reprice the till or read the margins — by design, not by trust.</a:t>
            </a:r>
          </a:p>
        </p:txBody>
      </p:sp>
      <p:sp>
        <p:nvSpPr>
          <p:cNvPr id="14" name="Rounded Rectangle 13"/>
          <p:cNvSpPr/>
          <p:nvPr/>
        </p:nvSpPr>
        <p:spPr>
          <a:xfrm>
            <a:off x="502920" y="3749039"/>
            <a:ext cx="3593592" cy="7315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4297680" y="3749039"/>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4ADE80"/>
                </a:solidFill>
                <a:latin typeface="Segoe UI Semibold"/>
              </a:rPr>
              <a:t>Atomic rollback</a:t>
            </a:r>
          </a:p>
          <a:p>
            <a:pPr algn="l">
              <a:lnSpc>
                <a:spcPct val="100000"/>
              </a:lnSpc>
              <a:spcAft>
                <a:spcPts val="400"/>
              </a:spcAft>
            </a:pPr>
            <a:r>
              <a:rPr sz="1000" b="0">
                <a:solidFill>
                  <a:srgbClr val="9FB0CC"/>
                </a:solidFill>
                <a:latin typeface="Segoe UI"/>
              </a:rPr>
              <a:t>Declined card → stock, points &amp; sale all restored. No lost money, ever.</a:t>
            </a:r>
          </a:p>
        </p:txBody>
      </p:sp>
      <p:sp>
        <p:nvSpPr>
          <p:cNvPr id="16" name="Rounded Rectangle 15"/>
          <p:cNvSpPr/>
          <p:nvPr/>
        </p:nvSpPr>
        <p:spPr>
          <a:xfrm>
            <a:off x="4297680" y="3749039"/>
            <a:ext cx="3593592" cy="73152"/>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8092440" y="3749039"/>
            <a:ext cx="3593592" cy="178308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300" b="1">
                <a:solidFill>
                  <a:srgbClr val="F87171"/>
                </a:solidFill>
                <a:latin typeface="Segoe UI Semibold"/>
              </a:rPr>
              <a:t>Audit trail</a:t>
            </a:r>
          </a:p>
          <a:p>
            <a:pPr algn="l">
              <a:lnSpc>
                <a:spcPct val="100000"/>
              </a:lnSpc>
              <a:spcAft>
                <a:spcPts val="400"/>
              </a:spcAft>
            </a:pPr>
            <a:r>
              <a:rPr sz="1000" b="0">
                <a:solidFill>
                  <a:srgbClr val="9FB0CC"/>
                </a:solidFill>
                <a:latin typeface="Segoe UI"/>
              </a:rPr>
              <a:t>Every void, return, price edit, shrinkage — who, what, when. 500-entry filterable log.</a:t>
            </a:r>
          </a:p>
        </p:txBody>
      </p:sp>
      <p:sp>
        <p:nvSpPr>
          <p:cNvPr id="18" name="Rounded Rectangle 17"/>
          <p:cNvSpPr/>
          <p:nvPr/>
        </p:nvSpPr>
        <p:spPr>
          <a:xfrm>
            <a:off x="8092440" y="3749039"/>
            <a:ext cx="3593592" cy="73152"/>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502920" y="5715000"/>
            <a:ext cx="11183112" cy="50292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The till is faster AND the till is safer — </a:t>
            </a:r>
            <a:r>
              <a:rPr sz="1050" b="0">
                <a:solidFill>
                  <a:srgbClr val="9FB0CC"/>
                </a:solidFill>
                <a:latin typeface="Segoe UI"/>
              </a:rPr>
              <a:t>both at once, because of the architecture.</a:t>
            </a:r>
          </a:p>
        </p:txBody>
      </p:sp>
      <p:sp>
        <p:nvSpPr>
          <p:cNvPr id="20" name="TextBox 19"/>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1" name="TextBox 20"/>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23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par>
                                <p:cTn id="50" presetID="10" presetClass="entr" presetSubtype="0" fill="hold" grpId="0" nodeType="withEffect">
                                  <p:stCondLst>
                                    <p:cond delay="196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6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60A5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60A5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60A5FA"/>
                </a:solidFill>
                <a:latin typeface="Segoe UI Semibold"/>
              </a:rPr>
              <a:t>SLIDE 24 · QUALITY</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Quality Is Enforced, Not Claimed</a:t>
            </a:r>
          </a:p>
        </p:txBody>
      </p:sp>
      <p:sp>
        <p:nvSpPr>
          <p:cNvPr id="6" name="Rounded Rectangle 5"/>
          <p:cNvSpPr/>
          <p:nvPr/>
        </p:nvSpPr>
        <p:spPr>
          <a:xfrm>
            <a:off x="521207" y="1316736"/>
            <a:ext cx="658368" cy="4572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78308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4ADE80"/>
                </a:solidFill>
                <a:latin typeface="Segoe UI Semibold"/>
              </a:rPr>
              <a:t>176 tests · 31 classes</a:t>
            </a:r>
          </a:p>
          <a:p>
            <a:pPr algn="l">
              <a:lnSpc>
                <a:spcPct val="100000"/>
              </a:lnSpc>
              <a:spcAft>
                <a:spcPts val="400"/>
              </a:spcAft>
            </a:pPr>
            <a:r>
              <a:rPr sz="1000" b="0">
                <a:solidFill>
                  <a:srgbClr val="9FB0CC"/>
                </a:solidFill>
                <a:latin typeface="Segoe UI"/>
              </a:rPr>
              <a:t>Every pattern has a proving test — Command rollback, Memento depth, chain order, VAT math…</a:t>
            </a:r>
          </a:p>
        </p:txBody>
      </p:sp>
      <p:sp>
        <p:nvSpPr>
          <p:cNvPr id="8" name="Rounded Rectangle 7"/>
          <p:cNvSpPr/>
          <p:nvPr/>
        </p:nvSpPr>
        <p:spPr>
          <a:xfrm>
            <a:off x="502920" y="1783080"/>
            <a:ext cx="64008" cy="192024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4297680" y="178308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2DD4BF"/>
                </a:solidFill>
                <a:latin typeface="Segoe UI Semibold"/>
              </a:rPr>
              <a:t>Fully hermetic</a:t>
            </a:r>
          </a:p>
          <a:p>
            <a:pPr algn="l">
              <a:lnSpc>
                <a:spcPct val="100000"/>
              </a:lnSpc>
              <a:spcAft>
                <a:spcPts val="400"/>
              </a:spcAft>
            </a:pPr>
            <a:r>
              <a:rPr sz="1000" b="0">
                <a:solidFill>
                  <a:srgbClr val="9FB0CC"/>
                </a:solidFill>
                <a:latin typeface="Segoe UI"/>
              </a:rPr>
              <a:t>The harness pins an invalid MONGODB_URI — no live DB can ever leak into a test run.</a:t>
            </a:r>
          </a:p>
        </p:txBody>
      </p:sp>
      <p:sp>
        <p:nvSpPr>
          <p:cNvPr id="10" name="Rounded Rectangle 9"/>
          <p:cNvSpPr/>
          <p:nvPr/>
        </p:nvSpPr>
        <p:spPr>
          <a:xfrm>
            <a:off x="4297680" y="1783080"/>
            <a:ext cx="64008" cy="192024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8092440" y="178308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FBBF24"/>
                </a:solidFill>
                <a:latin typeface="Segoe UI Semibold"/>
              </a:rPr>
              <a:t>Drift guard</a:t>
            </a:r>
          </a:p>
          <a:p>
            <a:pPr algn="l">
              <a:lnSpc>
                <a:spcPct val="100000"/>
              </a:lnSpc>
              <a:spcAft>
                <a:spcPts val="400"/>
              </a:spcAft>
            </a:pPr>
            <a:r>
              <a:rPr sz="1000" b="0">
                <a:solidFill>
                  <a:srgbClr val="9FB0CC"/>
                </a:solidFill>
                <a:latin typeface="Segoe UI"/>
              </a:rPr>
              <a:t>PatternCatalogTest fails the build if a pattern card cites a ghost class.</a:t>
            </a:r>
          </a:p>
        </p:txBody>
      </p:sp>
      <p:sp>
        <p:nvSpPr>
          <p:cNvPr id="12" name="Rounded Rectangle 11"/>
          <p:cNvSpPr/>
          <p:nvPr/>
        </p:nvSpPr>
        <p:spPr>
          <a:xfrm>
            <a:off x="8092440" y="1783080"/>
            <a:ext cx="64008" cy="192024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502920" y="388620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A78BFA"/>
                </a:solidFill>
                <a:latin typeface="Segoe UI Semibold"/>
              </a:rPr>
              <a:t>API equality test</a:t>
            </a:r>
          </a:p>
          <a:p>
            <a:pPr algn="l">
              <a:lnSpc>
                <a:spcPct val="100000"/>
              </a:lnSpc>
              <a:spcAft>
                <a:spcPts val="400"/>
              </a:spcAft>
            </a:pPr>
            <a:r>
              <a:rPr sz="1000" b="0">
                <a:solidFill>
                  <a:srgbClr val="9FB0CC"/>
                </a:solidFill>
                <a:latin typeface="Segoe UI"/>
              </a:rPr>
              <a:t>ApiCatalog ≡ Spring's registered routes — checked in both directions.</a:t>
            </a:r>
          </a:p>
        </p:txBody>
      </p:sp>
      <p:sp>
        <p:nvSpPr>
          <p:cNvPr id="14" name="Rounded Rectangle 13"/>
          <p:cNvSpPr/>
          <p:nvPr/>
        </p:nvSpPr>
        <p:spPr>
          <a:xfrm>
            <a:off x="502920" y="3886200"/>
            <a:ext cx="64008" cy="192024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4297680" y="388620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60A5FA"/>
                </a:solidFill>
                <a:latin typeface="Segoe UI Semibold"/>
              </a:rPr>
              <a:t>CI on every push</a:t>
            </a:r>
          </a:p>
          <a:p>
            <a:pPr algn="l">
              <a:lnSpc>
                <a:spcPct val="100000"/>
              </a:lnSpc>
              <a:spcAft>
                <a:spcPts val="400"/>
              </a:spcAft>
            </a:pPr>
            <a:r>
              <a:rPr sz="1000" b="0">
                <a:solidFill>
                  <a:srgbClr val="9FB0CC"/>
                </a:solidFill>
                <a:latin typeface="Segoe UI"/>
              </a:rPr>
              <a:t>GitHub Actions · JDK 17 temurin · mvnw clean test.</a:t>
            </a:r>
          </a:p>
        </p:txBody>
      </p:sp>
      <p:sp>
        <p:nvSpPr>
          <p:cNvPr id="16" name="Rounded Rectangle 15"/>
          <p:cNvSpPr/>
          <p:nvPr/>
        </p:nvSpPr>
        <p:spPr>
          <a:xfrm>
            <a:off x="4297680" y="3886200"/>
            <a:ext cx="64008" cy="192024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8092440" y="3886200"/>
            <a:ext cx="3593592" cy="19202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46304" bIns="54864" rtlCol="0" anchor="t"/>
          <a:lstStyle/>
          <a:p>
            <a:pPr algn="l">
              <a:lnSpc>
                <a:spcPct val="100000"/>
              </a:lnSpc>
              <a:spcAft>
                <a:spcPts val="400"/>
              </a:spcAft>
            </a:pPr>
            <a:r>
              <a:rPr sz="1250" b="1">
                <a:solidFill>
                  <a:srgbClr val="F87171"/>
                </a:solidFill>
                <a:latin typeface="Segoe UI Semibold"/>
              </a:rPr>
              <a:t>Restart-proof</a:t>
            </a:r>
          </a:p>
          <a:p>
            <a:pPr algn="l">
              <a:lnSpc>
                <a:spcPct val="100000"/>
              </a:lnSpc>
              <a:spcAft>
                <a:spcPts val="400"/>
              </a:spcAft>
            </a:pPr>
            <a:r>
              <a:rPr sz="1000" b="0">
                <a:solidFill>
                  <a:srgbClr val="9FB0CC"/>
                </a:solidFill>
                <a:latin typeface="Segoe UI"/>
              </a:rPr>
              <a:t>Kill the server mid-day: sales, stock, points &amp; POs survive; reprints are byte-identical.</a:t>
            </a:r>
          </a:p>
        </p:txBody>
      </p:sp>
      <p:sp>
        <p:nvSpPr>
          <p:cNvPr id="18" name="Rounded Rectangle 17"/>
          <p:cNvSpPr/>
          <p:nvPr/>
        </p:nvSpPr>
        <p:spPr>
          <a:xfrm>
            <a:off x="8092440" y="3886200"/>
            <a:ext cx="64008" cy="1920240"/>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20" name="TextBox 19"/>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24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60"/>
                                        <p:tgtEl>
                                          <p:spTgt spid="15"/>
                                        </p:tgtEl>
                                      </p:cBhvr>
                                    </p:animEffect>
                                  </p:childTnLst>
                                </p:cTn>
                              </p:par>
                              <p:par>
                                <p:cTn id="41" presetID="10" presetClass="entr" presetSubtype="0" fill="hold" grpId="0" nodeType="withEffect">
                                  <p:stCondLst>
                                    <p:cond delay="14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60"/>
                                        <p:tgtEl>
                                          <p:spTgt spid="16"/>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60"/>
                                        <p:tgtEl>
                                          <p:spTgt spid="17"/>
                                        </p:tgtEl>
                                      </p:cBhvr>
                                    </p:animEffect>
                                  </p:childTnLst>
                                </p:cTn>
                              </p:par>
                              <p:par>
                                <p:cTn id="47" presetID="10" presetClass="entr" presetSubtype="0" fill="hold" grpId="0" nodeType="withEffect">
                                  <p:stCondLst>
                                    <p:cond delay="168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6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25 · PRODUCT TOUR 3/3</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Operations — Where the Shop Lives</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691640"/>
            <a:ext cx="3639312" cy="3977639"/>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576072" y="1755648"/>
            <a:ext cx="3493008"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685800" y="182422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182422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96696" y="182422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6152" y="1783080"/>
            <a:ext cx="2724912"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thermal receipt · SVG barcode</a:t>
            </a:r>
          </a:p>
        </p:txBody>
      </p:sp>
      <p:pic>
        <p:nvPicPr>
          <p:cNvPr id="13" name="Picture 12" descr="pos-receipt.png"/>
          <p:cNvPicPr>
            <a:picLocks noChangeAspect="1"/>
          </p:cNvPicPr>
          <p:nvPr/>
        </p:nvPicPr>
        <p:blipFill>
          <a:blip r:embed="rId3"/>
          <a:stretch>
            <a:fillRect/>
          </a:stretch>
        </p:blipFill>
        <p:spPr>
          <a:xfrm>
            <a:off x="576072" y="2853499"/>
            <a:ext cx="3493008" cy="1964817"/>
          </a:xfrm>
          <a:prstGeom prst="rect">
            <a:avLst/>
          </a:prstGeom>
          <a:effectLst/>
        </p:spPr>
      </p:pic>
      <p:sp>
        <p:nvSpPr>
          <p:cNvPr id="14" name="Rounded Rectangle 13"/>
          <p:cNvSpPr/>
          <p:nvPr/>
        </p:nvSpPr>
        <p:spPr>
          <a:xfrm>
            <a:off x="4270248" y="1691640"/>
            <a:ext cx="3639312" cy="3977639"/>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4343400" y="1755648"/>
            <a:ext cx="3493008"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Oval 15"/>
          <p:cNvSpPr/>
          <p:nvPr/>
        </p:nvSpPr>
        <p:spPr>
          <a:xfrm>
            <a:off x="4453128" y="182422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08576" y="182422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764024" y="182422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83480" y="1783080"/>
            <a:ext cx="2724912"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batches · expiry · shrinkage</a:t>
            </a:r>
          </a:p>
        </p:txBody>
      </p:sp>
      <p:pic>
        <p:nvPicPr>
          <p:cNvPr id="20" name="Picture 19" descr="inventory.png"/>
          <p:cNvPicPr>
            <a:picLocks noChangeAspect="1"/>
          </p:cNvPicPr>
          <p:nvPr/>
        </p:nvPicPr>
        <p:blipFill>
          <a:blip r:embed="rId4"/>
          <a:stretch>
            <a:fillRect/>
          </a:stretch>
        </p:blipFill>
        <p:spPr>
          <a:xfrm>
            <a:off x="4343400" y="2853499"/>
            <a:ext cx="3493008" cy="1964817"/>
          </a:xfrm>
          <a:prstGeom prst="rect">
            <a:avLst/>
          </a:prstGeom>
          <a:effectLst/>
        </p:spPr>
      </p:pic>
      <p:sp>
        <p:nvSpPr>
          <p:cNvPr id="21" name="Rounded Rectangle 20"/>
          <p:cNvSpPr/>
          <p:nvPr/>
        </p:nvSpPr>
        <p:spPr>
          <a:xfrm>
            <a:off x="8037575" y="1691640"/>
            <a:ext cx="3639312" cy="3977639"/>
          </a:xfrm>
          <a:prstGeom prst="roundRect">
            <a:avLst>
              <a:gd name="adj" fmla="val 5000"/>
            </a:avLst>
          </a:prstGeom>
          <a:solidFill>
            <a:srgbClr val="1E2E4D"/>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8110727" y="1755648"/>
            <a:ext cx="3493008" cy="274320"/>
          </a:xfrm>
          <a:prstGeom prst="roundRect">
            <a:avLst>
              <a:gd name="adj" fmla="val 50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8220455" y="1824228"/>
            <a:ext cx="100584" cy="100584"/>
          </a:xfrm>
          <a:prstGeom prst="ellipse">
            <a:avLst/>
          </a:prstGeom>
          <a:solidFill>
            <a:srgbClr val="F8717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375903" y="1824228"/>
            <a:ext cx="100584" cy="100584"/>
          </a:xfrm>
          <a:prstGeom prst="ellipse">
            <a:avLst/>
          </a:prstGeom>
          <a:solidFill>
            <a:srgbClr val="FBBF24">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531351" y="1824228"/>
            <a:ext cx="100584" cy="100584"/>
          </a:xfrm>
          <a:prstGeom prst="ellipse">
            <a:avLst/>
          </a:prstGeom>
          <a:solidFill>
            <a:srgbClr val="4ADE8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50807" y="1783080"/>
            <a:ext cx="2724912" cy="219456"/>
          </a:xfrm>
          <a:prstGeom prst="rect">
            <a:avLst/>
          </a:prstGeom>
          <a:noFill/>
        </p:spPr>
        <p:txBody>
          <a:bodyPr wrap="square" lIns="0" tIns="0" rIns="0" bIns="0" anchor="t">
            <a:spAutoFit/>
          </a:bodyPr>
          <a:lstStyle/>
          <a:p>
            <a:pPr algn="l">
              <a:lnSpc>
                <a:spcPct val="100000"/>
              </a:lnSpc>
            </a:pPr>
            <a:r>
              <a:rPr sz="800" b="0">
                <a:solidFill>
                  <a:srgbClr val="6B7C9C"/>
                </a:solidFill>
                <a:latin typeface="Consolas"/>
              </a:rPr>
              <a:t>PO lifecycle · GRN intake</a:t>
            </a:r>
          </a:p>
        </p:txBody>
      </p:sp>
      <p:pic>
        <p:nvPicPr>
          <p:cNvPr id="27" name="Picture 26" descr="purchases.png"/>
          <p:cNvPicPr>
            <a:picLocks noChangeAspect="1"/>
          </p:cNvPicPr>
          <p:nvPr/>
        </p:nvPicPr>
        <p:blipFill>
          <a:blip r:embed="rId5"/>
          <a:stretch>
            <a:fillRect/>
          </a:stretch>
        </p:blipFill>
        <p:spPr>
          <a:xfrm>
            <a:off x="8110727" y="2853499"/>
            <a:ext cx="3493008" cy="1964817"/>
          </a:xfrm>
          <a:prstGeom prst="rect">
            <a:avLst/>
          </a:prstGeom>
          <a:effectLst/>
        </p:spPr>
      </p:pic>
      <p:sp>
        <p:nvSpPr>
          <p:cNvPr id="28" name="TextBox 27"/>
          <p:cNvSpPr txBox="1"/>
          <p:nvPr/>
        </p:nvSpPr>
        <p:spPr>
          <a:xfrm>
            <a:off x="502920" y="5760720"/>
            <a:ext cx="3639312" cy="548640"/>
          </a:xfrm>
          <a:prstGeom prst="rect">
            <a:avLst/>
          </a:prstGeom>
          <a:noFill/>
        </p:spPr>
        <p:txBody>
          <a:bodyPr wrap="square" lIns="0" tIns="0" rIns="0" bIns="0" anchor="t">
            <a:spAutoFit/>
          </a:bodyPr>
          <a:lstStyle/>
          <a:p>
            <a:pPr algn="ctr">
              <a:lnSpc>
                <a:spcPct val="105000"/>
              </a:lnSpc>
            </a:pPr>
            <a:r>
              <a:rPr sz="950" b="0">
                <a:solidFill>
                  <a:srgbClr val="9FB0CC"/>
                </a:solidFill>
                <a:latin typeface="Segoe UI"/>
              </a:rPr>
              <a:t>Receipt = line-level charge snapshot — reprints never drift.</a:t>
            </a:r>
          </a:p>
        </p:txBody>
      </p:sp>
      <p:sp>
        <p:nvSpPr>
          <p:cNvPr id="29" name="TextBox 28"/>
          <p:cNvSpPr txBox="1"/>
          <p:nvPr/>
        </p:nvSpPr>
        <p:spPr>
          <a:xfrm>
            <a:off x="4270248" y="5760720"/>
            <a:ext cx="3639312" cy="548640"/>
          </a:xfrm>
          <a:prstGeom prst="rect">
            <a:avLst/>
          </a:prstGeom>
          <a:noFill/>
        </p:spPr>
        <p:txBody>
          <a:bodyPr wrap="square" lIns="0" tIns="0" rIns="0" bIns="0" anchor="t">
            <a:spAutoFit/>
          </a:bodyPr>
          <a:lstStyle/>
          <a:p>
            <a:pPr algn="ctr">
              <a:lnSpc>
                <a:spcPct val="105000"/>
              </a:lnSpc>
            </a:pPr>
            <a:r>
              <a:rPr sz="950" b="0">
                <a:solidFill>
                  <a:srgbClr val="9FB0CC"/>
                </a:solidFill>
                <a:latin typeface="Segoe UI"/>
              </a:rPr>
              <a:t>Restock, write-offs (DAMAGE/LOSS/THEFT/COUNT), price-edit alerts.</a:t>
            </a:r>
          </a:p>
        </p:txBody>
      </p:sp>
      <p:sp>
        <p:nvSpPr>
          <p:cNvPr id="30" name="TextBox 29"/>
          <p:cNvSpPr txBox="1"/>
          <p:nvPr/>
        </p:nvSpPr>
        <p:spPr>
          <a:xfrm>
            <a:off x="8037575" y="5760720"/>
            <a:ext cx="3639312" cy="548640"/>
          </a:xfrm>
          <a:prstGeom prst="rect">
            <a:avLst/>
          </a:prstGeom>
          <a:noFill/>
        </p:spPr>
        <p:txBody>
          <a:bodyPr wrap="square" lIns="0" tIns="0" rIns="0" bIns="0" anchor="t">
            <a:spAutoFit/>
          </a:bodyPr>
          <a:lstStyle/>
          <a:p>
            <a:pPr algn="ctr">
              <a:lnSpc>
                <a:spcPct val="105000"/>
              </a:lnSpc>
            </a:pPr>
            <a:r>
              <a:rPr sz="950" b="0">
                <a:solidFill>
                  <a:srgbClr val="9FB0CC"/>
                </a:solidFill>
                <a:latin typeface="Segoe UI"/>
              </a:rPr>
              <a:t>GRN lands stock + batch + updated cost in one move.</a:t>
            </a:r>
          </a:p>
        </p:txBody>
      </p:sp>
      <p:sp>
        <p:nvSpPr>
          <p:cNvPr id="31" name="TextBox 30"/>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32" name="TextBox 31"/>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25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60"/>
                                        <p:tgtEl>
                                          <p:spTgt spid="13"/>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60"/>
                                        <p:tgtEl>
                                          <p:spTgt spid="14"/>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60"/>
                                        <p:tgtEl>
                                          <p:spTgt spid="15"/>
                                        </p:tgtEl>
                                      </p:cBhvr>
                                    </p:animEffect>
                                  </p:childTnLst>
                                </p:cTn>
                              </p:par>
                              <p:par>
                                <p:cTn id="29" presetID="10" presetClass="entr" presetSubtype="0" fill="hold" grpId="0" nodeType="withEffect">
                                  <p:stCondLst>
                                    <p:cond delay="56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60"/>
                                        <p:tgtEl>
                                          <p:spTgt spid="20"/>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60"/>
                                        <p:tgtEl>
                                          <p:spTgt spid="21"/>
                                        </p:tgtEl>
                                      </p:cBhvr>
                                    </p:animEffect>
                                  </p:childTnLst>
                                </p:cTn>
                              </p:par>
                              <p:par>
                                <p:cTn id="35" presetID="10" presetClass="entr" presetSubtype="0" fill="hold" grpId="0" nodeType="withEffect">
                                  <p:stCondLst>
                                    <p:cond delay="84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60"/>
                                        <p:tgtEl>
                                          <p:spTgt spid="22"/>
                                        </p:tgtEl>
                                      </p:cBhvr>
                                    </p:animEffect>
                                  </p:childTnLst>
                                </p:cTn>
                              </p:par>
                              <p:par>
                                <p:cTn id="38" presetID="10" presetClass="entr" presetSubtype="0" fill="hold" grpId="0" nodeType="withEffect">
                                  <p:stCondLst>
                                    <p:cond delay="84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60"/>
                                        <p:tgtEl>
                                          <p:spTgt spid="27"/>
                                        </p:tgtEl>
                                      </p:cBhvr>
                                    </p:animEffect>
                                  </p:childTnLst>
                                </p:cTn>
                              </p:par>
                              <p:par>
                                <p:cTn id="41" presetID="10" presetClass="entr" presetSubtype="0" fill="hold" grpId="0" nodeType="withEffect">
                                  <p:stCondLst>
                                    <p:cond delay="112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60"/>
                                        <p:tgtEl>
                                          <p:spTgt spid="28"/>
                                        </p:tgtEl>
                                      </p:cBhvr>
                                    </p:animEffect>
                                  </p:childTnLst>
                                </p:cTn>
                              </p:par>
                              <p:par>
                                <p:cTn id="44" presetID="10" presetClass="entr" presetSubtype="0" fill="hold" grpId="0" nodeType="withEffect">
                                  <p:stCondLst>
                                    <p:cond delay="112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60"/>
                                        <p:tgtEl>
                                          <p:spTgt spid="29"/>
                                        </p:tgtEl>
                                      </p:cBhvr>
                                    </p:animEffect>
                                  </p:childTnLst>
                                </p:cTn>
                              </p:par>
                              <p:par>
                                <p:cTn id="47" presetID="10" presetClass="entr" presetSubtype="0" fill="hold" grpId="0" nodeType="withEffect">
                                  <p:stCondLst>
                                    <p:cond delay="112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6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13" grpId="0"/>
      <p:bldP spid="14" grpId="0" animBg="1"/>
      <p:bldP spid="15" grpId="0" animBg="1"/>
      <p:bldP spid="20" grpId="0"/>
      <p:bldP spid="21" grpId="0" animBg="1"/>
      <p:bldP spid="22" grpId="0" animBg="1"/>
      <p:bldP spid="27" grpId="0"/>
      <p:bldP spid="28" grpId="0"/>
      <p:bldP spid="29"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FBBF24">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FBBF24"/>
                </a:solidFill>
                <a:latin typeface="Segoe UI Semibold"/>
              </a:rPr>
              <a:t>SLIDE 26 · LIVE DEMO</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The Demo Plan — Five Moments</a:t>
            </a:r>
          </a:p>
        </p:txBody>
      </p:sp>
      <p:sp>
        <p:nvSpPr>
          <p:cNvPr id="6" name="Rounded Rectangle 5"/>
          <p:cNvSpPr/>
          <p:nvPr/>
        </p:nvSpPr>
        <p:spPr>
          <a:xfrm>
            <a:off x="521207" y="1316736"/>
            <a:ext cx="658368" cy="4572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One-tap demo chips on the login screen; every role pre-seeded.</a:t>
            </a:r>
          </a:p>
        </p:txBody>
      </p:sp>
      <p:sp>
        <p:nvSpPr>
          <p:cNvPr id="8" name="Rounded Rectangle 7"/>
          <p:cNvSpPr/>
          <p:nvPr/>
        </p:nvSpPr>
        <p:spPr>
          <a:xfrm>
            <a:off x="502920" y="1783080"/>
            <a:ext cx="5120640" cy="301752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0000"/>
              </a:lnSpc>
            </a:pPr>
            <a:endParaRPr sz="900" b="1" dirty="0">
              <a:solidFill>
                <a:srgbClr val="FBBF24"/>
              </a:solidFill>
              <a:latin typeface="Segoe UI Semibold"/>
            </a:endParaRPr>
          </a:p>
        </p:txBody>
      </p:sp>
      <p:sp>
        <p:nvSpPr>
          <p:cNvPr id="9" name="TextBox 8"/>
          <p:cNvSpPr txBox="1"/>
          <p:nvPr/>
        </p:nvSpPr>
        <p:spPr>
          <a:xfrm>
            <a:off x="717804" y="1956816"/>
            <a:ext cx="1371600" cy="274320"/>
          </a:xfrm>
          <a:prstGeom prst="rect">
            <a:avLst/>
          </a:prstGeom>
          <a:noFill/>
        </p:spPr>
        <p:txBody>
          <a:bodyPr wrap="square" lIns="0" tIns="0" rIns="0" bIns="0" anchor="t">
            <a:spAutoFit/>
          </a:bodyPr>
          <a:lstStyle/>
          <a:p>
            <a:pPr algn="l">
              <a:lnSpc>
                <a:spcPct val="100000"/>
              </a:lnSpc>
            </a:pPr>
            <a:r>
              <a:rPr sz="1050" b="1" dirty="0">
                <a:solidFill>
                  <a:srgbClr val="FBBF24"/>
                </a:solidFill>
                <a:latin typeface="Consolas"/>
              </a:rPr>
              <a:t>admin</a:t>
            </a:r>
          </a:p>
        </p:txBody>
      </p:sp>
      <p:sp>
        <p:nvSpPr>
          <p:cNvPr id="10" name="TextBox 9"/>
          <p:cNvSpPr txBox="1"/>
          <p:nvPr/>
        </p:nvSpPr>
        <p:spPr>
          <a:xfrm>
            <a:off x="2057400" y="1965960"/>
            <a:ext cx="1463040" cy="274320"/>
          </a:xfrm>
          <a:prstGeom prst="rect">
            <a:avLst/>
          </a:prstGeom>
          <a:noFill/>
        </p:spPr>
        <p:txBody>
          <a:bodyPr wrap="square" lIns="0" tIns="0" rIns="0" bIns="0" anchor="t">
            <a:spAutoFit/>
          </a:bodyPr>
          <a:lstStyle/>
          <a:p>
            <a:pPr algn="l">
              <a:lnSpc>
                <a:spcPct val="100000"/>
              </a:lnSpc>
            </a:pPr>
            <a:r>
              <a:rPr sz="1050" b="0">
                <a:solidFill>
                  <a:srgbClr val="9FB0CC"/>
                </a:solidFill>
                <a:latin typeface="Consolas"/>
              </a:rPr>
              <a:t>admin123</a:t>
            </a:r>
          </a:p>
        </p:txBody>
      </p:sp>
      <p:sp>
        <p:nvSpPr>
          <p:cNvPr id="11" name="TextBox 10"/>
          <p:cNvSpPr txBox="1"/>
          <p:nvPr/>
        </p:nvSpPr>
        <p:spPr>
          <a:xfrm>
            <a:off x="3611880" y="1965960"/>
            <a:ext cx="1920240" cy="566928"/>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everything incl. staff</a:t>
            </a:r>
          </a:p>
        </p:txBody>
      </p:sp>
      <p:sp>
        <p:nvSpPr>
          <p:cNvPr id="12" name="TextBox 11"/>
          <p:cNvSpPr txBox="1"/>
          <p:nvPr/>
        </p:nvSpPr>
        <p:spPr>
          <a:xfrm>
            <a:off x="685800" y="2679191"/>
            <a:ext cx="1371600" cy="274320"/>
          </a:xfrm>
          <a:prstGeom prst="rect">
            <a:avLst/>
          </a:prstGeom>
          <a:noFill/>
        </p:spPr>
        <p:txBody>
          <a:bodyPr wrap="square" lIns="0" tIns="0" rIns="0" bIns="0" anchor="t">
            <a:spAutoFit/>
          </a:bodyPr>
          <a:lstStyle/>
          <a:p>
            <a:pPr algn="l">
              <a:lnSpc>
                <a:spcPct val="100000"/>
              </a:lnSpc>
            </a:pPr>
            <a:r>
              <a:rPr sz="1050" b="1">
                <a:solidFill>
                  <a:srgbClr val="A78BFA"/>
                </a:solidFill>
                <a:latin typeface="Consolas"/>
              </a:rPr>
              <a:t>manager</a:t>
            </a:r>
          </a:p>
        </p:txBody>
      </p:sp>
      <p:sp>
        <p:nvSpPr>
          <p:cNvPr id="13" name="TextBox 12"/>
          <p:cNvSpPr txBox="1"/>
          <p:nvPr/>
        </p:nvSpPr>
        <p:spPr>
          <a:xfrm>
            <a:off x="2057400" y="2679191"/>
            <a:ext cx="1463040" cy="274320"/>
          </a:xfrm>
          <a:prstGeom prst="rect">
            <a:avLst/>
          </a:prstGeom>
          <a:noFill/>
        </p:spPr>
        <p:txBody>
          <a:bodyPr wrap="square" lIns="0" tIns="0" rIns="0" bIns="0" anchor="t">
            <a:spAutoFit/>
          </a:bodyPr>
          <a:lstStyle/>
          <a:p>
            <a:pPr algn="l">
              <a:lnSpc>
                <a:spcPct val="100000"/>
              </a:lnSpc>
            </a:pPr>
            <a:r>
              <a:rPr sz="1050" b="0">
                <a:solidFill>
                  <a:srgbClr val="9FB0CC"/>
                </a:solidFill>
                <a:latin typeface="Consolas"/>
              </a:rPr>
              <a:t>manager123</a:t>
            </a:r>
          </a:p>
        </p:txBody>
      </p:sp>
      <p:sp>
        <p:nvSpPr>
          <p:cNvPr id="14" name="TextBox 13"/>
          <p:cNvSpPr txBox="1"/>
          <p:nvPr/>
        </p:nvSpPr>
        <p:spPr>
          <a:xfrm>
            <a:off x="3611880" y="2679191"/>
            <a:ext cx="1920240" cy="566928"/>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catalog, POs, reports, day close</a:t>
            </a:r>
          </a:p>
        </p:txBody>
      </p:sp>
      <p:sp>
        <p:nvSpPr>
          <p:cNvPr id="15" name="TextBox 14"/>
          <p:cNvSpPr txBox="1"/>
          <p:nvPr/>
        </p:nvSpPr>
        <p:spPr>
          <a:xfrm>
            <a:off x="685800" y="3392424"/>
            <a:ext cx="1371600" cy="274320"/>
          </a:xfrm>
          <a:prstGeom prst="rect">
            <a:avLst/>
          </a:prstGeom>
          <a:noFill/>
        </p:spPr>
        <p:txBody>
          <a:bodyPr wrap="square" lIns="0" tIns="0" rIns="0" bIns="0" anchor="t">
            <a:spAutoFit/>
          </a:bodyPr>
          <a:lstStyle/>
          <a:p>
            <a:pPr algn="l">
              <a:lnSpc>
                <a:spcPct val="100000"/>
              </a:lnSpc>
            </a:pPr>
            <a:r>
              <a:rPr sz="1050" b="1">
                <a:solidFill>
                  <a:srgbClr val="2DD4BF"/>
                </a:solidFill>
                <a:latin typeface="Consolas"/>
              </a:rPr>
              <a:t>cashier</a:t>
            </a:r>
          </a:p>
        </p:txBody>
      </p:sp>
      <p:sp>
        <p:nvSpPr>
          <p:cNvPr id="16" name="TextBox 15"/>
          <p:cNvSpPr txBox="1"/>
          <p:nvPr/>
        </p:nvSpPr>
        <p:spPr>
          <a:xfrm>
            <a:off x="2057400" y="3392424"/>
            <a:ext cx="1463040" cy="274320"/>
          </a:xfrm>
          <a:prstGeom prst="rect">
            <a:avLst/>
          </a:prstGeom>
          <a:noFill/>
        </p:spPr>
        <p:txBody>
          <a:bodyPr wrap="square" lIns="0" tIns="0" rIns="0" bIns="0" anchor="t">
            <a:spAutoFit/>
          </a:bodyPr>
          <a:lstStyle/>
          <a:p>
            <a:pPr algn="l">
              <a:lnSpc>
                <a:spcPct val="100000"/>
              </a:lnSpc>
            </a:pPr>
            <a:r>
              <a:rPr sz="1050" b="0">
                <a:solidFill>
                  <a:srgbClr val="9FB0CC"/>
                </a:solidFill>
                <a:latin typeface="Consolas"/>
              </a:rPr>
              <a:t>cashier123</a:t>
            </a:r>
          </a:p>
        </p:txBody>
      </p:sp>
      <p:sp>
        <p:nvSpPr>
          <p:cNvPr id="17" name="TextBox 16"/>
          <p:cNvSpPr txBox="1"/>
          <p:nvPr/>
        </p:nvSpPr>
        <p:spPr>
          <a:xfrm>
            <a:off x="3611880" y="3392424"/>
            <a:ext cx="1920240" cy="566928"/>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billing &amp; returns</a:t>
            </a:r>
          </a:p>
        </p:txBody>
      </p:sp>
      <p:sp>
        <p:nvSpPr>
          <p:cNvPr id="18" name="TextBox 17"/>
          <p:cNvSpPr txBox="1"/>
          <p:nvPr/>
        </p:nvSpPr>
        <p:spPr>
          <a:xfrm>
            <a:off x="685800" y="4105656"/>
            <a:ext cx="1371600" cy="274320"/>
          </a:xfrm>
          <a:prstGeom prst="rect">
            <a:avLst/>
          </a:prstGeom>
          <a:noFill/>
        </p:spPr>
        <p:txBody>
          <a:bodyPr wrap="square" lIns="0" tIns="0" rIns="0" bIns="0" anchor="t">
            <a:spAutoFit/>
          </a:bodyPr>
          <a:lstStyle/>
          <a:p>
            <a:pPr algn="l">
              <a:lnSpc>
                <a:spcPct val="100000"/>
              </a:lnSpc>
            </a:pPr>
            <a:r>
              <a:rPr sz="1050" b="1">
                <a:solidFill>
                  <a:srgbClr val="60A5FA"/>
                </a:solidFill>
                <a:latin typeface="Consolas"/>
              </a:rPr>
              <a:t>developer</a:t>
            </a:r>
          </a:p>
        </p:txBody>
      </p:sp>
      <p:sp>
        <p:nvSpPr>
          <p:cNvPr id="19" name="TextBox 18"/>
          <p:cNvSpPr txBox="1"/>
          <p:nvPr/>
        </p:nvSpPr>
        <p:spPr>
          <a:xfrm>
            <a:off x="2057400" y="4105656"/>
            <a:ext cx="1463040" cy="274320"/>
          </a:xfrm>
          <a:prstGeom prst="rect">
            <a:avLst/>
          </a:prstGeom>
          <a:noFill/>
        </p:spPr>
        <p:txBody>
          <a:bodyPr wrap="square" lIns="0" tIns="0" rIns="0" bIns="0" anchor="t">
            <a:spAutoFit/>
          </a:bodyPr>
          <a:lstStyle/>
          <a:p>
            <a:pPr algn="l">
              <a:lnSpc>
                <a:spcPct val="100000"/>
              </a:lnSpc>
            </a:pPr>
            <a:r>
              <a:rPr sz="1050" b="0">
                <a:solidFill>
                  <a:srgbClr val="9FB0CC"/>
                </a:solidFill>
                <a:latin typeface="Consolas"/>
              </a:rPr>
              <a:t>developer123</a:t>
            </a:r>
          </a:p>
        </p:txBody>
      </p:sp>
      <p:sp>
        <p:nvSpPr>
          <p:cNvPr id="20" name="TextBox 19"/>
          <p:cNvSpPr txBox="1"/>
          <p:nvPr/>
        </p:nvSpPr>
        <p:spPr>
          <a:xfrm>
            <a:off x="3611880" y="4105656"/>
            <a:ext cx="1920240" cy="566928"/>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pattern studio</a:t>
            </a:r>
          </a:p>
        </p:txBody>
      </p:sp>
      <p:sp>
        <p:nvSpPr>
          <p:cNvPr id="21" name="Rounded Rectangle 20"/>
          <p:cNvSpPr/>
          <p:nvPr/>
        </p:nvSpPr>
        <p:spPr>
          <a:xfrm>
            <a:off x="502920" y="4983480"/>
            <a:ext cx="5120640" cy="1051560"/>
          </a:xfrm>
          <a:prstGeom prst="roundRect">
            <a:avLst>
              <a:gd name="adj" fmla="val 9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l">
              <a:lnSpc>
                <a:spcPct val="100000"/>
              </a:lnSpc>
              <a:spcAft>
                <a:spcPts val="300"/>
              </a:spcAft>
            </a:pPr>
            <a:r>
              <a:rPr sz="900" b="1">
                <a:solidFill>
                  <a:srgbClr val="FBBF24"/>
                </a:solidFill>
                <a:latin typeface="Segoe UI Semibold"/>
              </a:rPr>
              <a:t>RUN IT</a:t>
            </a:r>
          </a:p>
          <a:p>
            <a:pPr algn="l">
              <a:lnSpc>
                <a:spcPct val="100000"/>
              </a:lnSpc>
              <a:spcAft>
                <a:spcPts val="300"/>
              </a:spcAft>
            </a:pPr>
            <a:r>
              <a:rPr sz="1200" b="1">
                <a:solidFill>
                  <a:srgbClr val="F2F6FD"/>
                </a:solidFill>
                <a:latin typeface="Consolas"/>
              </a:rPr>
              <a:t>.\mvnw.cmd spring-boot:run</a:t>
            </a:r>
          </a:p>
          <a:p>
            <a:pPr algn="l">
              <a:lnSpc>
                <a:spcPct val="100000"/>
              </a:lnSpc>
              <a:spcAft>
                <a:spcPts val="300"/>
              </a:spcAft>
            </a:pPr>
            <a:r>
              <a:rPr sz="950" b="0">
                <a:solidFill>
                  <a:srgbClr val="6B7C9C"/>
                </a:solidFill>
                <a:latin typeface="Segoe UI"/>
              </a:rPr>
              <a:t>→  http://localhost:8080   (in-memory, zero setup)</a:t>
            </a:r>
          </a:p>
        </p:txBody>
      </p:sp>
      <p:sp>
        <p:nvSpPr>
          <p:cNvPr id="22" name="Rounded Rectangle 21"/>
          <p:cNvSpPr/>
          <p:nvPr/>
        </p:nvSpPr>
        <p:spPr>
          <a:xfrm>
            <a:off x="5852160" y="1783080"/>
            <a:ext cx="5833872" cy="78638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777240" tIns="54864" rIns="777240" bIns="54864" rtlCol="0" anchor="ctr"/>
          <a:lstStyle/>
          <a:p>
            <a:pPr algn="l">
              <a:lnSpc>
                <a:spcPct val="100000"/>
              </a:lnSpc>
            </a:pPr>
            <a:r>
              <a:rPr sz="1100" b="1">
                <a:solidFill>
                  <a:srgbClr val="F2F6FD"/>
                </a:solidFill>
                <a:latin typeface="Segoe UI Semibold"/>
              </a:rPr>
              <a:t>Cashier bills a member</a:t>
            </a:r>
          </a:p>
          <a:p>
            <a:pPr algn="l">
              <a:lnSpc>
                <a:spcPct val="100000"/>
              </a:lnSpc>
            </a:pPr>
            <a:r>
              <a:rPr sz="950" b="0">
                <a:solidFill>
                  <a:srgbClr val="9FB0CC"/>
                </a:solidFill>
                <a:latin typeface="Segoe UI"/>
              </a:rPr>
              <a:t>watch the 5% member price apply live &amp; points accrue</a:t>
            </a:r>
          </a:p>
        </p:txBody>
      </p:sp>
      <p:sp>
        <p:nvSpPr>
          <p:cNvPr id="23" name="Rounded Rectangle 22"/>
          <p:cNvSpPr/>
          <p:nvPr/>
        </p:nvSpPr>
        <p:spPr>
          <a:xfrm>
            <a:off x="5989320" y="1938528"/>
            <a:ext cx="475488" cy="475488"/>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1">
                <a:solidFill>
                  <a:srgbClr val="0B1220"/>
                </a:solidFill>
                <a:latin typeface="Segoe UI Semibold"/>
              </a:rPr>
              <a:t>1</a:t>
            </a:r>
          </a:p>
        </p:txBody>
      </p:sp>
      <p:sp>
        <p:nvSpPr>
          <p:cNvPr id="24" name="Rounded Rectangle 23"/>
          <p:cNvSpPr/>
          <p:nvPr/>
        </p:nvSpPr>
        <p:spPr>
          <a:xfrm>
            <a:off x="5852160" y="2679191"/>
            <a:ext cx="5833872" cy="78638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777240" tIns="54864" rIns="777240" bIns="54864" rtlCol="0" anchor="ctr"/>
          <a:lstStyle/>
          <a:p>
            <a:pPr algn="l">
              <a:lnSpc>
                <a:spcPct val="100000"/>
              </a:lnSpc>
            </a:pPr>
            <a:r>
              <a:rPr sz="1100" b="1">
                <a:solidFill>
                  <a:srgbClr val="F2F6FD"/>
                </a:solidFill>
                <a:latin typeface="Segoe UI Semibold"/>
              </a:rPr>
              <a:t>Manager toggles a promo</a:t>
            </a:r>
          </a:p>
          <a:p>
            <a:pPr algn="l">
              <a:lnSpc>
                <a:spcPct val="100000"/>
              </a:lnSpc>
            </a:pPr>
            <a:r>
              <a:rPr sz="950" b="0">
                <a:solidFill>
                  <a:srgbClr val="9FB0CC"/>
                </a:solidFill>
                <a:latin typeface="Segoe UI"/>
              </a:rPr>
              <a:t>till price changes — zero redeploy</a:t>
            </a:r>
          </a:p>
        </p:txBody>
      </p:sp>
      <p:sp>
        <p:nvSpPr>
          <p:cNvPr id="25" name="Rounded Rectangle 24"/>
          <p:cNvSpPr/>
          <p:nvPr/>
        </p:nvSpPr>
        <p:spPr>
          <a:xfrm>
            <a:off x="5989320" y="2834639"/>
            <a:ext cx="475488" cy="475488"/>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1">
                <a:solidFill>
                  <a:srgbClr val="0B1220"/>
                </a:solidFill>
                <a:latin typeface="Segoe UI Semibold"/>
              </a:rPr>
              <a:t>2</a:t>
            </a:r>
          </a:p>
        </p:txBody>
      </p:sp>
      <p:sp>
        <p:nvSpPr>
          <p:cNvPr id="26" name="Rounded Rectangle 25"/>
          <p:cNvSpPr/>
          <p:nvPr/>
        </p:nvSpPr>
        <p:spPr>
          <a:xfrm>
            <a:off x="5852160" y="3575303"/>
            <a:ext cx="5833872" cy="78638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777240" tIns="54864" rIns="777240" bIns="54864" rtlCol="0" anchor="ctr"/>
          <a:lstStyle/>
          <a:p>
            <a:pPr algn="l">
              <a:lnSpc>
                <a:spcPct val="100000"/>
              </a:lnSpc>
            </a:pPr>
            <a:r>
              <a:rPr sz="1100" b="1">
                <a:solidFill>
                  <a:srgbClr val="F2F6FD"/>
                </a:solidFill>
                <a:latin typeface="Segoe UI Semibold"/>
              </a:rPr>
              <a:t>Void with a required reason</a:t>
            </a:r>
          </a:p>
          <a:p>
            <a:pPr algn="l">
              <a:lnSpc>
                <a:spcPct val="100000"/>
              </a:lnSpc>
            </a:pPr>
            <a:r>
              <a:rPr sz="950" b="0">
                <a:solidFill>
                  <a:srgbClr val="9FB0CC"/>
                </a:solidFill>
                <a:latin typeface="Segoe UI"/>
              </a:rPr>
              <a:t>stock, tender &amp; points reversed; audit trail captures it</a:t>
            </a:r>
          </a:p>
        </p:txBody>
      </p:sp>
      <p:sp>
        <p:nvSpPr>
          <p:cNvPr id="27" name="Rounded Rectangle 26"/>
          <p:cNvSpPr/>
          <p:nvPr/>
        </p:nvSpPr>
        <p:spPr>
          <a:xfrm>
            <a:off x="5989320" y="3730752"/>
            <a:ext cx="475488" cy="475488"/>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1">
                <a:solidFill>
                  <a:srgbClr val="0B1220"/>
                </a:solidFill>
                <a:latin typeface="Segoe UI Semibold"/>
              </a:rPr>
              <a:t>3</a:t>
            </a:r>
          </a:p>
        </p:txBody>
      </p:sp>
      <p:sp>
        <p:nvSpPr>
          <p:cNvPr id="28" name="Rounded Rectangle 27"/>
          <p:cNvSpPr/>
          <p:nvPr/>
        </p:nvSpPr>
        <p:spPr>
          <a:xfrm>
            <a:off x="5852160" y="4471416"/>
            <a:ext cx="5833872" cy="78638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777240" tIns="54864" rIns="777240" bIns="54864" rtlCol="0" anchor="ctr"/>
          <a:lstStyle/>
          <a:p>
            <a:pPr algn="l">
              <a:lnSpc>
                <a:spcPct val="100000"/>
              </a:lnSpc>
            </a:pPr>
            <a:r>
              <a:rPr sz="1100" b="1">
                <a:solidFill>
                  <a:srgbClr val="F2F6FD"/>
                </a:solidFill>
                <a:latin typeface="Segoe UI Semibold"/>
              </a:rPr>
              <a:t>Day close</a:t>
            </a:r>
          </a:p>
          <a:p>
            <a:pPr algn="l">
              <a:lnSpc>
                <a:spcPct val="100000"/>
              </a:lnSpc>
            </a:pPr>
            <a:r>
              <a:rPr sz="950" b="0">
                <a:solidFill>
                  <a:srgbClr val="9FB0CC"/>
                </a:solidFill>
                <a:latin typeface="Segoe UI"/>
              </a:rPr>
              <a:t>Z-report reconciles the drawer to zero variance</a:t>
            </a:r>
          </a:p>
        </p:txBody>
      </p:sp>
      <p:sp>
        <p:nvSpPr>
          <p:cNvPr id="29" name="Rounded Rectangle 28"/>
          <p:cNvSpPr/>
          <p:nvPr/>
        </p:nvSpPr>
        <p:spPr>
          <a:xfrm>
            <a:off x="5989320" y="4626864"/>
            <a:ext cx="475488" cy="475488"/>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1">
                <a:solidFill>
                  <a:srgbClr val="0B1220"/>
                </a:solidFill>
                <a:latin typeface="Segoe UI Semibold"/>
              </a:rPr>
              <a:t>4</a:t>
            </a:r>
          </a:p>
        </p:txBody>
      </p:sp>
      <p:sp>
        <p:nvSpPr>
          <p:cNvPr id="30" name="Rounded Rectangle 29"/>
          <p:cNvSpPr/>
          <p:nvPr/>
        </p:nvSpPr>
        <p:spPr>
          <a:xfrm>
            <a:off x="5852160" y="5367527"/>
            <a:ext cx="5833872" cy="786384"/>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777240" tIns="54864" rIns="777240" bIns="54864" rtlCol="0" anchor="ctr"/>
          <a:lstStyle/>
          <a:p>
            <a:pPr algn="l">
              <a:lnSpc>
                <a:spcPct val="100000"/>
              </a:lnSpc>
            </a:pPr>
            <a:r>
              <a:rPr sz="1100" b="1">
                <a:solidFill>
                  <a:srgbClr val="F2F6FD"/>
                </a:solidFill>
                <a:latin typeface="Segoe UI Semibold"/>
              </a:rPr>
              <a:t>Developer Mode</a:t>
            </a:r>
          </a:p>
          <a:p>
            <a:pPr algn="l">
              <a:lnSpc>
                <a:spcPct val="100000"/>
              </a:lnSpc>
            </a:pPr>
            <a:r>
              <a:rPr sz="950" b="0">
                <a:solidFill>
                  <a:srgbClr val="9FB0CC"/>
                </a:solidFill>
                <a:latin typeface="Segoe UI"/>
              </a:rPr>
              <a:t>the 18 pattern cards you've heard about all talk</a:t>
            </a:r>
          </a:p>
        </p:txBody>
      </p:sp>
      <p:sp>
        <p:nvSpPr>
          <p:cNvPr id="31" name="Rounded Rectangle 30"/>
          <p:cNvSpPr/>
          <p:nvPr/>
        </p:nvSpPr>
        <p:spPr>
          <a:xfrm>
            <a:off x="5989320" y="5522975"/>
            <a:ext cx="475488" cy="475488"/>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300" b="1">
                <a:solidFill>
                  <a:srgbClr val="0B1220"/>
                </a:solidFill>
                <a:latin typeface="Segoe UI Semibold"/>
              </a:rPr>
              <a:t>5</a:t>
            </a:r>
          </a:p>
        </p:txBody>
      </p:sp>
      <p:sp>
        <p:nvSpPr>
          <p:cNvPr id="32" name="TextBox 31"/>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33" name="TextBox 32"/>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26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60"/>
                                        <p:tgtEl>
                                          <p:spTgt spid="2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60"/>
                                        <p:tgtEl>
                                          <p:spTgt spid="22"/>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60"/>
                                        <p:tgtEl>
                                          <p:spTgt spid="23"/>
                                        </p:tgtEl>
                                      </p:cBhvr>
                                    </p:animEffect>
                                  </p:childTnLst>
                                </p:cTn>
                              </p:par>
                              <p:par>
                                <p:cTn id="29" presetID="10" presetClass="entr" presetSubtype="0" fill="hold" grpId="0" nodeType="withEffect">
                                  <p:stCondLst>
                                    <p:cond delay="112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60"/>
                                        <p:tgtEl>
                                          <p:spTgt spid="24"/>
                                        </p:tgtEl>
                                      </p:cBhvr>
                                    </p:animEffect>
                                  </p:childTnLst>
                                </p:cTn>
                              </p:par>
                              <p:par>
                                <p:cTn id="32" presetID="10" presetClass="entr" presetSubtype="0" fill="hold" grpId="0" nodeType="withEffect">
                                  <p:stCondLst>
                                    <p:cond delay="112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60"/>
                                        <p:tgtEl>
                                          <p:spTgt spid="25"/>
                                        </p:tgtEl>
                                      </p:cBhvr>
                                    </p:animEffect>
                                  </p:childTnLst>
                                </p:cTn>
                              </p:par>
                              <p:par>
                                <p:cTn id="35" presetID="10" presetClass="entr" presetSubtype="0" fill="hold" grpId="0" nodeType="withEffect">
                                  <p:stCondLst>
                                    <p:cond delay="140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60"/>
                                        <p:tgtEl>
                                          <p:spTgt spid="26"/>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60"/>
                                        <p:tgtEl>
                                          <p:spTgt spid="27"/>
                                        </p:tgtEl>
                                      </p:cBhvr>
                                    </p:animEffect>
                                  </p:childTnLst>
                                </p:cTn>
                              </p:par>
                              <p:par>
                                <p:cTn id="41" presetID="10" presetClass="entr" presetSubtype="0" fill="hold" grpId="0" nodeType="withEffect">
                                  <p:stCondLst>
                                    <p:cond delay="168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60"/>
                                        <p:tgtEl>
                                          <p:spTgt spid="28"/>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60"/>
                                        <p:tgtEl>
                                          <p:spTgt spid="29"/>
                                        </p:tgtEl>
                                      </p:cBhvr>
                                    </p:animEffect>
                                  </p:childTnLst>
                                </p:cTn>
                              </p:par>
                              <p:par>
                                <p:cTn id="47" presetID="10" presetClass="entr" presetSubtype="0" fill="hold" grpId="0" nodeType="withEffect">
                                  <p:stCondLst>
                                    <p:cond delay="196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60"/>
                                        <p:tgtEl>
                                          <p:spTgt spid="30"/>
                                        </p:tgtEl>
                                      </p:cBhvr>
                                    </p:animEffect>
                                  </p:childTnLst>
                                </p:cTn>
                              </p:par>
                              <p:par>
                                <p:cTn id="50" presetID="10" presetClass="entr" presetSubtype="0" fill="hold" grpId="0" nodeType="withEffect">
                                  <p:stCondLst>
                                    <p:cond delay="196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6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A78BFA">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A78BF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A78BFA"/>
                </a:solidFill>
                <a:latin typeface="Segoe UI Semibold"/>
              </a:rPr>
              <a:t>SLIDE 27 · ROADMAP</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Honest About What's Next</a:t>
            </a:r>
          </a:p>
        </p:txBody>
      </p:sp>
      <p:sp>
        <p:nvSpPr>
          <p:cNvPr id="6" name="Rounded Rectangle 5"/>
          <p:cNvSpPr/>
          <p:nvPr/>
        </p:nvSpPr>
        <p:spPr>
          <a:xfrm>
            <a:off x="521207" y="1316736"/>
            <a:ext cx="658368" cy="45720"/>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02920" y="1426464"/>
            <a:ext cx="11155680" cy="292608"/>
          </a:xfrm>
          <a:prstGeom prst="rect">
            <a:avLst/>
          </a:prstGeom>
          <a:noFill/>
        </p:spPr>
        <p:txBody>
          <a:bodyPr wrap="square" lIns="0" tIns="0" rIns="0" bIns="0" anchor="t">
            <a:spAutoFit/>
          </a:bodyPr>
          <a:lstStyle/>
          <a:p>
            <a:pPr algn="l">
              <a:lnSpc>
                <a:spcPct val="100000"/>
              </a:lnSpc>
            </a:pPr>
            <a:r>
              <a:rPr sz="1250" b="0">
                <a:solidFill>
                  <a:srgbClr val="9FB0CC"/>
                </a:solidFill>
                <a:latin typeface="Segoe UI"/>
              </a:rPr>
              <a:t>Growth = new adapters &amp; observers, not a rewrite.</a:t>
            </a:r>
          </a:p>
        </p:txBody>
      </p:sp>
      <p:sp>
        <p:nvSpPr>
          <p:cNvPr id="8" name="Rounded Rectangle 7"/>
          <p:cNvSpPr/>
          <p:nvPr/>
        </p:nvSpPr>
        <p:spPr>
          <a:xfrm>
            <a:off x="502920" y="1828800"/>
            <a:ext cx="3611880" cy="3291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350" b="1">
                <a:solidFill>
                  <a:srgbClr val="4ADE80"/>
                </a:solidFill>
                <a:latin typeface="Segoe UI Semibold"/>
              </a:rPr>
              <a:t>Real bKash &amp; Nagad</a:t>
            </a:r>
          </a:p>
          <a:p>
            <a:pPr algn="l">
              <a:lnSpc>
                <a:spcPct val="104000"/>
              </a:lnSpc>
              <a:spcAft>
                <a:spcPts val="300"/>
              </a:spcAft>
            </a:pPr>
            <a:r>
              <a:rPr sz="1050" b="0">
                <a:solidFill>
                  <a:srgbClr val="9FB0CC"/>
                </a:solidFill>
                <a:latin typeface="Segoe UI"/>
              </a:rPr>
              <a:t>Simulated today — deliberately. The Adapter layer is 100% real and fully isolates the vendor shape: production swap is a one-connector change, the bill's code untouched.</a:t>
            </a:r>
          </a:p>
          <a:p>
            <a:pPr algn="l">
              <a:lnSpc>
                <a:spcPct val="104000"/>
              </a:lnSpc>
              <a:spcAft>
                <a:spcPts val="300"/>
              </a:spcAft>
            </a:pPr>
            <a:r>
              <a:rPr sz="850" b="0">
                <a:solidFill>
                  <a:srgbClr val="6B7C9C"/>
                </a:solidFill>
                <a:latin typeface="Consolas"/>
              </a:rPr>
              <a:t>payment/vendor/BkashMerchantApi.java → real SDK</a:t>
            </a:r>
          </a:p>
        </p:txBody>
      </p:sp>
      <p:sp>
        <p:nvSpPr>
          <p:cNvPr id="9" name="Rounded Rectangle 8"/>
          <p:cNvSpPr/>
          <p:nvPr/>
        </p:nvSpPr>
        <p:spPr>
          <a:xfrm>
            <a:off x="502920" y="1828800"/>
            <a:ext cx="64008" cy="329184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0" y="1828800"/>
            <a:ext cx="3611880" cy="3291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350" b="1">
                <a:solidFill>
                  <a:srgbClr val="60A5FA"/>
                </a:solidFill>
                <a:latin typeface="Segoe UI Semibold"/>
              </a:rPr>
              <a:t>Multi-branch</a:t>
            </a:r>
          </a:p>
          <a:p>
            <a:pPr algn="l">
              <a:lnSpc>
                <a:spcPct val="104000"/>
              </a:lnSpc>
              <a:spcAft>
                <a:spcPts val="300"/>
              </a:spcAft>
            </a:pPr>
            <a:r>
              <a:rPr sz="1050" b="0">
                <a:solidFill>
                  <a:srgbClr val="9FB0CC"/>
                </a:solidFill>
                <a:latin typeface="Segoe UI"/>
              </a:rPr>
              <a:t>The Repository abstraction already separates storage from domain — per-branch catalogs on the same interfaces.</a:t>
            </a:r>
          </a:p>
          <a:p>
            <a:pPr algn="l">
              <a:lnSpc>
                <a:spcPct val="104000"/>
              </a:lnSpc>
              <a:spcAft>
                <a:spcPts val="300"/>
              </a:spcAft>
            </a:pPr>
            <a:r>
              <a:rPr sz="850" b="0">
                <a:solidFill>
                  <a:srgbClr val="6B7C9C"/>
                </a:solidFill>
                <a:latin typeface="Consolas"/>
              </a:rPr>
              <a:t>Repository&lt;T&gt; stays, wiring multiplies</a:t>
            </a:r>
          </a:p>
        </p:txBody>
      </p:sp>
      <p:sp>
        <p:nvSpPr>
          <p:cNvPr id="11" name="Rounded Rectangle 10"/>
          <p:cNvSpPr/>
          <p:nvPr/>
        </p:nvSpPr>
        <p:spPr>
          <a:xfrm>
            <a:off x="4297680" y="1828800"/>
            <a:ext cx="64008" cy="3291840"/>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092440" y="1828800"/>
            <a:ext cx="3611880" cy="329184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lstStyle/>
          <a:p>
            <a:pPr algn="l">
              <a:lnSpc>
                <a:spcPct val="104000"/>
              </a:lnSpc>
              <a:spcAft>
                <a:spcPts val="300"/>
              </a:spcAft>
            </a:pPr>
            <a:r>
              <a:rPr sz="1350" b="1">
                <a:solidFill>
                  <a:srgbClr val="FBBF24"/>
                </a:solidFill>
                <a:latin typeface="Segoe UI Semibold"/>
              </a:rPr>
              <a:t>Owner's mobile companion</a:t>
            </a:r>
          </a:p>
          <a:p>
            <a:pPr algn="l">
              <a:lnSpc>
                <a:spcPct val="104000"/>
              </a:lnSpc>
              <a:spcAft>
                <a:spcPts val="300"/>
              </a:spcAft>
            </a:pPr>
            <a:r>
              <a:rPr sz="1050" b="0">
                <a:solidFill>
                  <a:srgbClr val="9FB0CC"/>
                </a:solidFill>
                <a:latin typeface="Segoe UI"/>
              </a:rPr>
              <a:t>KPIs, alerts and approvals on the go — the SPA's API is already clean enough to serve a second client.</a:t>
            </a:r>
          </a:p>
          <a:p>
            <a:pPr algn="l">
              <a:lnSpc>
                <a:spcPct val="104000"/>
              </a:lnSpc>
              <a:spcAft>
                <a:spcPts val="300"/>
              </a:spcAft>
            </a:pPr>
            <a:r>
              <a:rPr sz="850" b="0">
                <a:solidFill>
                  <a:srgbClr val="6B7C9C"/>
                </a:solidFill>
                <a:latin typeface="Consolas"/>
              </a:rPr>
              <a:t>~70 REST endpoints, ready</a:t>
            </a:r>
          </a:p>
        </p:txBody>
      </p:sp>
      <p:sp>
        <p:nvSpPr>
          <p:cNvPr id="13" name="Rounded Rectangle 12"/>
          <p:cNvSpPr/>
          <p:nvPr/>
        </p:nvSpPr>
        <p:spPr>
          <a:xfrm>
            <a:off x="8092440" y="1828800"/>
            <a:ext cx="64008" cy="329184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5394960"/>
            <a:ext cx="11183112" cy="640080"/>
          </a:xfrm>
          <a:prstGeom prst="roundRect">
            <a:avLst>
              <a:gd name="adj" fmla="val 9000"/>
            </a:avLst>
          </a:prstGeom>
          <a:solidFill>
            <a:srgbClr val="14213A"/>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050" b="1">
                <a:solidFill>
                  <a:srgbClr val="F2F6FD"/>
                </a:solidFill>
                <a:latin typeface="Segoe UI Semibold"/>
              </a:rPr>
              <a:t>What's simulated today is isolated behind real interfaces — </a:t>
            </a:r>
            <a:r>
              <a:rPr sz="1050" b="0">
                <a:solidFill>
                  <a:srgbClr val="9FB0CC"/>
                </a:solidFill>
                <a:latin typeface="Segoe UI"/>
              </a:rPr>
              <a:t>that's a design decision, not a shortcut.</a:t>
            </a:r>
          </a:p>
        </p:txBody>
      </p:sp>
      <p:sp>
        <p:nvSpPr>
          <p:cNvPr id="15" name="TextBox 14"/>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6" name="TextBox 15"/>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27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2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5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par>
                                <p:cTn id="32" presetID="10" presetClass="entr" presetSubtype="0" fill="hold" grpId="0" nodeType="withEffect">
                                  <p:stCondLst>
                                    <p:cond delay="8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60"/>
                                        <p:tgtEl>
                                          <p:spTgt spid="13"/>
                                        </p:tgtEl>
                                      </p:cBhvr>
                                    </p:animEffect>
                                  </p:childTnLst>
                                </p:cTn>
                              </p:par>
                              <p:par>
                                <p:cTn id="35" presetID="10" presetClass="entr" presetSubtype="0" fill="hold" grpId="0" nodeType="withEffect">
                                  <p:stCondLst>
                                    <p:cond delay="1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2DD4B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2DD4B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2DD4BF"/>
                </a:solidFill>
                <a:latin typeface="Segoe UI Semibold"/>
              </a:rPr>
              <a:t>SLIDE 28 · RETROSPECTIVE</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What We Learned</a:t>
            </a:r>
          </a:p>
        </p:txBody>
      </p:sp>
      <p:sp>
        <p:nvSpPr>
          <p:cNvPr id="6" name="Rounded Rectangle 5"/>
          <p:cNvSpPr/>
          <p:nvPr/>
        </p:nvSpPr>
        <p:spPr>
          <a:xfrm>
            <a:off x="521207" y="1316736"/>
            <a:ext cx="658368" cy="45720"/>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920240"/>
            <a:ext cx="3611880" cy="3200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8000"/>
              </a:lnSpc>
              <a:spcAft>
                <a:spcPts val="600"/>
              </a:spcAft>
            </a:pPr>
            <a:r>
              <a:rPr sz="2000" b="0" dirty="0">
                <a:solidFill>
                  <a:srgbClr val="F2F6FD"/>
                </a:solidFill>
                <a:latin typeface="Segoe UI"/>
              </a:rPr>
              <a:t> </a:t>
            </a: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r>
              <a:rPr sz="1350" b="1" dirty="0">
                <a:solidFill>
                  <a:srgbClr val="F2F6FD"/>
                </a:solidFill>
                <a:latin typeface="Segoe UI Semibold"/>
              </a:rPr>
              <a:t>Patterns are tools, not decorations</a:t>
            </a:r>
          </a:p>
          <a:p>
            <a:pPr algn="l">
              <a:lnSpc>
                <a:spcPct val="108000"/>
              </a:lnSpc>
              <a:spcAft>
                <a:spcPts val="600"/>
              </a:spcAft>
            </a:pPr>
            <a:r>
              <a:rPr sz="1050" b="0" dirty="0">
                <a:solidFill>
                  <a:srgbClr val="9FB0CC"/>
                </a:solidFill>
                <a:latin typeface="Segoe UI"/>
              </a:rPr>
              <a:t>Every one of the 18 exists because a feature demanded it. And the ones we rejected taught us as much as the ones we kept.</a:t>
            </a:r>
          </a:p>
        </p:txBody>
      </p:sp>
      <p:sp>
        <p:nvSpPr>
          <p:cNvPr id="8" name="Oval 7"/>
          <p:cNvSpPr/>
          <p:nvPr/>
        </p:nvSpPr>
        <p:spPr>
          <a:xfrm>
            <a:off x="731520" y="2194560"/>
            <a:ext cx="640080" cy="640080"/>
          </a:xfrm>
          <a:prstGeom prst="ellipse">
            <a:avLst/>
          </a:prstGeom>
          <a:solidFill>
            <a:srgbClr val="2DD4BF">
              <a:alpha val="100000"/>
            </a:srgbClr>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2000" b="1">
                <a:solidFill>
                  <a:srgbClr val="0B1220"/>
                </a:solidFill>
                <a:latin typeface="Segoe UI Semibold"/>
              </a:rPr>
              <a:t>1</a:t>
            </a:r>
          </a:p>
        </p:txBody>
      </p:sp>
      <p:sp>
        <p:nvSpPr>
          <p:cNvPr id="9" name="Rounded Rectangle 8"/>
          <p:cNvSpPr/>
          <p:nvPr/>
        </p:nvSpPr>
        <p:spPr>
          <a:xfrm>
            <a:off x="4297680" y="1920240"/>
            <a:ext cx="3611880" cy="3200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8000"/>
              </a:lnSpc>
              <a:spcAft>
                <a:spcPts val="600"/>
              </a:spcAft>
            </a:pPr>
            <a:r>
              <a:rPr sz="2000" b="0" dirty="0">
                <a:solidFill>
                  <a:srgbClr val="F2F6FD"/>
                </a:solidFill>
                <a:latin typeface="Segoe UI"/>
              </a:rPr>
              <a:t> </a:t>
            </a: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r>
              <a:rPr sz="1350" b="1" dirty="0">
                <a:solidFill>
                  <a:srgbClr val="F2F6FD"/>
                </a:solidFill>
                <a:latin typeface="Segoe UI Semibold"/>
              </a:rPr>
              <a:t>Domain purity pays</a:t>
            </a:r>
          </a:p>
          <a:p>
            <a:pPr algn="l">
              <a:lnSpc>
                <a:spcPct val="108000"/>
              </a:lnSpc>
              <a:spcAft>
                <a:spcPts val="600"/>
              </a:spcAft>
            </a:pPr>
            <a:r>
              <a:rPr sz="1050" b="0" dirty="0">
                <a:solidFill>
                  <a:srgbClr val="9FB0CC"/>
                </a:solidFill>
                <a:latin typeface="Segoe UI"/>
              </a:rPr>
              <a:t>A POJO domain with zero framework annotations is exactly what kept the patterns visible, honest, and unit-testable.</a:t>
            </a:r>
          </a:p>
        </p:txBody>
      </p:sp>
      <p:sp>
        <p:nvSpPr>
          <p:cNvPr id="10" name="Oval 9"/>
          <p:cNvSpPr/>
          <p:nvPr/>
        </p:nvSpPr>
        <p:spPr>
          <a:xfrm>
            <a:off x="4526280" y="2194560"/>
            <a:ext cx="640080" cy="640080"/>
          </a:xfrm>
          <a:prstGeom prst="ellipse">
            <a:avLst/>
          </a:prstGeom>
          <a:solidFill>
            <a:srgbClr val="A78BFA">
              <a:alpha val="100000"/>
            </a:srgbClr>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2000" b="1">
                <a:solidFill>
                  <a:srgbClr val="0B1220"/>
                </a:solidFill>
                <a:latin typeface="Segoe UI Semibold"/>
              </a:rPr>
              <a:t>2</a:t>
            </a:r>
          </a:p>
        </p:txBody>
      </p:sp>
      <p:sp>
        <p:nvSpPr>
          <p:cNvPr id="11" name="Rounded Rectangle 10"/>
          <p:cNvSpPr/>
          <p:nvPr/>
        </p:nvSpPr>
        <p:spPr>
          <a:xfrm>
            <a:off x="8092440" y="1920240"/>
            <a:ext cx="3611880" cy="3200400"/>
          </a:xfrm>
          <a:prstGeom prst="roundRect">
            <a:avLst>
              <a:gd name="adj" fmla="val 9000"/>
            </a:avLst>
          </a:prstGeom>
          <a:solidFill>
            <a:srgbClr val="18263F"/>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t"/>
          <a:lstStyle/>
          <a:p>
            <a:pPr algn="l">
              <a:lnSpc>
                <a:spcPct val="108000"/>
              </a:lnSpc>
              <a:spcAft>
                <a:spcPts val="600"/>
              </a:spcAft>
            </a:pPr>
            <a:r>
              <a:rPr sz="2000" b="0" dirty="0">
                <a:solidFill>
                  <a:srgbClr val="F2F6FD"/>
                </a:solidFill>
                <a:latin typeface="Segoe UI"/>
              </a:rPr>
              <a:t> </a:t>
            </a: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endParaRPr lang="en-US" sz="1350" b="1" dirty="0">
              <a:solidFill>
                <a:srgbClr val="F2F6FD"/>
              </a:solidFill>
              <a:latin typeface="Segoe UI Semibold"/>
            </a:endParaRPr>
          </a:p>
          <a:p>
            <a:pPr algn="l">
              <a:lnSpc>
                <a:spcPct val="108000"/>
              </a:lnSpc>
              <a:spcAft>
                <a:spcPts val="600"/>
              </a:spcAft>
            </a:pPr>
            <a:r>
              <a:rPr sz="1350" b="1" dirty="0">
                <a:solidFill>
                  <a:srgbClr val="F2F6FD"/>
                </a:solidFill>
                <a:latin typeface="Segoe UI Semibold"/>
              </a:rPr>
              <a:t>The "why not" is part of the answer</a:t>
            </a:r>
          </a:p>
          <a:p>
            <a:pPr algn="l">
              <a:lnSpc>
                <a:spcPct val="108000"/>
              </a:lnSpc>
              <a:spcAft>
                <a:spcPts val="600"/>
              </a:spcAft>
            </a:pPr>
            <a:r>
              <a:rPr sz="1050" b="0" dirty="0">
                <a:solidFill>
                  <a:srgbClr val="9FB0CC"/>
                </a:solidFill>
                <a:latin typeface="Segoe UI"/>
              </a:rPr>
              <a:t>A design document that only says yes has not made any decisions. We wrote our rejections down.</a:t>
            </a:r>
          </a:p>
        </p:txBody>
      </p:sp>
      <p:sp>
        <p:nvSpPr>
          <p:cNvPr id="12" name="Oval 11"/>
          <p:cNvSpPr/>
          <p:nvPr/>
        </p:nvSpPr>
        <p:spPr>
          <a:xfrm>
            <a:off x="8321040" y="2194560"/>
            <a:ext cx="640080" cy="640080"/>
          </a:xfrm>
          <a:prstGeom prst="ellipse">
            <a:avLst/>
          </a:prstGeom>
          <a:solidFill>
            <a:srgbClr val="FBBF24">
              <a:alpha val="100000"/>
            </a:srgbClr>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2000" b="1">
                <a:solidFill>
                  <a:srgbClr val="0B1220"/>
                </a:solidFill>
                <a:latin typeface="Segoe UI Semibold"/>
              </a:rPr>
              <a:t>3</a:t>
            </a:r>
          </a:p>
        </p:txBody>
      </p:sp>
      <p:sp>
        <p:nvSpPr>
          <p:cNvPr id="13" name="TextBox 12"/>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4" name="TextBox 13"/>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28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2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5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84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par>
                                <p:cTn id="29" presetID="10" presetClass="entr" presetSubtype="0" fill="hold" grpId="0" nodeType="withEffect">
                                  <p:stCondLst>
                                    <p:cond delay="84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6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220"/>
            </a:gs>
            <a:gs pos="100000">
              <a:srgbClr val="121C31"/>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9509760" y="-1645920"/>
            <a:ext cx="4937760" cy="4937760"/>
          </a:xfrm>
          <a:prstGeom prst="ellipse">
            <a:avLst/>
          </a:prstGeom>
          <a:solidFill>
            <a:srgbClr val="4ADE80">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737360" y="4937760"/>
            <a:ext cx="4206240" cy="4206240"/>
          </a:xfrm>
          <a:prstGeom prst="ellipse">
            <a:avLst/>
          </a:prstGeom>
          <a:solidFill>
            <a:srgbClr val="4ADE8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10896"/>
            <a:ext cx="11155680" cy="274320"/>
          </a:xfrm>
          <a:prstGeom prst="rect">
            <a:avLst/>
          </a:prstGeom>
          <a:noFill/>
        </p:spPr>
        <p:txBody>
          <a:bodyPr wrap="square" lIns="0" tIns="0" rIns="0" bIns="0" anchor="t">
            <a:spAutoFit/>
          </a:bodyPr>
          <a:lstStyle/>
          <a:p>
            <a:pPr algn="l">
              <a:lnSpc>
                <a:spcPct val="100000"/>
              </a:lnSpc>
            </a:pPr>
            <a:r>
              <a:rPr sz="1100" b="1">
                <a:solidFill>
                  <a:srgbClr val="4ADE80"/>
                </a:solidFill>
                <a:latin typeface="Segoe UI Semibold"/>
              </a:rPr>
              <a:t>SLIDE 29 · CONCLUSION</a:t>
            </a:r>
          </a:p>
        </p:txBody>
      </p:sp>
      <p:sp>
        <p:nvSpPr>
          <p:cNvPr id="5" name="TextBox 4"/>
          <p:cNvSpPr txBox="1"/>
          <p:nvPr/>
        </p:nvSpPr>
        <p:spPr>
          <a:xfrm>
            <a:off x="502920" y="603504"/>
            <a:ext cx="11155680" cy="777240"/>
          </a:xfrm>
          <a:prstGeom prst="rect">
            <a:avLst/>
          </a:prstGeom>
          <a:noFill/>
        </p:spPr>
        <p:txBody>
          <a:bodyPr wrap="square" lIns="0" tIns="0" rIns="0" bIns="0" anchor="t">
            <a:spAutoFit/>
          </a:bodyPr>
          <a:lstStyle/>
          <a:p>
            <a:pPr algn="l">
              <a:lnSpc>
                <a:spcPct val="100000"/>
              </a:lnSpc>
            </a:pPr>
            <a:r>
              <a:rPr sz="2900" b="1">
                <a:solidFill>
                  <a:srgbClr val="F2F6FD"/>
                </a:solidFill>
                <a:latin typeface="Segoe UI Semibold"/>
              </a:rPr>
              <a:t>A Patterns Lab That Became a Product</a:t>
            </a:r>
          </a:p>
        </p:txBody>
      </p:sp>
      <p:sp>
        <p:nvSpPr>
          <p:cNvPr id="6" name="Rounded Rectangle 5"/>
          <p:cNvSpPr/>
          <p:nvPr/>
        </p:nvSpPr>
        <p:spPr>
          <a:xfrm>
            <a:off x="521207" y="1316736"/>
            <a:ext cx="658368" cy="45720"/>
          </a:xfrm>
          <a:prstGeom prst="roundRect">
            <a:avLst>
              <a:gd name="adj" fmla="val 50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502920" y="1828800"/>
            <a:ext cx="11183112" cy="1554480"/>
          </a:xfrm>
          <a:prstGeom prst="roundRect">
            <a:avLst>
              <a:gd name="adj" fmla="val 9000"/>
            </a:avLst>
          </a:prstGeom>
          <a:solidFill>
            <a:srgbClr val="12291F"/>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lstStyle/>
          <a:p>
            <a:pPr algn="l">
              <a:lnSpc>
                <a:spcPct val="115000"/>
              </a:lnSpc>
            </a:pPr>
            <a:r>
              <a:rPr sz="1900" b="1">
                <a:solidFill>
                  <a:srgbClr val="F2F6FD"/>
                </a:solidFill>
                <a:latin typeface="Segoe UI Semibold"/>
              </a:rPr>
              <a:t>Built for a real Bangladeshi problem — </a:t>
            </a:r>
            <a:r>
              <a:rPr sz="1900" b="0">
                <a:solidFill>
                  <a:srgbClr val="9FB0CC"/>
                </a:solidFill>
                <a:latin typeface="Segoe UI Semibold"/>
              </a:rPr>
              <a:t>NBR-correct VAT, batch &amp; expiry inventory, purchasing with payables, loyalty, returns, drawer reconciliation.</a:t>
            </a:r>
          </a:p>
        </p:txBody>
      </p:sp>
      <p:sp>
        <p:nvSpPr>
          <p:cNvPr id="8" name="Rounded Rectangle 7"/>
          <p:cNvSpPr/>
          <p:nvPr/>
        </p:nvSpPr>
        <p:spPr>
          <a:xfrm>
            <a:off x="502920" y="3794760"/>
            <a:ext cx="3611880" cy="914400"/>
          </a:xfrm>
          <a:prstGeom prst="roundRect">
            <a:avLst>
              <a:gd name="adj" fmla="val 9000"/>
            </a:avLst>
          </a:prstGeom>
          <a:solidFill>
            <a:srgbClr val="18263F"/>
          </a:solidFill>
          <a:ln w="9525">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lnSpc>
                <a:spcPct val="100000"/>
              </a:lnSpc>
            </a:pPr>
            <a:r>
              <a:rPr sz="1150" b="1">
                <a:solidFill>
                  <a:srgbClr val="F2F6FD"/>
                </a:solidFill>
                <a:latin typeface="Segoe UI Semibold"/>
              </a:rPr>
              <a:t>18 patterns, every one load-bearing</a:t>
            </a:r>
          </a:p>
        </p:txBody>
      </p:sp>
      <p:sp>
        <p:nvSpPr>
          <p:cNvPr id="9" name="Rounded Rectangle 8"/>
          <p:cNvSpPr/>
          <p:nvPr/>
        </p:nvSpPr>
        <p:spPr>
          <a:xfrm>
            <a:off x="4297680" y="3794760"/>
            <a:ext cx="3611880" cy="914400"/>
          </a:xfrm>
          <a:prstGeom prst="roundRect">
            <a:avLst>
              <a:gd name="adj" fmla="val 9000"/>
            </a:avLst>
          </a:prstGeom>
          <a:solidFill>
            <a:srgbClr val="18263F"/>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lnSpc>
                <a:spcPct val="100000"/>
              </a:lnSpc>
            </a:pPr>
            <a:r>
              <a:rPr sz="1150" b="1">
                <a:solidFill>
                  <a:srgbClr val="F2F6FD"/>
                </a:solidFill>
                <a:latin typeface="Segoe UI Semibold"/>
              </a:rPr>
              <a:t>Every taka BigDecimal-exact</a:t>
            </a:r>
          </a:p>
        </p:txBody>
      </p:sp>
      <p:sp>
        <p:nvSpPr>
          <p:cNvPr id="10" name="Rounded Rectangle 9"/>
          <p:cNvSpPr/>
          <p:nvPr/>
        </p:nvSpPr>
        <p:spPr>
          <a:xfrm>
            <a:off x="8092440" y="3794760"/>
            <a:ext cx="3611880" cy="914400"/>
          </a:xfrm>
          <a:prstGeom prst="roundRect">
            <a:avLst>
              <a:gd name="adj" fmla="val 9000"/>
            </a:avLst>
          </a:prstGeom>
          <a:solidFill>
            <a:srgbClr val="18263F"/>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lnSpc>
                <a:spcPct val="100000"/>
              </a:lnSpc>
            </a:pPr>
            <a:r>
              <a:rPr sz="1150" b="1">
                <a:solidFill>
                  <a:srgbClr val="F2F6FD"/>
                </a:solidFill>
                <a:latin typeface="Segoe UI Semibold"/>
              </a:rPr>
              <a:t>176 tests make every claim verifiable</a:t>
            </a:r>
          </a:p>
        </p:txBody>
      </p:sp>
      <p:sp>
        <p:nvSpPr>
          <p:cNvPr id="11" name="TextBox 10"/>
          <p:cNvSpPr txBox="1"/>
          <p:nvPr/>
        </p:nvSpPr>
        <p:spPr>
          <a:xfrm>
            <a:off x="502920" y="5166360"/>
            <a:ext cx="11183112" cy="548640"/>
          </a:xfrm>
          <a:prstGeom prst="rect">
            <a:avLst/>
          </a:prstGeom>
          <a:noFill/>
        </p:spPr>
        <p:txBody>
          <a:bodyPr wrap="square" lIns="0" tIns="0" rIns="0" bIns="0" anchor="t">
            <a:spAutoFit/>
          </a:bodyPr>
          <a:lstStyle/>
          <a:p>
            <a:pPr algn="ctr">
              <a:lnSpc>
                <a:spcPct val="100000"/>
              </a:lnSpc>
            </a:pPr>
            <a:r>
              <a:rPr sz="1700" b="0">
                <a:solidFill>
                  <a:srgbClr val="9FB0CC"/>
                </a:solidFill>
                <a:latin typeface="Segoe UI Semibold"/>
              </a:rPr>
              <a:t>We didn't just study design patterns. </a:t>
            </a:r>
            <a:r>
              <a:rPr sz="1700" b="1">
                <a:solidFill>
                  <a:srgbClr val="4ADE80"/>
                </a:solidFill>
                <a:latin typeface="Segoe UI Semibold"/>
              </a:rPr>
              <a:t>We shipped them.</a:t>
            </a:r>
          </a:p>
        </p:txBody>
      </p:sp>
      <p:sp>
        <p:nvSpPr>
          <p:cNvPr id="12" name="TextBox 11"/>
          <p:cNvSpPr txBox="1"/>
          <p:nvPr/>
        </p:nvSpPr>
        <p:spPr>
          <a:xfrm>
            <a:off x="502920" y="6510528"/>
            <a:ext cx="7315200" cy="256032"/>
          </a:xfrm>
          <a:prstGeom prst="rect">
            <a:avLst/>
          </a:prstGeom>
          <a:noFill/>
        </p:spPr>
        <p:txBody>
          <a:bodyPr wrap="square" lIns="0" tIns="0" rIns="0" bIns="0" anchor="t">
            <a:spAutoFit/>
          </a:bodyPr>
          <a:lstStyle/>
          <a:p>
            <a:pPr algn="l">
              <a:lnSpc>
                <a:spcPct val="100000"/>
              </a:lnSpc>
            </a:pPr>
            <a:r>
              <a:rPr sz="850" b="0">
                <a:solidFill>
                  <a:srgbClr val="6B7C9C"/>
                </a:solidFill>
                <a:latin typeface="Segoe UI"/>
              </a:rPr>
              <a:t>MartFlow · Supershop Retail Management Suite</a:t>
            </a:r>
          </a:p>
        </p:txBody>
      </p:sp>
      <p:sp>
        <p:nvSpPr>
          <p:cNvPr id="13" name="TextBox 12"/>
          <p:cNvSpPr txBox="1"/>
          <p:nvPr/>
        </p:nvSpPr>
        <p:spPr>
          <a:xfrm>
            <a:off x="8778240" y="6510528"/>
            <a:ext cx="2907792" cy="256032"/>
          </a:xfrm>
          <a:prstGeom prst="rect">
            <a:avLst/>
          </a:prstGeom>
          <a:noFill/>
        </p:spPr>
        <p:txBody>
          <a:bodyPr wrap="square" lIns="0" tIns="0" rIns="0" bIns="0" anchor="t">
            <a:spAutoFit/>
          </a:bodyPr>
          <a:lstStyle/>
          <a:p>
            <a:pPr algn="r">
              <a:lnSpc>
                <a:spcPct val="100000"/>
              </a:lnSpc>
            </a:pPr>
            <a:r>
              <a:rPr sz="850" b="0">
                <a:solidFill>
                  <a:srgbClr val="6B7C9C"/>
                </a:solidFill>
                <a:latin typeface="Segoe UI"/>
              </a:rPr>
              <a:t>29 / 30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2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5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8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11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par>
                                <p:cTn id="26" presetID="10" presetClass="entr" presetSubtype="0" fill="hold" grpId="0" nodeType="withEffect">
                                  <p:stCondLst>
                                    <p:cond delay="1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6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01E"/>
            </a:gs>
            <a:gs pos="100000">
              <a:srgbClr val="16223E"/>
            </a:gs>
          </a:gsLst>
          <a:lin ang="14700000" scaled="0"/>
        </a:gradFill>
        <a:effectLst/>
      </p:bgPr>
    </p:bg>
    <p:spTree>
      <p:nvGrpSpPr>
        <p:cNvPr id="1" name=""/>
        <p:cNvGrpSpPr/>
        <p:nvPr/>
      </p:nvGrpSpPr>
      <p:grpSpPr>
        <a:xfrm>
          <a:off x="0" y="0"/>
          <a:ext cx="0" cy="0"/>
          <a:chOff x="0" y="0"/>
          <a:chExt cx="0" cy="0"/>
        </a:xfrm>
      </p:grpSpPr>
      <p:sp>
        <p:nvSpPr>
          <p:cNvPr id="2" name="Oval 1"/>
          <p:cNvSpPr/>
          <p:nvPr/>
        </p:nvSpPr>
        <p:spPr>
          <a:xfrm>
            <a:off x="8595360" y="-1828800"/>
            <a:ext cx="5852160" cy="5852160"/>
          </a:xfrm>
          <a:prstGeom prst="ellipse">
            <a:avLst/>
          </a:prstGeom>
          <a:solidFill>
            <a:srgbClr val="2DD4B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4389120"/>
            <a:ext cx="5120640" cy="5120640"/>
          </a:xfrm>
          <a:prstGeom prst="ellipse">
            <a:avLst/>
          </a:prstGeom>
          <a:solidFill>
            <a:srgbClr val="FBBF2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34440"/>
            <a:ext cx="10515600" cy="365760"/>
          </a:xfrm>
          <a:prstGeom prst="rect">
            <a:avLst/>
          </a:prstGeom>
          <a:noFill/>
        </p:spPr>
        <p:txBody>
          <a:bodyPr wrap="square" lIns="0" tIns="0" rIns="0" bIns="0" anchor="t">
            <a:spAutoFit/>
          </a:bodyPr>
          <a:lstStyle/>
          <a:p>
            <a:pPr algn="ctr">
              <a:lnSpc>
                <a:spcPct val="100000"/>
              </a:lnSpc>
            </a:pPr>
            <a:r>
              <a:rPr sz="1150" b="1">
                <a:solidFill>
                  <a:srgbClr val="2DD4BF"/>
                </a:solidFill>
                <a:latin typeface="Segoe UI Semibold"/>
              </a:rPr>
              <a:t>MARTFLOW  ·  SOFTWARE DESIGN PATTERN LAB FINAL</a:t>
            </a:r>
          </a:p>
        </p:txBody>
      </p:sp>
      <p:sp>
        <p:nvSpPr>
          <p:cNvPr id="5" name="TextBox 4"/>
          <p:cNvSpPr txBox="1"/>
          <p:nvPr/>
        </p:nvSpPr>
        <p:spPr>
          <a:xfrm>
            <a:off x="822960" y="1691640"/>
            <a:ext cx="10515600" cy="914400"/>
          </a:xfrm>
          <a:prstGeom prst="rect">
            <a:avLst/>
          </a:prstGeom>
          <a:noFill/>
        </p:spPr>
        <p:txBody>
          <a:bodyPr wrap="square" lIns="0" tIns="0" rIns="0" bIns="0" anchor="t">
            <a:spAutoFit/>
          </a:bodyPr>
          <a:lstStyle/>
          <a:p>
            <a:pPr algn="ctr">
              <a:lnSpc>
                <a:spcPct val="100000"/>
              </a:lnSpc>
            </a:pPr>
            <a:r>
              <a:rPr sz="5800" b="1">
                <a:solidFill>
                  <a:srgbClr val="F2F6FD"/>
                </a:solidFill>
                <a:latin typeface="Segoe UI Semibold"/>
              </a:rPr>
              <a:t>Thank You</a:t>
            </a:r>
          </a:p>
        </p:txBody>
      </p:sp>
      <p:sp>
        <p:nvSpPr>
          <p:cNvPr id="6" name="TextBox 5"/>
          <p:cNvSpPr txBox="1"/>
          <p:nvPr/>
        </p:nvSpPr>
        <p:spPr>
          <a:xfrm>
            <a:off x="822960" y="2788920"/>
            <a:ext cx="10515600" cy="502920"/>
          </a:xfrm>
          <a:prstGeom prst="rect">
            <a:avLst/>
          </a:prstGeom>
          <a:noFill/>
        </p:spPr>
        <p:txBody>
          <a:bodyPr wrap="square" lIns="0" tIns="0" rIns="0" bIns="0" anchor="t">
            <a:spAutoFit/>
          </a:bodyPr>
          <a:lstStyle/>
          <a:p>
            <a:pPr algn="ctr">
              <a:lnSpc>
                <a:spcPct val="100000"/>
              </a:lnSpc>
            </a:pPr>
            <a:r>
              <a:rPr sz="2400" b="0">
                <a:solidFill>
                  <a:srgbClr val="9FB0CC"/>
                </a:solidFill>
                <a:latin typeface="Segoe UI Light"/>
              </a:rPr>
              <a:t>Questions &amp; Answers</a:t>
            </a:r>
          </a:p>
        </p:txBody>
      </p:sp>
      <p:sp>
        <p:nvSpPr>
          <p:cNvPr id="7" name="Rounded Rectangle 6"/>
          <p:cNvSpPr/>
          <p:nvPr/>
        </p:nvSpPr>
        <p:spPr>
          <a:xfrm>
            <a:off x="2761488" y="3657600"/>
            <a:ext cx="6675120" cy="502920"/>
          </a:xfrm>
          <a:prstGeom prst="roundRect">
            <a:avLst>
              <a:gd name="adj" fmla="val 9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200" b="0">
                <a:solidFill>
                  <a:srgbClr val="2DD4BF"/>
                </a:solidFill>
                <a:latin typeface="Consolas"/>
              </a:rPr>
              <a:t>github.com/MHMITHUN/MartFlow-Supershop-POS</a:t>
            </a:r>
          </a:p>
        </p:txBody>
      </p:sp>
      <p:sp>
        <p:nvSpPr>
          <p:cNvPr id="8" name="Rounded Rectangle 7"/>
          <p:cNvSpPr/>
          <p:nvPr/>
        </p:nvSpPr>
        <p:spPr>
          <a:xfrm>
            <a:off x="2761488" y="4315968"/>
            <a:ext cx="6675120" cy="502920"/>
          </a:xfrm>
          <a:prstGeom prst="roundRect">
            <a:avLst>
              <a:gd name="adj" fmla="val 9000"/>
            </a:avLst>
          </a:prstGeom>
          <a:solidFill>
            <a:srgbClr val="0E1930"/>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pPr>
            <a:r>
              <a:rPr sz="1200" b="0">
                <a:solidFill>
                  <a:srgbClr val="9FB0CC"/>
                </a:solidFill>
                <a:latin typeface="Consolas"/>
              </a:rPr>
              <a:t>.\mvnw.cmd spring-boot:run   →   localhost:8080</a:t>
            </a:r>
          </a:p>
        </p:txBody>
      </p:sp>
      <p:sp>
        <p:nvSpPr>
          <p:cNvPr id="9" name="TextBox 8"/>
          <p:cNvSpPr txBox="1"/>
          <p:nvPr/>
        </p:nvSpPr>
        <p:spPr>
          <a:xfrm>
            <a:off x="822960" y="5074920"/>
            <a:ext cx="10515600" cy="411480"/>
          </a:xfrm>
          <a:prstGeom prst="rect">
            <a:avLst/>
          </a:prstGeom>
          <a:noFill/>
        </p:spPr>
        <p:txBody>
          <a:bodyPr wrap="square" lIns="0" tIns="0" rIns="0" bIns="0" anchor="t">
            <a:spAutoFit/>
          </a:bodyPr>
          <a:lstStyle/>
          <a:p>
            <a:pPr algn="ctr">
              <a:lnSpc>
                <a:spcPct val="100000"/>
              </a:lnSpc>
            </a:pPr>
            <a:r>
              <a:rPr sz="1300" b="0" i="1">
                <a:solidFill>
                  <a:srgbClr val="6B7C9C"/>
                </a:solidFill>
                <a:latin typeface="Segoe UI Semibold"/>
              </a:rPr>
              <a:t>"MartFlow — where every pattern works for a living."</a:t>
            </a:r>
          </a:p>
        </p:txBody>
      </p:sp>
      <p:sp>
        <p:nvSpPr>
          <p:cNvPr id="10" name="TextBox 9"/>
          <p:cNvSpPr txBox="1"/>
          <p:nvPr/>
        </p:nvSpPr>
        <p:spPr>
          <a:xfrm>
            <a:off x="822960" y="5715000"/>
            <a:ext cx="10515600" cy="320040"/>
          </a:xfrm>
          <a:prstGeom prst="rect">
            <a:avLst/>
          </a:prstGeom>
          <a:noFill/>
        </p:spPr>
        <p:txBody>
          <a:bodyPr wrap="square" lIns="0" tIns="0" rIns="0" bIns="0" anchor="t">
            <a:spAutoFit/>
          </a:bodyPr>
          <a:lstStyle/>
          <a:p>
            <a:pPr algn="ctr">
              <a:lnSpc>
                <a:spcPct val="100000"/>
              </a:lnSpc>
            </a:pPr>
            <a:r>
              <a:rPr sz="1150" b="0">
                <a:solidFill>
                  <a:srgbClr val="9FB0CC"/>
                </a:solidFill>
                <a:latin typeface="Segoe UI Semibold"/>
              </a:rPr>
              <a:t>MD Mahamudul Hasan  ·  Sumya Soma  ·  Alfa Sany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60"/>
                                        <p:tgtEl>
                                          <p:spTgt spid="4"/>
                                        </p:tgtEl>
                                      </p:cBhvr>
                                    </p:animEffect>
                                  </p:childTnLst>
                                </p:cTn>
                              </p:par>
                              <p:par>
                                <p:cTn id="8" presetID="10" presetClass="entr" presetSubtype="0" fill="hold" grpId="0" nodeType="withEffect">
                                  <p:stCondLst>
                                    <p:cond delay="2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60"/>
                                        <p:tgtEl>
                                          <p:spTgt spid="5"/>
                                        </p:tgtEl>
                                      </p:cBhvr>
                                    </p:animEffect>
                                  </p:childTnLst>
                                </p:cTn>
                              </p:par>
                              <p:par>
                                <p:cTn id="11" presetID="10" presetClass="entr" presetSubtype="0" fill="hold" grpId="0" nodeType="withEffect">
                                  <p:stCondLst>
                                    <p:cond delay="56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60"/>
                                        <p:tgtEl>
                                          <p:spTgt spid="6"/>
                                        </p:tgtEl>
                                      </p:cBhvr>
                                    </p:animEffect>
                                  </p:childTnLst>
                                </p:cTn>
                              </p:par>
                              <p:par>
                                <p:cTn id="14" presetID="10" presetClass="entr" presetSubtype="0" fill="hold" grpId="0" nodeType="withEffect">
                                  <p:stCondLst>
                                    <p:cond delay="84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60"/>
                                        <p:tgtEl>
                                          <p:spTgt spid="7"/>
                                        </p:tgtEl>
                                      </p:cBhvr>
                                    </p:animEffect>
                                  </p:childTnLst>
                                </p:cTn>
                              </p:par>
                              <p:par>
                                <p:cTn id="17" presetID="10" presetClass="entr" presetSubtype="0" fill="hold" grpId="0" nodeType="withEffect">
                                  <p:stCondLst>
                                    <p:cond delay="8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60"/>
                                        <p:tgtEl>
                                          <p:spTgt spid="8"/>
                                        </p:tgtEl>
                                      </p:cBhvr>
                                    </p:animEffect>
                                  </p:childTnLst>
                                </p:cTn>
                              </p:par>
                              <p:par>
                                <p:cTn id="20" presetID="10" presetClass="entr" presetSubtype="0" fill="hold" grpId="0" nodeType="withEffect">
                                  <p:stCondLst>
                                    <p:cond delay="112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60"/>
                                        <p:tgtEl>
                                          <p:spTgt spid="9"/>
                                        </p:tgtEl>
                                      </p:cBhvr>
                                    </p:animEffect>
                                  </p:childTnLst>
                                </p:cTn>
                              </p:par>
                              <p:par>
                                <p:cTn id="23" presetID="10" presetClass="entr" presetSubtype="0" fill="hold" grpId="0" nodeType="withEffect">
                                  <p:stCondLst>
                                    <p:cond delay="14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6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6731</Words>
  <Application>Microsoft Office PowerPoint</Application>
  <PresentationFormat>Widescreen</PresentationFormat>
  <Paragraphs>575</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Consolas</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Mahamudul Hasan Mithun</cp:lastModifiedBy>
  <cp:revision>4</cp:revision>
  <dcterms:created xsi:type="dcterms:W3CDTF">2013-01-27T09:14:16Z</dcterms:created>
  <dcterms:modified xsi:type="dcterms:W3CDTF">2026-08-15T21:49:56Z</dcterms:modified>
  <cp:category/>
</cp:coreProperties>
</file>